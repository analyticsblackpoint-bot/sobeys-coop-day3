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cb8b1cf-5ab4-d897-a115-75f01c56d55a}">
          <p14:sldIdLst>
            <p14:sldId id="256"/>
            <p14:sldId id="257"/>
            <p14:sldId id="258"/>
          </p14:sldIdLst>
        </p14:section>
        <p14:section name="Recap" id="{631a943a-b47f-d012-742f-294ddb134384}">
          <p14:sldIdLst>
            <p14:sldId id="259"/>
          </p14:sldIdLst>
        </p14:section>
        <p14:section name="Python basics" id="{a9f850ae-a990-f232-fed5-57cc17bd6ac4}">
          <p14:sldIdLst>
            <p14:sldId id="260"/>
            <p14:sldId id="261"/>
            <p14:sldId id="262"/>
            <p14:sldId id="263"/>
            <p14:sldId id="264"/>
            <p14:sldId id="265"/>
            <p14:sldId id="266"/>
            <p14:sldId id="267"/>
            <p14:sldId id="268"/>
            <p14:sldId id="269"/>
          </p14:sldIdLst>
        </p14:section>
        <p14:section name="The notebook" id="{51602fd3-3d5a-e950-f65b-95df32b19936}">
          <p14:sldIdLst>
            <p14:sldId id="270"/>
            <p14:sldId id="271"/>
            <p14:sldId id="272"/>
            <p14:sldId id="273"/>
            <p14:sldId id="274"/>
            <p14:sldId id="275"/>
            <p14:sldId id="276"/>
          </p14:sldIdLst>
        </p14:section>
        <p14:section name="Chart gallery" id="{566c1367-c9ba-6342-eb2a-b3cfc5f7768e}">
          <p14:sldIdLst>
            <p14:sldId id="277"/>
            <p14:sldId id="278"/>
            <p14:sldId id="279"/>
            <p14:sldId id="280"/>
            <p14:sldId id="281"/>
            <p14:sldId id="282"/>
            <p14:sldId id="283"/>
            <p14:sldId id="284"/>
            <p14:sldId id="285"/>
          </p14:sldIdLst>
        </p14:section>
        <p14:section name="Honest charts" id="{044d35ba-c6fe-a88a-12f7-60e1e1209e66}">
          <p14:sldIdLst>
            <p14:sldId id="286"/>
            <p14:sldId id="287"/>
            <p14:sldId id="288"/>
          </p14:sldIdLst>
        </p14:section>
        <p14:section name="Season maths" id="{26e5300d-4ba8-a152-2ce4-1f72f1180cb3}">
          <p14:sldIdLst>
            <p14:sldId id="289"/>
            <p14:sldId id="290"/>
            <p14:sldId id="291"/>
          </p14:sldIdLst>
        </p14:section>
        <p14:section name="Activity" id="{d6ee86d8-9537-1676-dedb-22f1e5b7da59}">
          <p14:sldIdLst>
            <p14:sldId id="292"/>
            <p14:sldId id="293"/>
            <p14:sldId id="294"/>
            <p14:sldId id="295"/>
            <p14:sldId id="296"/>
          </p14:sldIdLst>
        </p14:section>
        <p14:section name="Close" id="{3cafd773-61dd-38b4-12bd-f3de54cb0ccd}">
          <p14:sldIdLst>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554480"/>
          </a:xfrm>
          <a:prstGeom prst="rect">
            <a:avLst/>
          </a:prstGeom>
          <a:noFill/>
          <a:ln/>
        </p:spPr>
        <p:txBody>
          <a:bodyPr wrap="square" rtlCol="0"/>
          <a:lstStyle>
            <a:lvl1pPr algn="l" indent="0" marL="0">
              <a:buNone/>
              <a:defRPr lang="en-US" sz="5000" dirty="0">
                <a:solidFill>
                  <a:schemeClr val="bg1"/>
                </a:solidFill>
                <a:latin typeface="Cambria" pitchFamily="34" charset="0"/>
                <a:ea typeface="Cambria" pitchFamily="34" charset="-122"/>
                <a:cs typeface="Cambria" pitchFamily="34" charset="-120"/>
              </a:defRPr>
            </a:lvl1pPr>
          </a:lstStyle>
          <a:p>
            <a:pPr algn="l" indent="0" marL="0">
              <a:buNone/>
            </a:pPr>
            <a:endParaRPr lang="en-US" sz="5000" dirty="0"/>
          </a:p>
        </p:txBody>
      </p:sp>
      <p:sp>
        <p:nvSpPr>
          <p:cNvPr id="3" name="Text 0"/>
          <p:cNvSpPr/>
          <p:nvPr>
            <p:ph idx="101" type="body" hasCustomPrompt="1"/>
          </p:nvPr>
        </p:nvSpPr>
        <p:spPr>
          <a:xfrm>
            <a:off x="822960" y="3794760"/>
            <a:ext cx="10515600" cy="219456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3E1529"/>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rtlCol="0"/>
          <a:lstStyle>
            <a:lvl1pPr indent="0" marL="0">
              <a:buNone/>
              <a:defRPr lang="en-US" sz="7200" dirty="0">
                <a:solidFill>
                  <a:srgbClr val="D9A7B7"/>
                </a:solidFill>
                <a:latin typeface="Cambria" pitchFamily="34" charset="0"/>
                <a:ea typeface="Cambria" pitchFamily="34" charset="-122"/>
                <a:cs typeface="Cambria" pitchFamily="34" charset="-120"/>
              </a:defRPr>
            </a:lvl1pPr>
          </a:lstStyle>
          <a:p>
            <a:pPr indent="0" marL="0">
              <a:buNone/>
            </a:pP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rtlCol="0"/>
          <a:lstStyle>
            <a:lvl1pPr algn="l" indent="0" marL="0">
              <a:buNone/>
              <a:defRPr lang="en-US" sz="4000"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rtlCol="0"/>
          <a:lstStyle>
            <a:lvl1pPr algn="l" indent="0" marL="0">
              <a:buNone/>
              <a:defRPr lang="en-US" sz="2800"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4" name="Shape 0"/>
          <p:cNvSpPr/>
          <p:nvPr/>
        </p:nvSpPr>
        <p:spPr>
          <a:xfrm>
            <a:off x="640080" y="6355080"/>
            <a:ext cx="10908792" cy="0"/>
          </a:xfrm>
          <a:prstGeom prst="line">
            <a:avLst/>
          </a:prstGeom>
          <a:noFill/>
          <a:ln w="9525">
            <a:solidFill>
              <a:srgbClr val="D9D3D3"/>
            </a:solidFill>
            <a:prstDash val="solid"/>
          </a:ln>
        </p:spPr>
      </p:sp>
      <p:sp>
        <p:nvSpPr>
          <p:cNvPr id="5" name="Text 1"/>
          <p:cNvSpPr/>
          <p:nvPr/>
        </p:nvSpPr>
        <p:spPr>
          <a:xfrm>
            <a:off x="640080" y="6419088"/>
            <a:ext cx="7315200" cy="256032"/>
          </a:xfrm>
          <a:prstGeom prst="rect">
            <a:avLst/>
          </a:prstGeom>
          <a:noFill/>
          <a:ln/>
        </p:spPr>
        <p:txBody>
          <a:bodyPr wrap="square" lIns="0" tIns="0" rIns="0" bIns="0" rtlCol="0" anchor="ctr"/>
          <a:lstStyle/>
          <a:p>
            <a:pPr indent="0" marL="0">
              <a:buNone/>
            </a:pPr>
            <a:r>
              <a:rPr lang="en-US" sz="1000" dirty="0">
                <a:solidFill>
                  <a:srgbClr val="5F6368"/>
                </a:solidFill>
              </a:rPr>
              <a:t>Day 3 · Analytics &amp; Visualization · Sobey High School Co-Op</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554480"/>
          </a:xfrm>
          <a:prstGeom prst="rect">
            <a:avLst/>
          </a:prstGeom>
          <a:noFill/>
          <a:ln/>
        </p:spPr>
        <p:txBody>
          <a:bodyPr wrap="square" lIns="0" tIns="0" rIns="0" bIns="0" rtlCol="0" anchor="b"/>
          <a:lstStyle/>
          <a:p>
            <a:pPr algn="l" indent="0" marL="0">
              <a:buNone/>
            </a:pPr>
            <a:r>
              <a:rPr lang="en-US" sz="5000" dirty="0">
                <a:solidFill>
                  <a:schemeClr val="bg1"/>
                </a:solidFill>
                <a:latin typeface="Cambria" pitchFamily="34" charset="0"/>
                <a:ea typeface="Cambria" pitchFamily="34" charset="-122"/>
                <a:cs typeface="Cambria" pitchFamily="34" charset="-120"/>
              </a:rPr>
              <a:t>Analytics &amp; Visualization</a:t>
            </a:r>
            <a:endParaRPr lang="en-US" sz="5000" dirty="0"/>
          </a:p>
        </p:txBody>
      </p:sp>
      <p:sp>
        <p:nvSpPr>
          <p:cNvPr id="3" name="Text 0"/>
          <p:cNvSpPr/>
          <p:nvPr>
            <p:ph idx="101" type="body" hasCustomPrompt="1"/>
          </p:nvPr>
        </p:nvSpPr>
        <p:spPr>
          <a:xfrm>
            <a:off x="822960" y="3794760"/>
            <a:ext cx="10515600" cy="2194560"/>
          </a:xfrm>
          <a:prstGeom prst="rect">
            <a:avLst/>
          </a:prstGeom>
          <a:noFill/>
          <a:ln/>
        </p:spPr>
        <p:txBody>
          <a:bodyPr wrap="square" lIns="0" tIns="0" rIns="0" bIns="0" rtlCol="0" anchor="t"/>
          <a:lstStyle/>
          <a:p>
            <a:pPr indent="0" marL="0">
              <a:buNone/>
            </a:pPr>
            <a:r>
              <a:rPr lang="en-US" sz="2000" dirty="0">
                <a:solidFill>
                  <a:schemeClr val="bg1"/>
                </a:solidFill>
              </a:rPr>
              <a:t>Day 3 · The Haunted Snack Bar, then five years of seasonal data</a:t>
            </a:r>
            <a:endParaRPr lang="en-US" sz="2000" dirty="0"/>
          </a:p>
          <a:p>
            <a:pPr indent="0" marL="0">
              <a:buNone/>
            </a:pPr>
            <a:r>
              <a:rPr lang="en-US" sz="2000" dirty="0">
                <a:solidFill>
                  <a:schemeClr val="bg1"/>
                </a:solidFill>
              </a:rPr>
              <a:t>Sobey High School Co-Op · Business Analytics &amp; AI · Friday, October 30, 2026</a:t>
            </a:r>
            <a:endParaRPr lang="en-US" sz="2000" dirty="0"/>
          </a:p>
        </p:txBody>
      </p:sp>
      <p:sp>
        <p:nvSpPr>
          <p:cNvPr id="4" name="Shape 2"/>
          <p:cNvSpPr/>
          <p:nvPr/>
        </p:nvSpPr>
        <p:spPr>
          <a:xfrm>
            <a:off x="822960" y="1783080"/>
            <a:ext cx="1097280" cy="0"/>
          </a:xfrm>
          <a:prstGeom prst="line">
            <a:avLst/>
          </a:prstGeom>
          <a:noFill/>
          <a:ln w="254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TODAY</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What we're doing</a:t>
            </a:r>
            <a:endParaRPr lang="en-US" sz="2800" dirty="0"/>
          </a:p>
        </p:txBody>
      </p:sp>
      <p:sp>
        <p:nvSpPr>
          <p:cNvPr id="5" name="Shape 2"/>
          <p:cNvSpPr/>
          <p:nvPr/>
        </p:nvSpPr>
        <p:spPr>
          <a:xfrm>
            <a:off x="685800" y="1819656"/>
            <a:ext cx="201168" cy="201168"/>
          </a:xfrm>
          <a:prstGeom prst="ellipse">
            <a:avLst/>
          </a:prstGeom>
          <a:solidFill>
            <a:srgbClr val="612141"/>
          </a:solidFill>
          <a:ln w="12700">
            <a:solidFill>
              <a:srgbClr val="FFFFFF"/>
            </a:solidFill>
            <a:prstDash val="solid"/>
          </a:ln>
        </p:spPr>
      </p:sp>
      <p:sp>
        <p:nvSpPr>
          <p:cNvPr id="6" name="Text 3"/>
          <p:cNvSpPr txBox="1"/>
          <p:nvPr/>
        </p:nvSpPr>
        <p:spPr>
          <a:xfrm>
            <a:off x="1097280" y="1691640"/>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Recap</a:t>
            </a:r>
            <a:endParaRPr lang="en-US" sz="1800" dirty="0"/>
          </a:p>
        </p:txBody>
      </p:sp>
      <p:sp>
        <p:nvSpPr>
          <p:cNvPr id="7" name="Text 4"/>
          <p:cNvSpPr txBox="1"/>
          <p:nvPr/>
        </p:nvSpPr>
        <p:spPr>
          <a:xfrm>
            <a:off x="5303520" y="1691640"/>
            <a:ext cx="6245352" cy="530352"/>
          </a:xfrm>
          <a:prstGeom prst="rect">
            <a:avLst/>
          </a:prstGeom>
          <a:noFill/>
          <a:ln/>
        </p:spPr>
        <p:txBody>
          <a:bodyPr wrap="square" lIns="0" tIns="0" rIns="0" bIns="0" rtlCol="0" anchor="ctr"/>
          <a:lstStyle/>
          <a:p>
            <a:pPr indent="0" marL="0">
              <a:buNone/>
            </a:pPr>
            <a:r>
              <a:rPr lang="en-US" sz="1400" dirty="0">
                <a:solidFill>
                  <a:srgbClr val="4A4A4A"/>
                </a:solidFill>
              </a:rPr>
              <a:t>three Day 2 mistakes and the one-line fix for each</a:t>
            </a:r>
            <a:endParaRPr lang="en-US" sz="1400" dirty="0"/>
          </a:p>
        </p:txBody>
      </p:sp>
      <p:sp>
        <p:nvSpPr>
          <p:cNvPr id="8" name="Shape 5"/>
          <p:cNvSpPr/>
          <p:nvPr/>
        </p:nvSpPr>
        <p:spPr>
          <a:xfrm>
            <a:off x="685800" y="2441448"/>
            <a:ext cx="201168" cy="201168"/>
          </a:xfrm>
          <a:prstGeom prst="ellipse">
            <a:avLst/>
          </a:prstGeom>
          <a:solidFill>
            <a:srgbClr val="9D2235"/>
          </a:solidFill>
          <a:ln w="12700">
            <a:solidFill>
              <a:srgbClr val="FFFFFF"/>
            </a:solidFill>
            <a:prstDash val="solid"/>
          </a:ln>
        </p:spPr>
      </p:sp>
      <p:sp>
        <p:nvSpPr>
          <p:cNvPr id="9" name="Text 6"/>
          <p:cNvSpPr txBox="1"/>
          <p:nvPr/>
        </p:nvSpPr>
        <p:spPr>
          <a:xfrm>
            <a:off x="1097280" y="2313432"/>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Notebook 1 · The Haunted Snack Bar</a:t>
            </a:r>
            <a:endParaRPr lang="en-US" sz="1800" dirty="0"/>
          </a:p>
        </p:txBody>
      </p:sp>
      <p:sp>
        <p:nvSpPr>
          <p:cNvPr id="10" name="Text 7"/>
          <p:cNvSpPr txBox="1"/>
          <p:nvPr/>
        </p:nvSpPr>
        <p:spPr>
          <a:xfrm>
            <a:off x="5303520" y="2313432"/>
            <a:ext cx="6245352" cy="530352"/>
          </a:xfrm>
          <a:prstGeom prst="rect">
            <a:avLst/>
          </a:prstGeom>
          <a:noFill/>
          <a:ln/>
        </p:spPr>
        <p:txBody>
          <a:bodyPr wrap="square" lIns="0" tIns="0" rIns="0" bIns="0" rtlCol="0" anchor="ctr"/>
          <a:lstStyle/>
          <a:p>
            <a:pPr indent="0" marL="0">
              <a:buNone/>
            </a:pPr>
            <a:r>
              <a:rPr lang="en-US" sz="1400" dirty="0">
                <a:solidFill>
                  <a:srgbClr val="4A4A4A"/>
                </a:solidFill>
              </a:rPr>
              <a:t>type along: variables, lists, for, if / elif / else, functions, while, dictionaries, a DataFrame</a:t>
            </a:r>
            <a:endParaRPr lang="en-US" sz="1400" dirty="0"/>
          </a:p>
        </p:txBody>
      </p:sp>
      <p:sp>
        <p:nvSpPr>
          <p:cNvPr id="11" name="Shape 8"/>
          <p:cNvSpPr/>
          <p:nvPr/>
        </p:nvSpPr>
        <p:spPr>
          <a:xfrm>
            <a:off x="685800" y="3063240"/>
            <a:ext cx="201168" cy="201168"/>
          </a:xfrm>
          <a:prstGeom prst="ellipse">
            <a:avLst/>
          </a:prstGeom>
          <a:solidFill>
            <a:srgbClr val="612141"/>
          </a:solidFill>
          <a:ln w="12700">
            <a:solidFill>
              <a:srgbClr val="FFFFFF"/>
            </a:solidFill>
            <a:prstDash val="solid"/>
          </a:ln>
        </p:spPr>
      </p:sp>
      <p:sp>
        <p:nvSpPr>
          <p:cNvPr id="12" name="Text 9"/>
          <p:cNvSpPr txBox="1"/>
          <p:nvPr/>
        </p:nvSpPr>
        <p:spPr>
          <a:xfrm>
            <a:off x="1097280" y="2935224"/>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The notebook</a:t>
            </a:r>
            <a:endParaRPr lang="en-US" sz="1800" dirty="0"/>
          </a:p>
        </p:txBody>
      </p:sp>
      <p:sp>
        <p:nvSpPr>
          <p:cNvPr id="13" name="Text 10"/>
          <p:cNvSpPr txBox="1"/>
          <p:nvPr/>
        </p:nvSpPr>
        <p:spPr>
          <a:xfrm>
            <a:off x="5303520" y="2935224"/>
            <a:ext cx="6245352" cy="530352"/>
          </a:xfrm>
          <a:prstGeom prst="rect">
            <a:avLst/>
          </a:prstGeom>
          <a:noFill/>
          <a:ln/>
        </p:spPr>
        <p:txBody>
          <a:bodyPr wrap="square" lIns="0" tIns="0" rIns="0" bIns="0" rtlCol="0" anchor="ctr"/>
          <a:lstStyle/>
          <a:p>
            <a:pPr indent="0" marL="0">
              <a:buNone/>
            </a:pPr>
            <a:r>
              <a:rPr lang="en-US" sz="1400" dirty="0">
                <a:solidFill>
                  <a:srgbClr val="4A4A4A"/>
                </a:solidFill>
              </a:rPr>
              <a:t>the tools you just used, the pipeline from question to decision, and why we draw charts</a:t>
            </a:r>
            <a:endParaRPr lang="en-US" sz="1400" dirty="0"/>
          </a:p>
        </p:txBody>
      </p:sp>
      <p:sp>
        <p:nvSpPr>
          <p:cNvPr id="14" name="Shape 11"/>
          <p:cNvSpPr/>
          <p:nvPr/>
        </p:nvSpPr>
        <p:spPr>
          <a:xfrm>
            <a:off x="685800" y="3685032"/>
            <a:ext cx="201168" cy="201168"/>
          </a:xfrm>
          <a:prstGeom prst="ellipse">
            <a:avLst/>
          </a:prstGeom>
          <a:solidFill>
            <a:srgbClr val="9D2235"/>
          </a:solidFill>
          <a:ln w="12700">
            <a:solidFill>
              <a:srgbClr val="FFFFFF"/>
            </a:solidFill>
            <a:prstDash val="solid"/>
          </a:ln>
        </p:spPr>
      </p:sp>
      <p:sp>
        <p:nvSpPr>
          <p:cNvPr id="15" name="Text 12"/>
          <p:cNvSpPr txBox="1"/>
          <p:nvPr/>
        </p:nvSpPr>
        <p:spPr>
          <a:xfrm>
            <a:off x="1097280" y="3557016"/>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Notebook 2 · The Seasonal Workbook</a:t>
            </a:r>
            <a:endParaRPr lang="en-US" sz="1800" dirty="0"/>
          </a:p>
        </p:txBody>
      </p:sp>
      <p:sp>
        <p:nvSpPr>
          <p:cNvPr id="16" name="Text 13"/>
          <p:cNvSpPr txBox="1"/>
          <p:nvPr/>
        </p:nvSpPr>
        <p:spPr>
          <a:xfrm>
            <a:off x="5303520" y="3557016"/>
            <a:ext cx="6245352" cy="530352"/>
          </a:xfrm>
          <a:prstGeom prst="rect">
            <a:avLst/>
          </a:prstGeom>
          <a:noFill/>
          <a:ln/>
        </p:spPr>
        <p:txBody>
          <a:bodyPr wrap="square" lIns="0" tIns="0" rIns="0" bIns="0" rtlCol="0" anchor="ctr"/>
          <a:lstStyle/>
          <a:p>
            <a:pPr indent="0" marL="0">
              <a:buNone/>
            </a:pPr>
            <a:r>
              <a:rPr lang="en-US" sz="1400" dirty="0">
                <a:solidFill>
                  <a:srgbClr val="4A4A4A"/>
                </a:solidFill>
              </a:rPr>
              <a:t>five years of Google Trends for eight seasonal products, plus Halloween spending: seven chart types, one question each</a:t>
            </a:r>
            <a:endParaRPr lang="en-US" sz="1400" dirty="0"/>
          </a:p>
        </p:txBody>
      </p:sp>
      <p:sp>
        <p:nvSpPr>
          <p:cNvPr id="17" name="Shape 14"/>
          <p:cNvSpPr/>
          <p:nvPr/>
        </p:nvSpPr>
        <p:spPr>
          <a:xfrm>
            <a:off x="685800" y="4306824"/>
            <a:ext cx="201168" cy="201168"/>
          </a:xfrm>
          <a:prstGeom prst="ellipse">
            <a:avLst/>
          </a:prstGeom>
          <a:solidFill>
            <a:srgbClr val="612141"/>
          </a:solidFill>
          <a:ln w="12700">
            <a:solidFill>
              <a:srgbClr val="FFFFFF"/>
            </a:solidFill>
            <a:prstDash val="solid"/>
          </a:ln>
        </p:spPr>
      </p:sp>
      <p:sp>
        <p:nvSpPr>
          <p:cNvPr id="18" name="Text 15"/>
          <p:cNvSpPr txBox="1"/>
          <p:nvPr/>
        </p:nvSpPr>
        <p:spPr>
          <a:xfrm>
            <a:off x="1097280" y="4178808"/>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Season maths</a:t>
            </a:r>
            <a:endParaRPr lang="en-US" sz="1800" dirty="0"/>
          </a:p>
        </p:txBody>
      </p:sp>
      <p:sp>
        <p:nvSpPr>
          <p:cNvPr id="19" name="Text 16"/>
          <p:cNvSpPr txBox="1"/>
          <p:nvPr/>
        </p:nvSpPr>
        <p:spPr>
          <a:xfrm>
            <a:off x="5303520" y="4178808"/>
            <a:ext cx="6245352" cy="530352"/>
          </a:xfrm>
          <a:prstGeom prst="rect">
            <a:avLst/>
          </a:prstGeom>
          <a:noFill/>
          <a:ln/>
        </p:spPr>
        <p:txBody>
          <a:bodyPr wrap="square" lIns="0" tIns="0" rIns="0" bIns="0" rtlCol="0" anchor="ctr"/>
          <a:lstStyle/>
          <a:p>
            <a:pPr indent="0" marL="0">
              <a:buNone/>
            </a:pPr>
            <a:r>
              <a:rPr lang="en-US" sz="1400" dirty="0">
                <a:solidFill>
                  <a:srgbClr val="4A4A4A"/>
                </a:solidFill>
              </a:rPr>
              <a:t>peak week, stock-up week, season length: three numbers every seasonal business needs</a:t>
            </a:r>
            <a:endParaRPr lang="en-US" sz="1400" dirty="0"/>
          </a:p>
        </p:txBody>
      </p:sp>
      <p:sp>
        <p:nvSpPr>
          <p:cNvPr id="20" name="Shape 17"/>
          <p:cNvSpPr/>
          <p:nvPr/>
        </p:nvSpPr>
        <p:spPr>
          <a:xfrm>
            <a:off x="685800" y="4928616"/>
            <a:ext cx="201168" cy="201168"/>
          </a:xfrm>
          <a:prstGeom prst="ellipse">
            <a:avLst/>
          </a:prstGeom>
          <a:solidFill>
            <a:srgbClr val="9D2235"/>
          </a:solidFill>
          <a:ln w="12700">
            <a:solidFill>
              <a:srgbClr val="FFFFFF"/>
            </a:solidFill>
            <a:prstDash val="solid"/>
          </a:ln>
        </p:spPr>
      </p:sp>
      <p:sp>
        <p:nvSpPr>
          <p:cNvPr id="21" name="Text 18"/>
          <p:cNvSpPr txBox="1"/>
          <p:nvPr/>
        </p:nvSpPr>
        <p:spPr>
          <a:xfrm>
            <a:off x="1097280" y="4800600"/>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Pitch the season</a:t>
            </a:r>
            <a:endParaRPr lang="en-US" sz="1800" dirty="0"/>
          </a:p>
        </p:txBody>
      </p:sp>
      <p:sp>
        <p:nvSpPr>
          <p:cNvPr id="22" name="Text 19"/>
          <p:cNvSpPr txBox="1"/>
          <p:nvPr/>
        </p:nvSpPr>
        <p:spPr>
          <a:xfrm>
            <a:off x="5303520" y="4800600"/>
            <a:ext cx="6245352" cy="530352"/>
          </a:xfrm>
          <a:prstGeom prst="rect">
            <a:avLst/>
          </a:prstGeom>
          <a:noFill/>
          <a:ln/>
        </p:spPr>
        <p:txBody>
          <a:bodyPr wrap="square" lIns="0" tIns="0" rIns="0" bIns="0" rtlCol="0" anchor="ctr"/>
          <a:lstStyle/>
          <a:p>
            <a:pPr indent="0" marL="0">
              <a:buNone/>
            </a:pPr>
            <a:r>
              <a:rPr lang="en-US" sz="1400" dirty="0">
                <a:solidFill>
                  <a:srgbClr val="4A4A4A"/>
                </a:solidFill>
              </a:rPr>
              <a:t>teams of 2 or 3, one lane each: a stocking decision backed by 2 or 3 charts, title + 3 slides</a:t>
            </a:r>
            <a:endParaRPr lang="en-US" sz="1400" dirty="0"/>
          </a:p>
        </p:txBody>
      </p:sp>
      <p:sp>
        <p:nvSpPr>
          <p:cNvPr id="23" name="Shape 20"/>
          <p:cNvSpPr/>
          <p:nvPr/>
        </p:nvSpPr>
        <p:spPr>
          <a:xfrm>
            <a:off x="685800" y="5550408"/>
            <a:ext cx="201168" cy="201168"/>
          </a:xfrm>
          <a:prstGeom prst="ellipse">
            <a:avLst/>
          </a:prstGeom>
          <a:solidFill>
            <a:srgbClr val="612141"/>
          </a:solidFill>
          <a:ln w="12700">
            <a:solidFill>
              <a:srgbClr val="FFFFFF"/>
            </a:solidFill>
            <a:prstDash val="solid"/>
          </a:ln>
        </p:spPr>
      </p:sp>
      <p:sp>
        <p:nvSpPr>
          <p:cNvPr id="24" name="Text 21"/>
          <p:cNvSpPr txBox="1"/>
          <p:nvPr/>
        </p:nvSpPr>
        <p:spPr>
          <a:xfrm>
            <a:off x="1097280" y="5422392"/>
            <a:ext cx="4206240" cy="530352"/>
          </a:xfrm>
          <a:prstGeom prst="rect">
            <a:avLst/>
          </a:prstGeom>
          <a:noFill/>
          <a:ln/>
        </p:spPr>
        <p:txBody>
          <a:bodyPr wrap="square" lIns="0" tIns="0" rIns="0" bIns="0" rtlCol="0" anchor="ctr"/>
          <a:lstStyle/>
          <a:p>
            <a:pPr indent="0" marL="0">
              <a:buNone/>
            </a:pPr>
            <a:r>
              <a:rPr lang="en-US" sz="1800" b="1" dirty="0">
                <a:solidFill>
                  <a:srgbClr val="222222"/>
                </a:solidFill>
              </a:rPr>
              <a:t>Presentations</a:t>
            </a:r>
            <a:endParaRPr lang="en-US" sz="1800" dirty="0"/>
          </a:p>
        </p:txBody>
      </p:sp>
      <p:sp>
        <p:nvSpPr>
          <p:cNvPr id="25" name="Text 22"/>
          <p:cNvSpPr txBox="1"/>
          <p:nvPr/>
        </p:nvSpPr>
        <p:spPr>
          <a:xfrm>
            <a:off x="5303520" y="5422392"/>
            <a:ext cx="6245352" cy="530352"/>
          </a:xfrm>
          <a:prstGeom prst="rect">
            <a:avLst/>
          </a:prstGeom>
          <a:noFill/>
          <a:ln/>
        </p:spPr>
        <p:txBody>
          <a:bodyPr wrap="square" lIns="0" tIns="0" rIns="0" bIns="0" rtlCol="0" anchor="ctr"/>
          <a:lstStyle/>
          <a:p>
            <a:pPr indent="0" marL="0">
              <a:buNone/>
            </a:pPr>
            <a:r>
              <a:rPr lang="en-US" sz="1400" dirty="0">
                <a:solidFill>
                  <a:srgbClr val="4A4A4A"/>
                </a:solidFill>
              </a:rPr>
              <a:t>3 minutes per team, in season order, then the takeaway</a:t>
            </a:r>
            <a:endParaRPr lang="en-US" sz="1400" dirty="0"/>
          </a:p>
        </p:txBody>
      </p:sp>
      <p:sp>
        <p:nvSpPr>
          <p:cNvPr id="26" name="Text 23"/>
          <p:cNvSpPr txBox="1"/>
          <p:nvPr/>
        </p:nvSpPr>
        <p:spPr>
          <a:xfrm>
            <a:off x="640080" y="5989320"/>
            <a:ext cx="10908792" cy="320040"/>
          </a:xfrm>
          <a:prstGeom prst="rect">
            <a:avLst/>
          </a:prstGeom>
          <a:noFill/>
          <a:ln/>
        </p:spPr>
        <p:txBody>
          <a:bodyPr wrap="square" lIns="0" tIns="0" rIns="0" bIns="0" rtlCol="0" anchor="t"/>
          <a:lstStyle/>
          <a:p>
            <a:pPr indent="0" marL="0">
              <a:buNone/>
            </a:pPr>
            <a:r>
              <a:rPr lang="en-US" sz="1200" dirty="0">
                <a:solidFill>
                  <a:srgbClr val="5F6368"/>
                </a:solidFill>
              </a:rPr>
              <a:t>Everyone runs their own copy of both notebooks. The pitch is in teams.</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BY 1 PM</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Five things you can do by the end of today</a:t>
            </a:r>
            <a:endParaRPr lang="en-US" sz="2800" dirty="0"/>
          </a:p>
        </p:txBody>
      </p:sp>
      <p:sp>
        <p:nvSpPr>
          <p:cNvPr id="5" name="Shape 2"/>
          <p:cNvSpPr/>
          <p:nvPr/>
        </p:nvSpPr>
        <p:spPr>
          <a:xfrm>
            <a:off x="640080" y="1691640"/>
            <a:ext cx="658368" cy="658368"/>
          </a:xfrm>
          <a:prstGeom prst="ellipse">
            <a:avLst/>
          </a:prstGeom>
          <a:solidFill>
            <a:srgbClr val="612141"/>
          </a:solidFill>
          <a:ln w="12700">
            <a:solidFill>
              <a:srgbClr val="612141"/>
            </a:solidFill>
            <a:prstDash val="solid"/>
          </a:ln>
        </p:spPr>
      </p:sp>
      <p:pic>
        <p:nvPicPr>
          <p:cNvPr id="6" name="Image 0" descr="preencoded.png">    </p:cNvPr>
          <p:cNvPicPr>
            <a:picLocks noChangeAspect="1"/>
          </p:cNvPicPr>
          <p:nvPr/>
        </p:nvPicPr>
        <p:blipFill>
          <a:blip r:embed="rId1"/>
          <a:stretch>
            <a:fillRect/>
          </a:stretch>
        </p:blipFill>
        <p:spPr>
          <a:xfrm>
            <a:off x="817839" y="1869399"/>
            <a:ext cx="302849" cy="302849"/>
          </a:xfrm>
          <a:prstGeom prst="rect">
            <a:avLst/>
          </a:prstGeom>
        </p:spPr>
      </p:pic>
      <p:sp>
        <p:nvSpPr>
          <p:cNvPr id="7" name="Text 3"/>
          <p:cNvSpPr txBox="1"/>
          <p:nvPr/>
        </p:nvSpPr>
        <p:spPr>
          <a:xfrm>
            <a:off x="1508760" y="1719072"/>
            <a:ext cx="3840480" cy="594360"/>
          </a:xfrm>
          <a:prstGeom prst="rect">
            <a:avLst/>
          </a:prstGeom>
          <a:noFill/>
          <a:ln/>
        </p:spPr>
        <p:txBody>
          <a:bodyPr wrap="square" lIns="0" tIns="0" rIns="0" bIns="0"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Write eight Python ideas</a:t>
            </a:r>
            <a:endParaRPr lang="en-US" sz="1900" dirty="0"/>
          </a:p>
        </p:txBody>
      </p:sp>
      <p:sp>
        <p:nvSpPr>
          <p:cNvPr id="8" name="Text 4"/>
          <p:cNvSpPr txBox="1"/>
          <p:nvPr/>
        </p:nvSpPr>
        <p:spPr>
          <a:xfrm>
            <a:off x="5394960" y="1719072"/>
            <a:ext cx="6126480" cy="594360"/>
          </a:xfrm>
          <a:prstGeom prst="rect">
            <a:avLst/>
          </a:prstGeom>
          <a:noFill/>
          <a:ln/>
        </p:spPr>
        <p:txBody>
          <a:bodyPr wrap="square" lIns="0" tIns="0" rIns="0" bIns="0" rtlCol="0" anchor="ctr"/>
          <a:lstStyle/>
          <a:p>
            <a:pPr indent="0" marL="0">
              <a:buNone/>
            </a:pPr>
            <a:r>
              <a:rPr lang="en-US" sz="1500" dirty="0">
                <a:solidFill>
                  <a:srgbClr val="4A4A4A"/>
                </a:solidFill>
              </a:rPr>
              <a:t>a variable, a list, a loop, an if, a function, a while, a dictionary, a DataFrame: typed by you, not pasted</a:t>
            </a:r>
            <a:endParaRPr lang="en-US" sz="1500" dirty="0"/>
          </a:p>
        </p:txBody>
      </p:sp>
      <p:sp>
        <p:nvSpPr>
          <p:cNvPr id="9" name="Shape 5"/>
          <p:cNvSpPr/>
          <p:nvPr/>
        </p:nvSpPr>
        <p:spPr>
          <a:xfrm>
            <a:off x="640080" y="2560320"/>
            <a:ext cx="658368" cy="658368"/>
          </a:xfrm>
          <a:prstGeom prst="ellipse">
            <a:avLst/>
          </a:prstGeom>
          <a:solidFill>
            <a:srgbClr val="612141"/>
          </a:solidFill>
          <a:ln w="12700">
            <a:solidFill>
              <a:srgbClr val="612141"/>
            </a:solidFill>
            <a:prstDash val="solid"/>
          </a:ln>
        </p:spPr>
      </p:sp>
      <p:pic>
        <p:nvPicPr>
          <p:cNvPr id="10" name="Image 1" descr="preencoded.png">    </p:cNvPr>
          <p:cNvPicPr>
            <a:picLocks noChangeAspect="1"/>
          </p:cNvPicPr>
          <p:nvPr/>
        </p:nvPicPr>
        <p:blipFill>
          <a:blip r:embed="rId2"/>
          <a:stretch>
            <a:fillRect/>
          </a:stretch>
        </p:blipFill>
        <p:spPr>
          <a:xfrm>
            <a:off x="817839" y="2738079"/>
            <a:ext cx="302849" cy="302849"/>
          </a:xfrm>
          <a:prstGeom prst="rect">
            <a:avLst/>
          </a:prstGeom>
        </p:spPr>
      </p:pic>
      <p:sp>
        <p:nvSpPr>
          <p:cNvPr id="11" name="Text 6"/>
          <p:cNvSpPr txBox="1"/>
          <p:nvPr/>
        </p:nvSpPr>
        <p:spPr>
          <a:xfrm>
            <a:off x="1508760" y="2587752"/>
            <a:ext cx="3840480" cy="594360"/>
          </a:xfrm>
          <a:prstGeom prst="rect">
            <a:avLst/>
          </a:prstGeom>
          <a:noFill/>
          <a:ln/>
        </p:spPr>
        <p:txBody>
          <a:bodyPr wrap="square" lIns="0" tIns="0" rIns="0" bIns="0"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Load and summarize real data</a:t>
            </a:r>
            <a:endParaRPr lang="en-US" sz="1900" dirty="0"/>
          </a:p>
        </p:txBody>
      </p:sp>
      <p:sp>
        <p:nvSpPr>
          <p:cNvPr id="12" name="Text 7"/>
          <p:cNvSpPr txBox="1"/>
          <p:nvPr/>
        </p:nvSpPr>
        <p:spPr>
          <a:xfrm>
            <a:off x="5394960" y="2587752"/>
            <a:ext cx="6126480" cy="594360"/>
          </a:xfrm>
          <a:prstGeom prst="rect">
            <a:avLst/>
          </a:prstGeom>
          <a:noFill/>
          <a:ln/>
        </p:spPr>
        <p:txBody>
          <a:bodyPr wrap="square" lIns="0" tIns="0" rIns="0" bIns="0" rtlCol="0" anchor="ctr"/>
          <a:lstStyle/>
          <a:p>
            <a:pPr indent="0" marL="0">
              <a:buNone/>
            </a:pPr>
            <a:r>
              <a:rPr lang="en-US" sz="1500" dirty="0">
                <a:solidFill>
                  <a:srgbClr val="4A4A4A"/>
                </a:solidFill>
              </a:rPr>
              <a:t>2,096 weeks of Canadian searches in a table you control with code</a:t>
            </a:r>
            <a:endParaRPr lang="en-US" sz="1500" dirty="0"/>
          </a:p>
        </p:txBody>
      </p:sp>
      <p:sp>
        <p:nvSpPr>
          <p:cNvPr id="13" name="Shape 8"/>
          <p:cNvSpPr/>
          <p:nvPr/>
        </p:nvSpPr>
        <p:spPr>
          <a:xfrm>
            <a:off x="640080" y="3429000"/>
            <a:ext cx="658368" cy="658368"/>
          </a:xfrm>
          <a:prstGeom prst="ellipse">
            <a:avLst/>
          </a:prstGeom>
          <a:solidFill>
            <a:srgbClr val="612141"/>
          </a:solidFill>
          <a:ln w="12700">
            <a:solidFill>
              <a:srgbClr val="612141"/>
            </a:solidFill>
            <a:prstDash val="solid"/>
          </a:ln>
        </p:spPr>
      </p:sp>
      <p:pic>
        <p:nvPicPr>
          <p:cNvPr id="14" name="Image 2" descr="preencoded.png">    </p:cNvPr>
          <p:cNvPicPr>
            <a:picLocks noChangeAspect="1"/>
          </p:cNvPicPr>
          <p:nvPr/>
        </p:nvPicPr>
        <p:blipFill>
          <a:blip r:embed="rId3"/>
          <a:stretch>
            <a:fillRect/>
          </a:stretch>
        </p:blipFill>
        <p:spPr>
          <a:xfrm>
            <a:off x="817839" y="3606759"/>
            <a:ext cx="302849" cy="302849"/>
          </a:xfrm>
          <a:prstGeom prst="rect">
            <a:avLst/>
          </a:prstGeom>
        </p:spPr>
      </p:pic>
      <p:sp>
        <p:nvSpPr>
          <p:cNvPr id="15" name="Text 9"/>
          <p:cNvSpPr txBox="1"/>
          <p:nvPr/>
        </p:nvSpPr>
        <p:spPr>
          <a:xfrm>
            <a:off x="1508760" y="3456432"/>
            <a:ext cx="3840480" cy="594360"/>
          </a:xfrm>
          <a:prstGeom prst="rect">
            <a:avLst/>
          </a:prstGeom>
          <a:noFill/>
          <a:ln/>
        </p:spPr>
        <p:txBody>
          <a:bodyPr wrap="square" lIns="0" tIns="0" rIns="0" bIns="0"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Pick the right chart</a:t>
            </a:r>
            <a:endParaRPr lang="en-US" sz="1900" dirty="0"/>
          </a:p>
        </p:txBody>
      </p:sp>
      <p:sp>
        <p:nvSpPr>
          <p:cNvPr id="16" name="Text 10"/>
          <p:cNvSpPr txBox="1"/>
          <p:nvPr/>
        </p:nvSpPr>
        <p:spPr>
          <a:xfrm>
            <a:off x="5394960" y="3456432"/>
            <a:ext cx="6126480" cy="594360"/>
          </a:xfrm>
          <a:prstGeom prst="rect">
            <a:avLst/>
          </a:prstGeom>
          <a:noFill/>
          <a:ln/>
        </p:spPr>
        <p:txBody>
          <a:bodyPr wrap="square" lIns="0" tIns="0" rIns="0" bIns="0" rtlCol="0" anchor="ctr"/>
          <a:lstStyle/>
          <a:p>
            <a:pPr indent="0" marL="0">
              <a:buNone/>
            </a:pPr>
            <a:r>
              <a:rPr lang="en-US" sz="1500" dirty="0">
                <a:solidFill>
                  <a:srgbClr val="4A4A4A"/>
                </a:solidFill>
              </a:rPr>
              <a:t>line, bar, grouped bar, histogram, box plot, scatter, heatmap: one question each</a:t>
            </a:r>
            <a:endParaRPr lang="en-US" sz="1500" dirty="0"/>
          </a:p>
        </p:txBody>
      </p:sp>
      <p:sp>
        <p:nvSpPr>
          <p:cNvPr id="17" name="Shape 11"/>
          <p:cNvSpPr/>
          <p:nvPr/>
        </p:nvSpPr>
        <p:spPr>
          <a:xfrm>
            <a:off x="640080" y="4297680"/>
            <a:ext cx="658368" cy="658368"/>
          </a:xfrm>
          <a:prstGeom prst="ellipse">
            <a:avLst/>
          </a:prstGeom>
          <a:solidFill>
            <a:srgbClr val="612141"/>
          </a:solidFill>
          <a:ln w="12700">
            <a:solidFill>
              <a:srgbClr val="612141"/>
            </a:solidFill>
            <a:prstDash val="solid"/>
          </a:ln>
        </p:spPr>
      </p:sp>
      <p:pic>
        <p:nvPicPr>
          <p:cNvPr id="18" name="Image 3" descr="preencoded.png">    </p:cNvPr>
          <p:cNvPicPr>
            <a:picLocks noChangeAspect="1"/>
          </p:cNvPicPr>
          <p:nvPr/>
        </p:nvPicPr>
        <p:blipFill>
          <a:blip r:embed="rId4"/>
          <a:stretch>
            <a:fillRect/>
          </a:stretch>
        </p:blipFill>
        <p:spPr>
          <a:xfrm>
            <a:off x="817839" y="4475439"/>
            <a:ext cx="302849" cy="302849"/>
          </a:xfrm>
          <a:prstGeom prst="rect">
            <a:avLst/>
          </a:prstGeom>
        </p:spPr>
      </p:pic>
      <p:sp>
        <p:nvSpPr>
          <p:cNvPr id="19" name="Text 12"/>
          <p:cNvSpPr txBox="1"/>
          <p:nvPr/>
        </p:nvSpPr>
        <p:spPr>
          <a:xfrm>
            <a:off x="1508760" y="4325112"/>
            <a:ext cx="3840480" cy="594360"/>
          </a:xfrm>
          <a:prstGeom prst="rect">
            <a:avLst/>
          </a:prstGeom>
          <a:noFill/>
          <a:ln/>
        </p:spPr>
        <p:txBody>
          <a:bodyPr wrap="square" lIns="0" tIns="0" rIns="0" bIns="0"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Spot a misleading chart</a:t>
            </a:r>
            <a:endParaRPr lang="en-US" sz="1900" dirty="0"/>
          </a:p>
        </p:txBody>
      </p:sp>
      <p:sp>
        <p:nvSpPr>
          <p:cNvPr id="20" name="Text 13"/>
          <p:cNvSpPr txBox="1"/>
          <p:nvPr/>
        </p:nvSpPr>
        <p:spPr>
          <a:xfrm>
            <a:off x="5394960" y="4325112"/>
            <a:ext cx="6126480" cy="594360"/>
          </a:xfrm>
          <a:prstGeom prst="rect">
            <a:avLst/>
          </a:prstGeom>
          <a:noFill/>
          <a:ln/>
        </p:spPr>
        <p:txBody>
          <a:bodyPr wrap="square" lIns="0" tIns="0" rIns="0" bIns="0" rtlCol="0" anchor="ctr"/>
          <a:lstStyle/>
          <a:p>
            <a:pPr indent="0" marL="0">
              <a:buNone/>
            </a:pPr>
            <a:r>
              <a:rPr lang="en-US" sz="1500" dirty="0">
                <a:solidFill>
                  <a:srgbClr val="4A4A4A"/>
                </a:solidFill>
              </a:rPr>
              <a:t>and fix it: a zero baseline, a title that states the finding, a source line, a limit said out loud</a:t>
            </a:r>
            <a:endParaRPr lang="en-US" sz="1500" dirty="0"/>
          </a:p>
        </p:txBody>
      </p:sp>
      <p:sp>
        <p:nvSpPr>
          <p:cNvPr id="21" name="Shape 14"/>
          <p:cNvSpPr/>
          <p:nvPr/>
        </p:nvSpPr>
        <p:spPr>
          <a:xfrm>
            <a:off x="640080" y="5166360"/>
            <a:ext cx="658368" cy="658368"/>
          </a:xfrm>
          <a:prstGeom prst="ellipse">
            <a:avLst/>
          </a:prstGeom>
          <a:solidFill>
            <a:srgbClr val="9D2235"/>
          </a:solidFill>
          <a:ln w="12700">
            <a:solidFill>
              <a:srgbClr val="9D2235"/>
            </a:solidFill>
            <a:prstDash val="solid"/>
          </a:ln>
        </p:spPr>
      </p:sp>
      <p:pic>
        <p:nvPicPr>
          <p:cNvPr id="22" name="Image 4" descr="preencoded.png">    </p:cNvPr>
          <p:cNvPicPr>
            <a:picLocks noChangeAspect="1"/>
          </p:cNvPicPr>
          <p:nvPr/>
        </p:nvPicPr>
        <p:blipFill>
          <a:blip r:embed="rId5"/>
          <a:stretch>
            <a:fillRect/>
          </a:stretch>
        </p:blipFill>
        <p:spPr>
          <a:xfrm>
            <a:off x="817839" y="5344119"/>
            <a:ext cx="302849" cy="302849"/>
          </a:xfrm>
          <a:prstGeom prst="rect">
            <a:avLst/>
          </a:prstGeom>
        </p:spPr>
      </p:pic>
      <p:sp>
        <p:nvSpPr>
          <p:cNvPr id="23" name="Text 15"/>
          <p:cNvSpPr txBox="1"/>
          <p:nvPr/>
        </p:nvSpPr>
        <p:spPr>
          <a:xfrm>
            <a:off x="1508760" y="5193792"/>
            <a:ext cx="3840480" cy="594360"/>
          </a:xfrm>
          <a:prstGeom prst="rect">
            <a:avLst/>
          </a:prstGeom>
          <a:noFill/>
          <a:ln/>
        </p:spPr>
        <p:txBody>
          <a:bodyPr wrap="square" lIns="0" tIns="0" rIns="0" bIns="0"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Make a seasonal decision</a:t>
            </a:r>
            <a:endParaRPr lang="en-US" sz="1900" dirty="0"/>
          </a:p>
        </p:txBody>
      </p:sp>
      <p:sp>
        <p:nvSpPr>
          <p:cNvPr id="24" name="Text 16"/>
          <p:cNvSpPr txBox="1"/>
          <p:nvPr/>
        </p:nvSpPr>
        <p:spPr>
          <a:xfrm>
            <a:off x="5394960" y="5193792"/>
            <a:ext cx="6126480" cy="594360"/>
          </a:xfrm>
          <a:prstGeom prst="rect">
            <a:avLst/>
          </a:prstGeom>
          <a:noFill/>
          <a:ln/>
        </p:spPr>
        <p:txBody>
          <a:bodyPr wrap="square" lIns="0" tIns="0" rIns="0" bIns="0" rtlCol="0" anchor="ctr"/>
          <a:lstStyle/>
          <a:p>
            <a:pPr indent="0" marL="0">
              <a:buNone/>
            </a:pPr>
            <a:r>
              <a:rPr lang="en-US" sz="1500" dirty="0">
                <a:solidFill>
                  <a:srgbClr val="4A4A4A"/>
                </a:solidFill>
              </a:rPr>
              <a:t>"We built a program that analyzes and visualizes data to support a business decision."</a:t>
            </a:r>
            <a:endParaRPr lang="en-US" sz="15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RECAP · DAY 2</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Three mistakes from last week, and the one-line fix for each</a:t>
            </a:r>
            <a:endParaRPr lang="en-US" sz="2800" dirty="0"/>
          </a:p>
        </p:txBody>
      </p:sp>
      <p:sp>
        <p:nvSpPr>
          <p:cNvPr id="5" name="Text 2"/>
          <p:cNvSpPr txBox="1"/>
          <p:nvPr/>
        </p:nvSpPr>
        <p:spPr>
          <a:xfrm>
            <a:off x="640080" y="1645920"/>
            <a:ext cx="3474720" cy="274320"/>
          </a:xfrm>
          <a:prstGeom prst="rect">
            <a:avLst/>
          </a:prstGeom>
          <a:noFill/>
          <a:ln/>
        </p:spPr>
        <p:txBody>
          <a:bodyPr wrap="square" lIns="0" tIns="0" rIns="0" bIns="0" rtlCol="0" anchor="t"/>
          <a:lstStyle/>
          <a:p>
            <a:pPr indent="0" marL="0">
              <a:buNone/>
            </a:pPr>
            <a:r>
              <a:rPr lang="en-US" sz="1200" b="1" spc="100" kern="0" dirty="0">
                <a:solidFill>
                  <a:srgbClr val="9D2235"/>
                </a:solidFill>
              </a:rPr>
              <a:t>FORGOT THE f</a:t>
            </a:r>
            <a:endParaRPr lang="en-US" sz="1200" dirty="0"/>
          </a:p>
        </p:txBody>
      </p:sp>
      <p:sp>
        <p:nvSpPr>
          <p:cNvPr id="6" name="Text 3"/>
          <p:cNvSpPr txBox="1"/>
          <p:nvPr/>
        </p:nvSpPr>
        <p:spPr>
          <a:xfrm>
            <a:off x="640080" y="1920240"/>
            <a:ext cx="3474720" cy="731520"/>
          </a:xfrm>
          <a:prstGeom prst="rect">
            <a:avLst/>
          </a:prstGeom>
          <a:noFill/>
          <a:ln/>
        </p:spPr>
        <p:txBody>
          <a:bodyPr wrap="square" lIns="0" tIns="0" rIns="0" bIns="0" rtlCol="0" anchor="t"/>
          <a:lstStyle/>
          <a:p>
            <a:pPr indent="0" marL="0">
              <a:buNone/>
            </a:pPr>
            <a:r>
              <a:rPr lang="en-US" sz="1300" dirty="0">
                <a:solidFill>
                  <a:srgbClr val="4A4A4A"/>
                </a:solidFill>
              </a:rPr>
              <a:t>Mistake: print("{school} has {students}") printed the braces, no error.</a:t>
            </a:r>
            <a:endParaRPr lang="en-US" sz="1300" dirty="0"/>
          </a:p>
        </p:txBody>
      </p:sp>
      <p:pic>
        <p:nvPicPr>
          <p:cNvPr id="7" name="Image 0" descr="/tmp/claude-0/-home-claude/93efb843-a8d1-5396-a1f0-bcc38514be15/scratchpad/build/img_day3/r1_ok.png">    </p:cNvPr>
          <p:cNvPicPr>
            <a:picLocks noChangeAspect="1"/>
          </p:cNvPicPr>
          <p:nvPr/>
        </p:nvPicPr>
        <p:blipFill>
          <a:blip r:embed="rId1"/>
          <a:stretch>
            <a:fillRect/>
          </a:stretch>
        </p:blipFill>
        <p:spPr>
          <a:xfrm>
            <a:off x="640080" y="2697480"/>
            <a:ext cx="3474720" cy="933959"/>
          </a:xfrm>
          <a:prstGeom prst="rect">
            <a:avLst/>
          </a:prstGeom>
        </p:spPr>
      </p:pic>
      <p:sp>
        <p:nvSpPr>
          <p:cNvPr id="8" name="Text 4"/>
          <p:cNvSpPr txBox="1"/>
          <p:nvPr/>
        </p:nvSpPr>
        <p:spPr>
          <a:xfrm>
            <a:off x="4352544" y="1645920"/>
            <a:ext cx="3474720" cy="274320"/>
          </a:xfrm>
          <a:prstGeom prst="rect">
            <a:avLst/>
          </a:prstGeom>
          <a:noFill/>
          <a:ln/>
        </p:spPr>
        <p:txBody>
          <a:bodyPr wrap="square" lIns="0" tIns="0" rIns="0" bIns="0" rtlCol="0" anchor="t"/>
          <a:lstStyle/>
          <a:p>
            <a:pPr indent="0" marL="0">
              <a:buNone/>
            </a:pPr>
            <a:r>
              <a:rPr lang="en-US" sz="1200" b="1" spc="100" kern="0" dirty="0">
                <a:solidFill>
                  <a:srgbClr val="9D2235"/>
                </a:solidFill>
              </a:rPr>
              <a:t>int() CAN'T READ "seventeen"</a:t>
            </a:r>
            <a:endParaRPr lang="en-US" sz="1200" dirty="0"/>
          </a:p>
        </p:txBody>
      </p:sp>
      <p:sp>
        <p:nvSpPr>
          <p:cNvPr id="9" name="Text 5"/>
          <p:cNvSpPr txBox="1"/>
          <p:nvPr/>
        </p:nvSpPr>
        <p:spPr>
          <a:xfrm>
            <a:off x="4352544" y="1920240"/>
            <a:ext cx="3474720" cy="731520"/>
          </a:xfrm>
          <a:prstGeom prst="rect">
            <a:avLst/>
          </a:prstGeom>
          <a:noFill/>
          <a:ln/>
        </p:spPr>
        <p:txBody>
          <a:bodyPr wrap="square" lIns="0" tIns="0" rIns="0" bIns="0" rtlCol="0" anchor="t"/>
          <a:lstStyle/>
          <a:p>
            <a:pPr indent="0" marL="0">
              <a:buNone/>
            </a:pPr>
            <a:r>
              <a:rPr lang="en-US" sz="1300" dirty="0">
                <a:solidFill>
                  <a:srgbClr val="4A4A4A"/>
                </a:solidFill>
              </a:rPr>
              <a:t>Mistake: ValueError. Fix: a while loop that asks again.</a:t>
            </a:r>
            <a:endParaRPr lang="en-US" sz="1300" dirty="0"/>
          </a:p>
        </p:txBody>
      </p:sp>
      <p:pic>
        <p:nvPicPr>
          <p:cNvPr id="10" name="Image 1" descr="/tmp/claude-0/-home-claude/93efb843-a8d1-5396-a1f0-bcc38514be15/scratchpad/build/img_day3/r2_ok.png">    </p:cNvPr>
          <p:cNvPicPr>
            <a:picLocks noChangeAspect="1"/>
          </p:cNvPicPr>
          <p:nvPr/>
        </p:nvPicPr>
        <p:blipFill>
          <a:blip r:embed="rId2"/>
          <a:stretch>
            <a:fillRect/>
          </a:stretch>
        </p:blipFill>
        <p:spPr>
          <a:xfrm>
            <a:off x="4352544" y="2697480"/>
            <a:ext cx="3474720" cy="2237367"/>
          </a:xfrm>
          <a:prstGeom prst="rect">
            <a:avLst/>
          </a:prstGeom>
        </p:spPr>
      </p:pic>
      <p:sp>
        <p:nvSpPr>
          <p:cNvPr id="11" name="Text 6"/>
          <p:cNvSpPr txBox="1"/>
          <p:nvPr/>
        </p:nvSpPr>
        <p:spPr>
          <a:xfrm>
            <a:off x="8074152" y="1645920"/>
            <a:ext cx="3474720" cy="274320"/>
          </a:xfrm>
          <a:prstGeom prst="rect">
            <a:avLst/>
          </a:prstGeom>
          <a:noFill/>
          <a:ln/>
        </p:spPr>
        <p:txBody>
          <a:bodyPr wrap="square" lIns="0" tIns="0" rIns="0" bIns="0" rtlCol="0" anchor="t"/>
          <a:lstStyle/>
          <a:p>
            <a:pPr indent="0" marL="0">
              <a:buNone/>
            </a:pPr>
            <a:r>
              <a:rPr lang="en-US" sz="1200" b="1" spc="100" kern="0" dirty="0">
                <a:solidFill>
                  <a:srgbClr val="9D2235"/>
                </a:solidFill>
              </a:rPr>
              <a:t>= STORES, == COMPARES</a:t>
            </a:r>
            <a:endParaRPr lang="en-US" sz="1200" dirty="0"/>
          </a:p>
        </p:txBody>
      </p:sp>
      <p:sp>
        <p:nvSpPr>
          <p:cNvPr id="12" name="Text 7"/>
          <p:cNvSpPr txBox="1"/>
          <p:nvPr/>
        </p:nvSpPr>
        <p:spPr>
          <a:xfrm>
            <a:off x="8074152" y="1920240"/>
            <a:ext cx="3474720" cy="731520"/>
          </a:xfrm>
          <a:prstGeom prst="rect">
            <a:avLst/>
          </a:prstGeom>
          <a:noFill/>
          <a:ln/>
        </p:spPr>
        <p:txBody>
          <a:bodyPr wrap="square" lIns="0" tIns="0" rIns="0" bIns="0" rtlCol="0" anchor="t"/>
          <a:lstStyle/>
          <a:p>
            <a:pPr indent="0" marL="0">
              <a:buNone/>
            </a:pPr>
            <a:r>
              <a:rPr lang="en-US" sz="1300" dirty="0">
                <a:solidFill>
                  <a:srgbClr val="4A4A4A"/>
                </a:solidFill>
              </a:rPr>
              <a:t>Mistake: if score = 80 (SyntaxError) and a body that wasn't indented.</a:t>
            </a:r>
            <a:endParaRPr lang="en-US" sz="1300" dirty="0"/>
          </a:p>
        </p:txBody>
      </p:sp>
      <p:pic>
        <p:nvPicPr>
          <p:cNvPr id="13" name="Image 2" descr="/tmp/claude-0/-home-claude/93efb843-a8d1-5396-a1f0-bcc38514be15/scratchpad/build/img_day3/r3_ok.png">    </p:cNvPr>
          <p:cNvPicPr>
            <a:picLocks noChangeAspect="1"/>
          </p:cNvPicPr>
          <p:nvPr/>
        </p:nvPicPr>
        <p:blipFill>
          <a:blip r:embed="rId3"/>
          <a:stretch>
            <a:fillRect/>
          </a:stretch>
        </p:blipFill>
        <p:spPr>
          <a:xfrm>
            <a:off x="8074152" y="2697480"/>
            <a:ext cx="3474720" cy="2292157"/>
          </a:xfrm>
          <a:prstGeom prst="rect">
            <a:avLst/>
          </a:prstGeom>
        </p:spPr>
      </p:pic>
      <p:sp>
        <p:nvSpPr>
          <p:cNvPr id="14" name="Shape 8"/>
          <p:cNvSpPr/>
          <p:nvPr/>
        </p:nvSpPr>
        <p:spPr>
          <a:xfrm>
            <a:off x="640080" y="5486400"/>
            <a:ext cx="10908792" cy="502920"/>
          </a:xfrm>
          <a:prstGeom prst="rect">
            <a:avLst/>
          </a:prstGeom>
          <a:solidFill>
            <a:srgbClr val="F4EEF1"/>
          </a:solidFill>
          <a:ln w="9525">
            <a:solidFill>
              <a:srgbClr val="F4EEF1"/>
            </a:solidFill>
            <a:prstDash val="solid"/>
          </a:ln>
        </p:spPr>
      </p:sp>
      <p:sp>
        <p:nvSpPr>
          <p:cNvPr id="15" name="Text 9"/>
          <p:cNvSpPr txBox="1"/>
          <p:nvPr/>
        </p:nvSpPr>
        <p:spPr>
          <a:xfrm>
            <a:off x="868680" y="5577840"/>
            <a:ext cx="10451592" cy="320040"/>
          </a:xfrm>
          <a:prstGeom prst="rect">
            <a:avLst/>
          </a:prstGeom>
          <a:noFill/>
          <a:ln/>
        </p:spPr>
        <p:txBody>
          <a:bodyPr wrap="square" lIns="0" tIns="0" rIns="0" bIns="0" rtlCol="0" anchor="ctr"/>
          <a:lstStyle/>
          <a:p>
            <a:pPr indent="0" marL="0">
              <a:buNone/>
            </a:pPr>
            <a:r>
              <a:rPr lang="en-US" sz="1300" b="1" dirty="0">
                <a:solidFill>
                  <a:srgbClr val="612141"/>
                </a:solidFill>
              </a:rPr>
              <a:t>Habit:  </a:t>
            </a:r>
            <a:pPr indent="0" marL="0">
              <a:buNone/>
            </a:pPr>
            <a:r>
              <a:rPr lang="en-US" sz="1300" dirty="0">
                <a:solidFill>
                  <a:srgbClr val="222222"/>
                </a:solidFill>
              </a:rPr>
              <a:t>read the last line of an error first, then check that the output is what you meant, not only that it ran.</a:t>
            </a:r>
            <a:endParaRPr lang="en-US" sz="13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lIns="0" tIns="0" rIns="0" bIns="0" rtlCol="0" anchor="b"/>
          <a:lstStyle/>
          <a:p>
            <a:pPr indent="0" marL="0">
              <a:buNone/>
            </a:pPr>
            <a:r>
              <a:rPr lang="en-US" sz="7200" dirty="0">
                <a:solidFill>
                  <a:srgbClr val="D9A7B7"/>
                </a:solidFill>
                <a:latin typeface="Cambria" pitchFamily="34" charset="0"/>
                <a:ea typeface="Cambria" pitchFamily="34" charset="-122"/>
                <a:cs typeface="Cambria" pitchFamily="34" charset="-120"/>
              </a:rPr>
              <a:t>01</a:t>
            </a: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lIns="0" tIns="0" rIns="0" bIns="0" rtlCol="0" anchor="t"/>
          <a:lstStyle/>
          <a:p>
            <a:pPr algn="l" indent="0" marL="0">
              <a:buNone/>
            </a:pPr>
            <a:r>
              <a:rPr lang="en-US" sz="4000" dirty="0">
                <a:solidFill>
                  <a:schemeClr val="bg1"/>
                </a:solidFill>
                <a:latin typeface="Cambria" pitchFamily="34" charset="0"/>
                <a:ea typeface="Cambria" pitchFamily="34" charset="-122"/>
                <a:cs typeface="Cambria" pitchFamily="34" charset="-120"/>
              </a:rPr>
              <a:t>The Haunted Snack Bar: eight cells, typed by you</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THE WORDS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Eight words you'll use all day, in the order you'll type them</a:t>
            </a:r>
            <a:endParaRPr lang="en-US" sz="2800" dirty="0"/>
          </a:p>
        </p:txBody>
      </p:sp>
      <p:sp>
        <p:nvSpPr>
          <p:cNvPr id="5" name="Shape 2"/>
          <p:cNvSpPr/>
          <p:nvPr/>
        </p:nvSpPr>
        <p:spPr>
          <a:xfrm>
            <a:off x="640080" y="1691640"/>
            <a:ext cx="5376672" cy="868680"/>
          </a:xfrm>
          <a:prstGeom prst="roundRect">
            <a:avLst>
              <a:gd name="adj" fmla="val 8421"/>
            </a:avLst>
          </a:prstGeom>
          <a:solidFill>
            <a:srgbClr val="F4EEF1"/>
          </a:solidFill>
          <a:ln w="9525">
            <a:solidFill>
              <a:srgbClr val="F4EEF1"/>
            </a:solidFill>
            <a:prstDash val="solid"/>
          </a:ln>
        </p:spPr>
      </p:sp>
      <p:sp>
        <p:nvSpPr>
          <p:cNvPr id="6" name="Text 3"/>
          <p:cNvSpPr txBox="1"/>
          <p:nvPr/>
        </p:nvSpPr>
        <p:spPr>
          <a:xfrm>
            <a:off x="822960" y="1764792"/>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1</a:t>
            </a:r>
            <a:endParaRPr lang="en-US" sz="2200" dirty="0"/>
          </a:p>
        </p:txBody>
      </p:sp>
      <p:sp>
        <p:nvSpPr>
          <p:cNvPr id="7" name="Text 4"/>
          <p:cNvSpPr txBox="1"/>
          <p:nvPr/>
        </p:nvSpPr>
        <p:spPr>
          <a:xfrm>
            <a:off x="1280160" y="1764792"/>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Variable</a:t>
            </a:r>
            <a:endParaRPr lang="en-US" sz="1800" dirty="0"/>
          </a:p>
        </p:txBody>
      </p:sp>
      <p:sp>
        <p:nvSpPr>
          <p:cNvPr id="8" name="Text 5"/>
          <p:cNvSpPr txBox="1"/>
          <p:nvPr/>
        </p:nvSpPr>
        <p:spPr>
          <a:xfrm>
            <a:off x="3200400" y="1764792"/>
            <a:ext cx="2697480" cy="731520"/>
          </a:xfrm>
          <a:prstGeom prst="rect">
            <a:avLst/>
          </a:prstGeom>
          <a:noFill/>
          <a:ln/>
        </p:spPr>
        <p:txBody>
          <a:bodyPr wrap="square" lIns="0" tIns="0" rIns="0" bIns="0" rtlCol="0" anchor="ctr"/>
          <a:lstStyle/>
          <a:p>
            <a:pPr indent="0" marL="0">
              <a:buNone/>
            </a:pPr>
            <a:r>
              <a:rPr lang="en-US" sz="1400" dirty="0">
                <a:solidFill>
                  <a:srgbClr val="222222"/>
                </a:solidFill>
              </a:rPr>
              <a:t>a named box that holds one value</a:t>
            </a:r>
            <a:endParaRPr lang="en-US" sz="1400" dirty="0"/>
          </a:p>
        </p:txBody>
      </p:sp>
      <p:sp>
        <p:nvSpPr>
          <p:cNvPr id="9" name="Shape 6"/>
          <p:cNvSpPr/>
          <p:nvPr/>
        </p:nvSpPr>
        <p:spPr>
          <a:xfrm>
            <a:off x="6172200" y="1691640"/>
            <a:ext cx="5376672" cy="868680"/>
          </a:xfrm>
          <a:prstGeom prst="roundRect">
            <a:avLst>
              <a:gd name="adj" fmla="val 8421"/>
            </a:avLst>
          </a:prstGeom>
          <a:solidFill>
            <a:srgbClr val="F4EEF1"/>
          </a:solidFill>
          <a:ln w="9525">
            <a:solidFill>
              <a:srgbClr val="F4EEF1"/>
            </a:solidFill>
            <a:prstDash val="solid"/>
          </a:ln>
        </p:spPr>
      </p:sp>
      <p:sp>
        <p:nvSpPr>
          <p:cNvPr id="10" name="Text 7"/>
          <p:cNvSpPr txBox="1"/>
          <p:nvPr/>
        </p:nvSpPr>
        <p:spPr>
          <a:xfrm>
            <a:off x="6355080" y="1764792"/>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2</a:t>
            </a:r>
            <a:endParaRPr lang="en-US" sz="2200" dirty="0"/>
          </a:p>
        </p:txBody>
      </p:sp>
      <p:sp>
        <p:nvSpPr>
          <p:cNvPr id="11" name="Text 8"/>
          <p:cNvSpPr txBox="1"/>
          <p:nvPr/>
        </p:nvSpPr>
        <p:spPr>
          <a:xfrm>
            <a:off x="6812280" y="1764792"/>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List</a:t>
            </a:r>
            <a:endParaRPr lang="en-US" sz="1800" dirty="0"/>
          </a:p>
        </p:txBody>
      </p:sp>
      <p:sp>
        <p:nvSpPr>
          <p:cNvPr id="12" name="Text 9"/>
          <p:cNvSpPr txBox="1"/>
          <p:nvPr/>
        </p:nvSpPr>
        <p:spPr>
          <a:xfrm>
            <a:off x="8732520" y="1764792"/>
            <a:ext cx="2697480" cy="731520"/>
          </a:xfrm>
          <a:prstGeom prst="rect">
            <a:avLst/>
          </a:prstGeom>
          <a:noFill/>
          <a:ln/>
        </p:spPr>
        <p:txBody>
          <a:bodyPr wrap="square" lIns="0" tIns="0" rIns="0" bIns="0" rtlCol="0" anchor="ctr"/>
          <a:lstStyle/>
          <a:p>
            <a:pPr indent="0" marL="0">
              <a:buNone/>
            </a:pPr>
            <a:r>
              <a:rPr lang="en-US" sz="1400" dirty="0">
                <a:solidFill>
                  <a:srgbClr val="222222"/>
                </a:solidFill>
              </a:rPr>
              <a:t>many values in order, inside [ ]</a:t>
            </a:r>
            <a:endParaRPr lang="en-US" sz="1400" dirty="0"/>
          </a:p>
        </p:txBody>
      </p:sp>
      <p:sp>
        <p:nvSpPr>
          <p:cNvPr id="13" name="Shape 10"/>
          <p:cNvSpPr/>
          <p:nvPr/>
        </p:nvSpPr>
        <p:spPr>
          <a:xfrm>
            <a:off x="640080" y="2715768"/>
            <a:ext cx="5376672" cy="868680"/>
          </a:xfrm>
          <a:prstGeom prst="roundRect">
            <a:avLst>
              <a:gd name="adj" fmla="val 8421"/>
            </a:avLst>
          </a:prstGeom>
          <a:solidFill>
            <a:srgbClr val="F4EEF1"/>
          </a:solidFill>
          <a:ln w="9525">
            <a:solidFill>
              <a:srgbClr val="F4EEF1"/>
            </a:solidFill>
            <a:prstDash val="solid"/>
          </a:ln>
        </p:spPr>
      </p:sp>
      <p:sp>
        <p:nvSpPr>
          <p:cNvPr id="14" name="Text 11"/>
          <p:cNvSpPr txBox="1"/>
          <p:nvPr/>
        </p:nvSpPr>
        <p:spPr>
          <a:xfrm>
            <a:off x="822960" y="2788920"/>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3</a:t>
            </a:r>
            <a:endParaRPr lang="en-US" sz="2200" dirty="0"/>
          </a:p>
        </p:txBody>
      </p:sp>
      <p:sp>
        <p:nvSpPr>
          <p:cNvPr id="15" name="Text 12"/>
          <p:cNvSpPr txBox="1"/>
          <p:nvPr/>
        </p:nvSpPr>
        <p:spPr>
          <a:xfrm>
            <a:off x="1280160" y="2788920"/>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for loop</a:t>
            </a:r>
            <a:endParaRPr lang="en-US" sz="1800" dirty="0"/>
          </a:p>
        </p:txBody>
      </p:sp>
      <p:sp>
        <p:nvSpPr>
          <p:cNvPr id="16" name="Text 13"/>
          <p:cNvSpPr txBox="1"/>
          <p:nvPr/>
        </p:nvSpPr>
        <p:spPr>
          <a:xfrm>
            <a:off x="3200400" y="2788920"/>
            <a:ext cx="2697480" cy="731520"/>
          </a:xfrm>
          <a:prstGeom prst="rect">
            <a:avLst/>
          </a:prstGeom>
          <a:noFill/>
          <a:ln/>
        </p:spPr>
        <p:txBody>
          <a:bodyPr wrap="square" lIns="0" tIns="0" rIns="0" bIns="0" rtlCol="0" anchor="ctr"/>
          <a:lstStyle/>
          <a:p>
            <a:pPr indent="0" marL="0">
              <a:buNone/>
            </a:pPr>
            <a:r>
              <a:rPr lang="en-US" sz="1400" dirty="0">
                <a:solidFill>
                  <a:srgbClr val="222222"/>
                </a:solidFill>
              </a:rPr>
              <a:t>do the same thing to every item in a list</a:t>
            </a:r>
            <a:endParaRPr lang="en-US" sz="1400" dirty="0"/>
          </a:p>
        </p:txBody>
      </p:sp>
      <p:sp>
        <p:nvSpPr>
          <p:cNvPr id="17" name="Shape 14"/>
          <p:cNvSpPr/>
          <p:nvPr/>
        </p:nvSpPr>
        <p:spPr>
          <a:xfrm>
            <a:off x="6172200" y="2715768"/>
            <a:ext cx="5376672" cy="868680"/>
          </a:xfrm>
          <a:prstGeom prst="roundRect">
            <a:avLst>
              <a:gd name="adj" fmla="val 8421"/>
            </a:avLst>
          </a:prstGeom>
          <a:solidFill>
            <a:srgbClr val="F4EEF1"/>
          </a:solidFill>
          <a:ln w="9525">
            <a:solidFill>
              <a:srgbClr val="F4EEF1"/>
            </a:solidFill>
            <a:prstDash val="solid"/>
          </a:ln>
        </p:spPr>
      </p:sp>
      <p:sp>
        <p:nvSpPr>
          <p:cNvPr id="18" name="Text 15"/>
          <p:cNvSpPr txBox="1"/>
          <p:nvPr/>
        </p:nvSpPr>
        <p:spPr>
          <a:xfrm>
            <a:off x="6355080" y="2788920"/>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4</a:t>
            </a:r>
            <a:endParaRPr lang="en-US" sz="2200" dirty="0"/>
          </a:p>
        </p:txBody>
      </p:sp>
      <p:sp>
        <p:nvSpPr>
          <p:cNvPr id="19" name="Text 16"/>
          <p:cNvSpPr txBox="1"/>
          <p:nvPr/>
        </p:nvSpPr>
        <p:spPr>
          <a:xfrm>
            <a:off x="6812280" y="2788920"/>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if / elif / else</a:t>
            </a:r>
            <a:endParaRPr lang="en-US" sz="1800" dirty="0"/>
          </a:p>
        </p:txBody>
      </p:sp>
      <p:sp>
        <p:nvSpPr>
          <p:cNvPr id="20" name="Text 17"/>
          <p:cNvSpPr txBox="1"/>
          <p:nvPr/>
        </p:nvSpPr>
        <p:spPr>
          <a:xfrm>
            <a:off x="8732520" y="2788920"/>
            <a:ext cx="2697480" cy="731520"/>
          </a:xfrm>
          <a:prstGeom prst="rect">
            <a:avLst/>
          </a:prstGeom>
          <a:noFill/>
          <a:ln/>
        </p:spPr>
        <p:txBody>
          <a:bodyPr wrap="square" lIns="0" tIns="0" rIns="0" bIns="0" rtlCol="0" anchor="ctr"/>
          <a:lstStyle/>
          <a:p>
            <a:pPr indent="0" marL="0">
              <a:buNone/>
            </a:pPr>
            <a:r>
              <a:rPr lang="en-US" sz="1400" dirty="0">
                <a:solidFill>
                  <a:srgbClr val="222222"/>
                </a:solidFill>
              </a:rPr>
              <a:t>the program chooses between paths</a:t>
            </a:r>
            <a:endParaRPr lang="en-US" sz="1400" dirty="0"/>
          </a:p>
        </p:txBody>
      </p:sp>
      <p:sp>
        <p:nvSpPr>
          <p:cNvPr id="21" name="Shape 18"/>
          <p:cNvSpPr/>
          <p:nvPr/>
        </p:nvSpPr>
        <p:spPr>
          <a:xfrm>
            <a:off x="640080" y="3739896"/>
            <a:ext cx="5376672" cy="868680"/>
          </a:xfrm>
          <a:prstGeom prst="roundRect">
            <a:avLst>
              <a:gd name="adj" fmla="val 8421"/>
            </a:avLst>
          </a:prstGeom>
          <a:solidFill>
            <a:srgbClr val="F4EEF1"/>
          </a:solidFill>
          <a:ln w="9525">
            <a:solidFill>
              <a:srgbClr val="F4EEF1"/>
            </a:solidFill>
            <a:prstDash val="solid"/>
          </a:ln>
        </p:spPr>
      </p:sp>
      <p:sp>
        <p:nvSpPr>
          <p:cNvPr id="22" name="Text 19"/>
          <p:cNvSpPr txBox="1"/>
          <p:nvPr/>
        </p:nvSpPr>
        <p:spPr>
          <a:xfrm>
            <a:off x="822960" y="3813048"/>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5</a:t>
            </a:r>
            <a:endParaRPr lang="en-US" sz="2200" dirty="0"/>
          </a:p>
        </p:txBody>
      </p:sp>
      <p:sp>
        <p:nvSpPr>
          <p:cNvPr id="23" name="Text 20"/>
          <p:cNvSpPr txBox="1"/>
          <p:nvPr/>
        </p:nvSpPr>
        <p:spPr>
          <a:xfrm>
            <a:off x="1280160" y="3813048"/>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Function</a:t>
            </a:r>
            <a:endParaRPr lang="en-US" sz="1800" dirty="0"/>
          </a:p>
        </p:txBody>
      </p:sp>
      <p:sp>
        <p:nvSpPr>
          <p:cNvPr id="24" name="Text 21"/>
          <p:cNvSpPr txBox="1"/>
          <p:nvPr/>
        </p:nvSpPr>
        <p:spPr>
          <a:xfrm>
            <a:off x="3200400" y="3813048"/>
            <a:ext cx="2697480" cy="731520"/>
          </a:xfrm>
          <a:prstGeom prst="rect">
            <a:avLst/>
          </a:prstGeom>
          <a:noFill/>
          <a:ln/>
        </p:spPr>
        <p:txBody>
          <a:bodyPr wrap="square" lIns="0" tIns="0" rIns="0" bIns="0" rtlCol="0" anchor="ctr"/>
          <a:lstStyle/>
          <a:p>
            <a:pPr indent="0" marL="0">
              <a:buNone/>
            </a:pPr>
            <a:r>
              <a:rPr lang="en-US" sz="1400" dirty="0">
                <a:solidFill>
                  <a:srgbClr val="222222"/>
                </a:solidFill>
              </a:rPr>
              <a:t>a recipe with a name: give it ingredients, it returns an answer</a:t>
            </a:r>
            <a:endParaRPr lang="en-US" sz="1400" dirty="0"/>
          </a:p>
        </p:txBody>
      </p:sp>
      <p:sp>
        <p:nvSpPr>
          <p:cNvPr id="25" name="Shape 22"/>
          <p:cNvSpPr/>
          <p:nvPr/>
        </p:nvSpPr>
        <p:spPr>
          <a:xfrm>
            <a:off x="6172200" y="3739896"/>
            <a:ext cx="5376672" cy="868680"/>
          </a:xfrm>
          <a:prstGeom prst="roundRect">
            <a:avLst>
              <a:gd name="adj" fmla="val 8421"/>
            </a:avLst>
          </a:prstGeom>
          <a:solidFill>
            <a:srgbClr val="F4EEF1"/>
          </a:solidFill>
          <a:ln w="9525">
            <a:solidFill>
              <a:srgbClr val="F4EEF1"/>
            </a:solidFill>
            <a:prstDash val="solid"/>
          </a:ln>
        </p:spPr>
      </p:sp>
      <p:sp>
        <p:nvSpPr>
          <p:cNvPr id="26" name="Text 23"/>
          <p:cNvSpPr txBox="1"/>
          <p:nvPr/>
        </p:nvSpPr>
        <p:spPr>
          <a:xfrm>
            <a:off x="6355080" y="3813048"/>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6</a:t>
            </a:r>
            <a:endParaRPr lang="en-US" sz="2200" dirty="0"/>
          </a:p>
        </p:txBody>
      </p:sp>
      <p:sp>
        <p:nvSpPr>
          <p:cNvPr id="27" name="Text 24"/>
          <p:cNvSpPr txBox="1"/>
          <p:nvPr/>
        </p:nvSpPr>
        <p:spPr>
          <a:xfrm>
            <a:off x="6812280" y="3813048"/>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while loop</a:t>
            </a:r>
            <a:endParaRPr lang="en-US" sz="1800" dirty="0"/>
          </a:p>
        </p:txBody>
      </p:sp>
      <p:sp>
        <p:nvSpPr>
          <p:cNvPr id="28" name="Text 25"/>
          <p:cNvSpPr txBox="1"/>
          <p:nvPr/>
        </p:nvSpPr>
        <p:spPr>
          <a:xfrm>
            <a:off x="8732520" y="3813048"/>
            <a:ext cx="2697480" cy="731520"/>
          </a:xfrm>
          <a:prstGeom prst="rect">
            <a:avLst/>
          </a:prstGeom>
          <a:noFill/>
          <a:ln/>
        </p:spPr>
        <p:txBody>
          <a:bodyPr wrap="square" lIns="0" tIns="0" rIns="0" bIns="0" rtlCol="0" anchor="ctr"/>
          <a:lstStyle/>
          <a:p>
            <a:pPr indent="0" marL="0">
              <a:buNone/>
            </a:pPr>
            <a:r>
              <a:rPr lang="en-US" sz="1400" dirty="0">
                <a:solidFill>
                  <a:srgbClr val="222222"/>
                </a:solidFill>
              </a:rPr>
              <a:t>keep going as long as a condition is true</a:t>
            </a:r>
            <a:endParaRPr lang="en-US" sz="1400" dirty="0"/>
          </a:p>
        </p:txBody>
      </p:sp>
      <p:sp>
        <p:nvSpPr>
          <p:cNvPr id="29" name="Shape 26"/>
          <p:cNvSpPr/>
          <p:nvPr/>
        </p:nvSpPr>
        <p:spPr>
          <a:xfrm>
            <a:off x="640080" y="4764024"/>
            <a:ext cx="5376672" cy="868680"/>
          </a:xfrm>
          <a:prstGeom prst="roundRect">
            <a:avLst>
              <a:gd name="adj" fmla="val 8421"/>
            </a:avLst>
          </a:prstGeom>
          <a:solidFill>
            <a:srgbClr val="F4EEF1"/>
          </a:solidFill>
          <a:ln w="9525">
            <a:solidFill>
              <a:srgbClr val="F4EEF1"/>
            </a:solidFill>
            <a:prstDash val="solid"/>
          </a:ln>
        </p:spPr>
      </p:sp>
      <p:sp>
        <p:nvSpPr>
          <p:cNvPr id="30" name="Text 27"/>
          <p:cNvSpPr txBox="1"/>
          <p:nvPr/>
        </p:nvSpPr>
        <p:spPr>
          <a:xfrm>
            <a:off x="822960" y="4837176"/>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7</a:t>
            </a:r>
            <a:endParaRPr lang="en-US" sz="2200" dirty="0"/>
          </a:p>
        </p:txBody>
      </p:sp>
      <p:sp>
        <p:nvSpPr>
          <p:cNvPr id="31" name="Text 28"/>
          <p:cNvSpPr txBox="1"/>
          <p:nvPr/>
        </p:nvSpPr>
        <p:spPr>
          <a:xfrm>
            <a:off x="1280160" y="4837176"/>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Dictionary</a:t>
            </a:r>
            <a:endParaRPr lang="en-US" sz="1800" dirty="0"/>
          </a:p>
        </p:txBody>
      </p:sp>
      <p:sp>
        <p:nvSpPr>
          <p:cNvPr id="32" name="Text 29"/>
          <p:cNvSpPr txBox="1"/>
          <p:nvPr/>
        </p:nvSpPr>
        <p:spPr>
          <a:xfrm>
            <a:off x="3200400" y="4837176"/>
            <a:ext cx="2697480" cy="731520"/>
          </a:xfrm>
          <a:prstGeom prst="rect">
            <a:avLst/>
          </a:prstGeom>
          <a:noFill/>
          <a:ln/>
        </p:spPr>
        <p:txBody>
          <a:bodyPr wrap="square" lIns="0" tIns="0" rIns="0" bIns="0" rtlCol="0" anchor="ctr"/>
          <a:lstStyle/>
          <a:p>
            <a:pPr indent="0" marL="0">
              <a:buNone/>
            </a:pPr>
            <a:r>
              <a:rPr lang="en-US" sz="1400" dirty="0">
                <a:solidFill>
                  <a:srgbClr val="222222"/>
                </a:solidFill>
              </a:rPr>
              <a:t>look values up by name, inside { }</a:t>
            </a:r>
            <a:endParaRPr lang="en-US" sz="1400" dirty="0"/>
          </a:p>
        </p:txBody>
      </p:sp>
      <p:sp>
        <p:nvSpPr>
          <p:cNvPr id="33" name="Shape 30"/>
          <p:cNvSpPr/>
          <p:nvPr/>
        </p:nvSpPr>
        <p:spPr>
          <a:xfrm>
            <a:off x="6172200" y="4764024"/>
            <a:ext cx="5376672" cy="868680"/>
          </a:xfrm>
          <a:prstGeom prst="roundRect">
            <a:avLst>
              <a:gd name="adj" fmla="val 8421"/>
            </a:avLst>
          </a:prstGeom>
          <a:solidFill>
            <a:srgbClr val="F4EEF1"/>
          </a:solidFill>
          <a:ln w="9525">
            <a:solidFill>
              <a:srgbClr val="F4EEF1"/>
            </a:solidFill>
            <a:prstDash val="solid"/>
          </a:ln>
        </p:spPr>
      </p:sp>
      <p:sp>
        <p:nvSpPr>
          <p:cNvPr id="34" name="Text 31"/>
          <p:cNvSpPr txBox="1"/>
          <p:nvPr/>
        </p:nvSpPr>
        <p:spPr>
          <a:xfrm>
            <a:off x="6355080" y="4837176"/>
            <a:ext cx="457200" cy="731520"/>
          </a:xfrm>
          <a:prstGeom prst="rect">
            <a:avLst/>
          </a:prstGeom>
          <a:noFill/>
          <a:ln/>
        </p:spPr>
        <p:txBody>
          <a:bodyPr wrap="square" lIns="0" tIns="0" rIns="0" bIns="0" rtlCol="0" anchor="ctr"/>
          <a:lstStyle/>
          <a:p>
            <a:pPr indent="0" marL="0">
              <a:buNone/>
            </a:pPr>
            <a:r>
              <a:rPr lang="en-US" sz="2200" dirty="0">
                <a:solidFill>
                  <a:srgbClr val="9D2235"/>
                </a:solidFill>
                <a:latin typeface="Cambria" pitchFamily="34" charset="0"/>
                <a:ea typeface="Cambria" pitchFamily="34" charset="-122"/>
                <a:cs typeface="Cambria" pitchFamily="34" charset="-120"/>
              </a:rPr>
              <a:t>8</a:t>
            </a:r>
            <a:endParaRPr lang="en-US" sz="2200" dirty="0"/>
          </a:p>
        </p:txBody>
      </p:sp>
      <p:sp>
        <p:nvSpPr>
          <p:cNvPr id="35" name="Text 32"/>
          <p:cNvSpPr txBox="1"/>
          <p:nvPr/>
        </p:nvSpPr>
        <p:spPr>
          <a:xfrm>
            <a:off x="6812280" y="4837176"/>
            <a:ext cx="1920240" cy="731520"/>
          </a:xfrm>
          <a:prstGeom prst="rect">
            <a:avLst/>
          </a:prstGeom>
          <a:noFill/>
          <a:ln/>
        </p:spPr>
        <p:txBody>
          <a:bodyPr wrap="square" lIns="0" tIns="0" rIns="0" bIns="0" rtlCol="0" anchor="ctr"/>
          <a:lstStyle/>
          <a:p>
            <a:pPr indent="0" marL="0">
              <a:buNone/>
            </a:pPr>
            <a:r>
              <a:rPr lang="en-US" sz="1800" b="1" dirty="0">
                <a:solidFill>
                  <a:srgbClr val="612141"/>
                </a:solidFill>
                <a:latin typeface="Cambria" pitchFamily="34" charset="0"/>
                <a:ea typeface="Cambria" pitchFamily="34" charset="-122"/>
                <a:cs typeface="Cambria" pitchFamily="34" charset="-120"/>
              </a:rPr>
              <a:t>DataFrame</a:t>
            </a:r>
            <a:endParaRPr lang="en-US" sz="1800" dirty="0"/>
          </a:p>
        </p:txBody>
      </p:sp>
      <p:sp>
        <p:nvSpPr>
          <p:cNvPr id="36" name="Text 33"/>
          <p:cNvSpPr txBox="1"/>
          <p:nvPr/>
        </p:nvSpPr>
        <p:spPr>
          <a:xfrm>
            <a:off x="8732520" y="4837176"/>
            <a:ext cx="2697480" cy="731520"/>
          </a:xfrm>
          <a:prstGeom prst="rect">
            <a:avLst/>
          </a:prstGeom>
          <a:noFill/>
          <a:ln/>
        </p:spPr>
        <p:txBody>
          <a:bodyPr wrap="square" lIns="0" tIns="0" rIns="0" bIns="0" rtlCol="0" anchor="ctr"/>
          <a:lstStyle/>
          <a:p>
            <a:pPr indent="0" marL="0">
              <a:buNone/>
            </a:pPr>
            <a:r>
              <a:rPr lang="en-US" sz="1400" dirty="0">
                <a:solidFill>
                  <a:srgbClr val="222222"/>
                </a:solidFill>
              </a:rPr>
              <a:t>a whole table pandas can sort, filter, group and chart</a:t>
            </a:r>
            <a:endParaRPr lang="en-US" sz="14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1 VARIABLES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variable is a named box: put a value in with =, use the name later</a:t>
            </a:r>
            <a:endParaRPr lang="en-US" sz="2800" dirty="0"/>
          </a:p>
        </p:txBody>
      </p:sp>
      <p:pic>
        <p:nvPicPr>
          <p:cNvPr id="5" name="Image 0" descr="/tmp/claude-0/-home-claude/93efb843-a8d1-5396-a1f0-bcc38514be15/scratchpad/build/img_day3/s1.png">    </p:cNvPr>
          <p:cNvPicPr>
            <a:picLocks noChangeAspect="1"/>
          </p:cNvPicPr>
          <p:nvPr/>
        </p:nvPicPr>
        <p:blipFill>
          <a:blip r:embed="rId1"/>
          <a:stretch>
            <a:fillRect/>
          </a:stretch>
        </p:blipFill>
        <p:spPr>
          <a:xfrm>
            <a:off x="640080" y="1645920"/>
            <a:ext cx="6766560" cy="2560193"/>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Four boxes: candy holds text (quotes), price a decimal, stock a whole number, sold_out a True/False. The f before the quotes lets {candy} and {price} drop their values into the sentence.</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One real sentence about the snack bar, built from four boxes.</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stock = 0 and sold_out = True; then your favourite candy.</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2 LISTS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list holds many values in order; Python counts from 0</a:t>
            </a:r>
            <a:endParaRPr lang="en-US" sz="2800" dirty="0"/>
          </a:p>
        </p:txBody>
      </p:sp>
      <p:pic>
        <p:nvPicPr>
          <p:cNvPr id="5" name="Image 0" descr="/tmp/claude-0/-home-claude/93efb843-a8d1-5396-a1f0-bcc38514be15/scratchpad/build/img_day3/s2.png">    </p:cNvPr>
          <p:cNvPicPr>
            <a:picLocks noChangeAspect="1"/>
          </p:cNvPicPr>
          <p:nvPr/>
        </p:nvPicPr>
        <p:blipFill>
          <a:blip r:embed="rId1"/>
          <a:stretch>
            <a:fillRect/>
          </a:stretch>
        </p:blipFill>
        <p:spPr>
          <a:xfrm>
            <a:off x="640080" y="1645920"/>
            <a:ext cx="6766560" cy="2226283"/>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Square brackets make a list. candies[0] is the first item because Python starts at 0. len counts the items; append adds one to the end.</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The list printed twice: five candies, then six after append.</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candies[0] → candies[-1] (the last one); append your favourite instead.</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3 FOR LOOPS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for loop does the same thing to every item in the list</a:t>
            </a:r>
            <a:endParaRPr lang="en-US" sz="2800" dirty="0"/>
          </a:p>
        </p:txBody>
      </p:sp>
      <p:pic>
        <p:nvPicPr>
          <p:cNvPr id="5" name="Image 0" descr="/tmp/claude-0/-home-claude/93efb843-a8d1-5396-a1f0-bcc38514be15/scratchpad/build/img_day3/s3.png">    </p:cNvPr>
          <p:cNvPicPr>
            <a:picLocks noChangeAspect="1"/>
          </p:cNvPicPr>
          <p:nvPr/>
        </p:nvPicPr>
        <p:blipFill>
          <a:blip r:embed="rId1"/>
          <a:stretch>
            <a:fillRect/>
          </a:stretch>
        </p:blipFill>
        <p:spPr>
          <a:xfrm>
            <a:off x="640080" y="1645920"/>
            <a:ext cx="6766560" cy="3627795"/>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for candy in candies: runs the indented line once per item, with candy holding the next one each time. The un-indented print runs once, after the loop.</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One line per candy, then the count.</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Add a candy to the list in cell 2 and run both: one more line with no new code. Then 🎃 → 👻.</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4 IF / ELIF / ELSE</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if, elif and else let the program choose; exactly one path runs</a:t>
            </a:r>
            <a:endParaRPr lang="en-US" sz="2800" dirty="0"/>
          </a:p>
        </p:txBody>
      </p:sp>
      <p:pic>
        <p:nvPicPr>
          <p:cNvPr id="5" name="Image 0" descr="/tmp/claude-0/-home-claude/93efb843-a8d1-5396-a1f0-bcc38514be15/scratchpad/build/img_day3/s4.png">    </p:cNvPr>
          <p:cNvPicPr>
            <a:picLocks noChangeAspect="1"/>
          </p:cNvPicPr>
          <p:nvPr/>
        </p:nvPicPr>
        <p:blipFill>
          <a:blip r:embed="rId1"/>
          <a:stretch>
            <a:fillRect/>
          </a:stretch>
        </p:blipFill>
        <p:spPr>
          <a:xfrm>
            <a:off x="640080" y="1645920"/>
            <a:ext cx="6766560" cy="3052436"/>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Python checks the questions from the top and runs the first one that is true. == asks 'is it equal?'; a single = puts a value in a box. 9 is not 0, but it is under 10, so the middle path runs.</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One message, chosen by the number.</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stock = 0, then stock = 40, then change the 10 to 20.</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5 FUNCTIONS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function wraps the check so you can run it on any candy in one line</a:t>
            </a:r>
            <a:endParaRPr lang="en-US" sz="2800" dirty="0"/>
          </a:p>
        </p:txBody>
      </p:sp>
      <p:pic>
        <p:nvPicPr>
          <p:cNvPr id="5" name="Image 0" descr="/tmp/claude-0/-home-claude/93efb843-a8d1-5396-a1f0-bcc38514be15/scratchpad/build/img_day3/s5.png">    </p:cNvPr>
          <p:cNvPicPr>
            <a:picLocks noChangeAspect="1"/>
          </p:cNvPicPr>
          <p:nvPr/>
        </p:nvPicPr>
        <p:blipFill>
          <a:blip r:embed="rId1"/>
          <a:stretch>
            <a:fillRect/>
          </a:stretch>
        </p:blipFill>
        <p:spPr>
          <a:xfrm>
            <a:off x="640080" y="1645920"/>
            <a:ext cx="6047137" cy="4251960"/>
          </a:xfrm>
          <a:prstGeom prst="rect">
            <a:avLst/>
          </a:prstGeom>
        </p:spPr>
      </p:pic>
      <p:sp>
        <p:nvSpPr>
          <p:cNvPr id="6" name="Text 2"/>
          <p:cNvSpPr txBox="1"/>
          <p:nvPr/>
        </p:nvSpPr>
        <p:spPr>
          <a:xfrm>
            <a:off x="7052977" y="1645920"/>
            <a:ext cx="4495895" cy="2103120"/>
          </a:xfrm>
          <a:prstGeom prst="rect">
            <a:avLst/>
          </a:prstGeom>
          <a:noFill/>
          <a:ln/>
        </p:spPr>
        <p:txBody>
          <a:bodyPr wrap="square" lIns="0" tIns="0" rIns="0" bIns="0" rtlCol="0" anchor="t"/>
          <a:lstStyle/>
          <a:p>
            <a:pPr indent="0" marL="0">
              <a:buNone/>
            </a:pPr>
            <a:r>
              <a:rPr lang="en-US" sz="1400" dirty="0">
                <a:solidFill>
                  <a:srgbClr val="222222"/>
                </a:solidFill>
              </a:rPr>
              <a:t>def makes a recipe called shelf_check that needs two ingredients. Inside is cell 4's if / elif / else, using whatever stock was handed in. return sends the answer back. Three calls, three answers, one recipe.</a:t>
            </a:r>
            <a:endParaRPr lang="en-US" sz="1400" dirty="0"/>
          </a:p>
        </p:txBody>
      </p:sp>
      <p:sp>
        <p:nvSpPr>
          <p:cNvPr id="7" name="Text 3"/>
          <p:cNvSpPr txBox="1"/>
          <p:nvPr/>
        </p:nvSpPr>
        <p:spPr>
          <a:xfrm>
            <a:off x="7052977" y="3794760"/>
            <a:ext cx="4495895"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052977" y="4069080"/>
            <a:ext cx="4495895" cy="1005840"/>
          </a:xfrm>
          <a:prstGeom prst="rect">
            <a:avLst/>
          </a:prstGeom>
          <a:noFill/>
          <a:ln/>
        </p:spPr>
        <p:txBody>
          <a:bodyPr wrap="square" lIns="0" tIns="0" rIns="0" bIns="0" rtlCol="0" anchor="t"/>
          <a:lstStyle/>
          <a:p>
            <a:pPr indent="0" marL="0">
              <a:buNone/>
            </a:pPr>
            <a:r>
              <a:rPr lang="en-US" sz="1400" dirty="0">
                <a:solidFill>
                  <a:srgbClr val="222222"/>
                </a:solidFill>
              </a:rPr>
              <a:t>Three candies checked with one function.</a:t>
            </a:r>
            <a:endParaRPr lang="en-US" sz="1400" dirty="0"/>
          </a:p>
        </p:txBody>
      </p:sp>
      <p:sp>
        <p:nvSpPr>
          <p:cNvPr id="9" name="Shape 5"/>
          <p:cNvSpPr/>
          <p:nvPr/>
        </p:nvSpPr>
        <p:spPr>
          <a:xfrm>
            <a:off x="7052977" y="5166360"/>
            <a:ext cx="4495895" cy="731520"/>
          </a:xfrm>
          <a:prstGeom prst="rect">
            <a:avLst/>
          </a:prstGeom>
          <a:solidFill>
            <a:srgbClr val="F4EEF1"/>
          </a:solidFill>
          <a:ln w="9525">
            <a:solidFill>
              <a:srgbClr val="F4EEF1"/>
            </a:solidFill>
            <a:prstDash val="solid"/>
          </a:ln>
        </p:spPr>
      </p:sp>
      <p:sp>
        <p:nvSpPr>
          <p:cNvPr id="10" name="Text 6"/>
          <p:cNvSpPr txBox="1"/>
          <p:nvPr/>
        </p:nvSpPr>
        <p:spPr>
          <a:xfrm>
            <a:off x="7281577" y="5257800"/>
            <a:ext cx="4038695"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Add a fourth print with your own candy; then change &lt; 10 to &lt; 50.</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6 WHILE LOOPS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while loop keeps going as long as the condition is true</a:t>
            </a:r>
            <a:endParaRPr lang="en-US" sz="2800" dirty="0"/>
          </a:p>
        </p:txBody>
      </p:sp>
      <p:pic>
        <p:nvPicPr>
          <p:cNvPr id="5" name="Image 0" descr="/tmp/claude-0/-home-claude/93efb843-a8d1-5396-a1f0-bcc38514be15/scratchpad/build/img_day3/s6.png">    </p:cNvPr>
          <p:cNvPicPr>
            <a:picLocks noChangeAspect="1"/>
          </p:cNvPicPr>
          <p:nvPr/>
        </p:nvPicPr>
        <p:blipFill>
          <a:blip r:embed="rId1"/>
          <a:stretch>
            <a:fillRect/>
          </a:stretch>
        </p:blipFill>
        <p:spPr>
          <a:xfrm>
            <a:off x="640080" y="1645920"/>
            <a:ext cx="6766560" cy="3965919"/>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A for loop runs once per item. A while loop runs while stock &gt; 0 is true, so something inside has to change: stock = stock - 1 takes one off the shelf each time round. When it hits 0 the loop stops and the last line runs.</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Five sales, then sold out.</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stock = 10 and sell two at a time (stock - 2); then stock = 3.</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7 DICTIONARIES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dictionary looks a value up by its name: a price list</a:t>
            </a:r>
            <a:endParaRPr lang="en-US" sz="2800" dirty="0"/>
          </a:p>
        </p:txBody>
      </p:sp>
      <p:pic>
        <p:nvPicPr>
          <p:cNvPr id="5" name="Image 0" descr="/tmp/claude-0/-home-claude/93efb843-a8d1-5396-a1f0-bcc38514be15/scratchpad/build/img_day3/s7.png">    </p:cNvPr>
          <p:cNvPicPr>
            <a:picLocks noChangeAspect="1"/>
          </p:cNvPicPr>
          <p:nvPr/>
        </p:nvPicPr>
        <p:blipFill>
          <a:blip r:embed="rId1"/>
          <a:stretch>
            <a:fillRect/>
          </a:stretch>
        </p:blipFill>
        <p:spPr>
          <a:xfrm>
            <a:off x="640080" y="1645920"/>
            <a:ext cx="6766560" cy="2440227"/>
          </a:xfrm>
          <a:prstGeom prst="rect">
            <a:avLst/>
          </a:prstGeom>
        </p:spPr>
      </p:pic>
      <p:sp>
        <p:nvSpPr>
          <p:cNvPr id="6" name="Text 2"/>
          <p:cNvSpPr txBox="1"/>
          <p:nvPr/>
        </p:nvSpPr>
        <p:spPr>
          <a:xfrm>
            <a:off x="7772400" y="1645920"/>
            <a:ext cx="3776472" cy="2103120"/>
          </a:xfrm>
          <a:prstGeom prst="rect">
            <a:avLst/>
          </a:prstGeom>
          <a:noFill/>
          <a:ln/>
        </p:spPr>
        <p:txBody>
          <a:bodyPr wrap="square" lIns="0" tIns="0" rIns="0" bIns="0" rtlCol="0" anchor="t"/>
          <a:lstStyle/>
          <a:p>
            <a:pPr indent="0" marL="0">
              <a:buNone/>
            </a:pPr>
            <a:r>
              <a:rPr lang="en-US" sz="1400" dirty="0">
                <a:solidFill>
                  <a:srgbClr val="222222"/>
                </a:solidFill>
              </a:rPr>
              <a:t>Curly brackets; name, colon, value. prices["Skittles"] looks up by name. A new name-and-price pair is added with one line. Then cell 3's loop and cell 6's add-up work together: for every item in the order, look up its price and add it on.</a:t>
            </a:r>
            <a:endParaRPr lang="en-US" sz="1400" dirty="0"/>
          </a:p>
        </p:txBody>
      </p:sp>
      <p:sp>
        <p:nvSpPr>
          <p:cNvPr id="7" name="Text 3"/>
          <p:cNvSpPr txBox="1"/>
          <p:nvPr/>
        </p:nvSpPr>
        <p:spPr>
          <a:xfrm>
            <a:off x="7772400" y="3794760"/>
            <a:ext cx="377647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8" name="Text 4"/>
          <p:cNvSpPr txBox="1"/>
          <p:nvPr/>
        </p:nvSpPr>
        <p:spPr>
          <a:xfrm>
            <a:off x="7772400" y="4069080"/>
            <a:ext cx="3776472" cy="1005840"/>
          </a:xfrm>
          <a:prstGeom prst="rect">
            <a:avLst/>
          </a:prstGeom>
          <a:noFill/>
          <a:ln/>
        </p:spPr>
        <p:txBody>
          <a:bodyPr wrap="square" lIns="0" tIns="0" rIns="0" bIns="0" rtlCol="0" anchor="t"/>
          <a:lstStyle/>
          <a:p>
            <a:pPr indent="0" marL="0">
              <a:buNone/>
            </a:pPr>
            <a:r>
              <a:rPr lang="en-US" sz="1400" dirty="0">
                <a:solidFill>
                  <a:srgbClr val="222222"/>
                </a:solidFill>
              </a:rPr>
              <a:t>A price lookup, then an order total with two decimals.</a:t>
            </a:r>
            <a:endParaRPr lang="en-US" sz="1400" dirty="0"/>
          </a:p>
        </p:txBody>
      </p:sp>
      <p:sp>
        <p:nvSpPr>
          <p:cNvPr id="9" name="Shape 5"/>
          <p:cNvSpPr/>
          <p:nvPr/>
        </p:nvSpPr>
        <p:spPr>
          <a:xfrm>
            <a:off x="7772400" y="5166360"/>
            <a:ext cx="3776472" cy="731520"/>
          </a:xfrm>
          <a:prstGeom prst="rect">
            <a:avLst/>
          </a:prstGeom>
          <a:solidFill>
            <a:srgbClr val="F4EEF1"/>
          </a:solidFill>
          <a:ln w="9525">
            <a:solidFill>
              <a:srgbClr val="F4EEF1"/>
            </a:solidFill>
            <a:prstDash val="solid"/>
          </a:ln>
        </p:spPr>
      </p:sp>
      <p:sp>
        <p:nvSpPr>
          <p:cNvPr id="10" name="Text 6"/>
          <p:cNvSpPr txBox="1"/>
          <p:nvPr/>
        </p:nvSpPr>
        <p:spPr>
          <a:xfrm>
            <a:off x="8001000" y="5257800"/>
            <a:ext cx="3319272" cy="54864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Add "Candy Corn" to the order; raise the price of Reese's Cups.</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PYTHON BASICS · 8 DATAFRAMES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pandas reads the whole file into one variable: a table with named columns</a:t>
            </a:r>
            <a:endParaRPr lang="en-US" sz="2800" dirty="0"/>
          </a:p>
        </p:txBody>
      </p:sp>
      <p:pic>
        <p:nvPicPr>
          <p:cNvPr id="5" name="Image 0" descr="/tmp/claude-0/-home-claude/93efb843-a8d1-5396-a1f0-bcc38514be15/scratchpad/build/img_day3/s8.png">    </p:cNvPr>
          <p:cNvPicPr>
            <a:picLocks noChangeAspect="1"/>
          </p:cNvPicPr>
          <p:nvPr/>
        </p:nvPicPr>
        <p:blipFill>
          <a:blip r:embed="rId1"/>
          <a:stretch>
            <a:fillRect/>
          </a:stretch>
        </p:blipFill>
        <p:spPr>
          <a:xfrm>
            <a:off x="640080" y="1645920"/>
            <a:ext cx="5843197" cy="3108960"/>
          </a:xfrm>
          <a:prstGeom prst="rect">
            <a:avLst/>
          </a:prstGeom>
        </p:spPr>
      </p:pic>
      <p:pic>
        <p:nvPicPr>
          <p:cNvPr id="6" name="Image 1" descr="/tmp/claude-0/-home-claude/93efb843-a8d1-5396-a1f0-bcc38514be15/scratchpad/build/img_day3/s8_chart.png">    </p:cNvPr>
          <p:cNvPicPr>
            <a:picLocks noChangeAspect="1"/>
          </p:cNvPicPr>
          <p:nvPr/>
        </p:nvPicPr>
        <p:blipFill>
          <a:blip r:embed="rId2"/>
          <a:stretch>
            <a:fillRect/>
          </a:stretch>
        </p:blipFill>
        <p:spPr>
          <a:xfrm>
            <a:off x="6766560" y="1645920"/>
            <a:ext cx="2823019" cy="3108960"/>
          </a:xfrm>
          <a:prstGeom prst="rect">
            <a:avLst/>
          </a:prstGeom>
        </p:spPr>
      </p:pic>
      <p:sp>
        <p:nvSpPr>
          <p:cNvPr id="7" name="Text 2"/>
          <p:cNvSpPr txBox="1"/>
          <p:nvPr/>
        </p:nvSpPr>
        <p:spPr>
          <a:xfrm>
            <a:off x="640080" y="4892040"/>
            <a:ext cx="5852160" cy="1188720"/>
          </a:xfrm>
          <a:prstGeom prst="rect">
            <a:avLst/>
          </a:prstGeom>
          <a:noFill/>
          <a:ln/>
        </p:spPr>
        <p:txBody>
          <a:bodyPr wrap="square" lIns="0" tIns="0" rIns="0" bIns="0" rtlCol="0" anchor="t"/>
          <a:lstStyle/>
          <a:p>
            <a:pPr indent="0" marL="0">
              <a:buNone/>
            </a:pPr>
            <a:r>
              <a:rPr lang="en-US" sz="1300" dirty="0">
                <a:solidFill>
                  <a:srgbClr val="222222"/>
                </a:solidFill>
              </a:rPr>
              <a:t>read_csv turns the uploaded file into a DataFrame. A column times a column makes a new column for every row at once, no loop. .sum() adds a column up. One line draws the chart; a variable on its own as the last line shows the table.</a:t>
            </a:r>
            <a:endParaRPr lang="en-US" sz="1300" dirty="0"/>
          </a:p>
        </p:txBody>
      </p:sp>
      <p:sp>
        <p:nvSpPr>
          <p:cNvPr id="8" name="Text 3"/>
          <p:cNvSpPr txBox="1"/>
          <p:nvPr/>
        </p:nvSpPr>
        <p:spPr>
          <a:xfrm>
            <a:off x="6766560" y="4846320"/>
            <a:ext cx="478231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YOU SEE</a:t>
            </a:r>
            <a:endParaRPr lang="en-US" sz="1200" dirty="0"/>
          </a:p>
        </p:txBody>
      </p:sp>
      <p:sp>
        <p:nvSpPr>
          <p:cNvPr id="9" name="Text 4"/>
          <p:cNvSpPr txBox="1"/>
          <p:nvPr/>
        </p:nvSpPr>
        <p:spPr>
          <a:xfrm>
            <a:off x="6766560" y="5120640"/>
            <a:ext cx="4782312" cy="777240"/>
          </a:xfrm>
          <a:prstGeom prst="rect">
            <a:avLst/>
          </a:prstGeom>
          <a:noFill/>
          <a:ln/>
        </p:spPr>
        <p:txBody>
          <a:bodyPr wrap="square" lIns="0" tIns="0" rIns="0" bIns="0" rtlCol="0" anchor="t"/>
          <a:lstStyle/>
          <a:p>
            <a:pPr indent="0" marL="0">
              <a:buNone/>
            </a:pPr>
            <a:r>
              <a:rPr lang="en-US" sz="1300" dirty="0">
                <a:solidFill>
                  <a:srgbClr val="222222"/>
                </a:solidFill>
              </a:rPr>
              <a:t>The 10 most popular Halloween candies (a real 2026 ranking), the shelf's value, and your first chart.</a:t>
            </a:r>
            <a:endParaRPr lang="en-US" sz="1300" dirty="0"/>
          </a:p>
        </p:txBody>
      </p:sp>
      <p:sp>
        <p:nvSpPr>
          <p:cNvPr id="10" name="Shape 5"/>
          <p:cNvSpPr/>
          <p:nvPr/>
        </p:nvSpPr>
        <p:spPr>
          <a:xfrm>
            <a:off x="640080" y="5486400"/>
            <a:ext cx="5852160" cy="457200"/>
          </a:xfrm>
          <a:prstGeom prst="rect">
            <a:avLst/>
          </a:prstGeom>
          <a:solidFill>
            <a:srgbClr val="F4EEF1"/>
          </a:solidFill>
          <a:ln w="9525">
            <a:solidFill>
              <a:srgbClr val="F4EEF1"/>
            </a:solidFill>
            <a:prstDash val="solid"/>
          </a:ln>
        </p:spPr>
      </p:sp>
      <p:sp>
        <p:nvSpPr>
          <p:cNvPr id="11" name="Text 6"/>
          <p:cNvSpPr txBox="1"/>
          <p:nvPr/>
        </p:nvSpPr>
        <p:spPr>
          <a:xfrm>
            <a:off x="868680" y="5577840"/>
            <a:ext cx="5394960" cy="274320"/>
          </a:xfrm>
          <a:prstGeom prst="rect">
            <a:avLst/>
          </a:prstGeom>
          <a:noFill/>
          <a:ln/>
        </p:spPr>
        <p:txBody>
          <a:bodyPr wrap="square" lIns="0" tIns="0" rIns="0" bIns="0" rtlCol="0" anchor="ctr"/>
          <a:lstStyle/>
          <a:p>
            <a:pPr indent="0" marL="0">
              <a:buNone/>
            </a:pPr>
            <a:r>
              <a:rPr lang="en-US" sz="1200" b="1" dirty="0">
                <a:solidFill>
                  <a:srgbClr val="612141"/>
                </a:solidFill>
              </a:rPr>
              <a:t>Change one thing:  </a:t>
            </a:r>
            <a:pPr indent="0" marL="0">
              <a:buNone/>
            </a:pPr>
            <a:r>
              <a:rPr lang="en-US" sz="1200" dirty="0">
                <a:solidFill>
                  <a:srgbClr val="222222"/>
                </a:solidFill>
              </a:rPr>
              <a:t>y="stock" → y="value"; .sum() → .max().</a:t>
            </a:r>
            <a:endParaRPr lang="en-US" sz="12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lIns="0" tIns="0" rIns="0" bIns="0" rtlCol="0" anchor="b"/>
          <a:lstStyle/>
          <a:p>
            <a:pPr indent="0" marL="0">
              <a:buNone/>
            </a:pPr>
            <a:r>
              <a:rPr lang="en-US" sz="7200" dirty="0">
                <a:solidFill>
                  <a:srgbClr val="D9A7B7"/>
                </a:solidFill>
                <a:latin typeface="Cambria" pitchFamily="34" charset="0"/>
                <a:ea typeface="Cambria" pitchFamily="34" charset="-122"/>
                <a:cs typeface="Cambria" pitchFamily="34" charset="-120"/>
              </a:rPr>
              <a:t>02</a:t>
            </a: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lIns="0" tIns="0" rIns="0" bIns="0" rtlCol="0" anchor="t"/>
          <a:lstStyle/>
          <a:p>
            <a:pPr algn="l" indent="0" marL="0">
              <a:buNone/>
            </a:pPr>
            <a:r>
              <a:rPr lang="en-US" sz="4000" dirty="0">
                <a:solidFill>
                  <a:schemeClr val="bg1"/>
                </a:solidFill>
                <a:latin typeface="Cambria" pitchFamily="34" charset="0"/>
                <a:ea typeface="Cambria" pitchFamily="34" charset="-122"/>
                <a:cs typeface="Cambria" pitchFamily="34" charset="-120"/>
              </a:rPr>
              <a:t>The notebook: what you just used, and why charts</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THE TOOLS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Five tools, one job each, and where you already used them</a:t>
            </a:r>
            <a:endParaRPr lang="en-US" sz="2800" dirty="0"/>
          </a:p>
        </p:txBody>
      </p:sp>
      <p:sp>
        <p:nvSpPr>
          <p:cNvPr id="5" name="Shape 2"/>
          <p:cNvSpPr/>
          <p:nvPr/>
        </p:nvSpPr>
        <p:spPr>
          <a:xfrm>
            <a:off x="640080" y="1691640"/>
            <a:ext cx="658368" cy="658368"/>
          </a:xfrm>
          <a:prstGeom prst="ellipse">
            <a:avLst/>
          </a:prstGeom>
          <a:solidFill>
            <a:srgbClr val="612141"/>
          </a:solidFill>
          <a:ln w="12700">
            <a:solidFill>
              <a:srgbClr val="612141"/>
            </a:solidFill>
            <a:prstDash val="solid"/>
          </a:ln>
        </p:spPr>
      </p:sp>
      <p:pic>
        <p:nvPicPr>
          <p:cNvPr id="6" name="Image 0" descr="preencoded.png">    </p:cNvPr>
          <p:cNvPicPr>
            <a:picLocks noChangeAspect="1"/>
          </p:cNvPicPr>
          <p:nvPr/>
        </p:nvPicPr>
        <p:blipFill>
          <a:blip r:embed="rId1"/>
          <a:stretch>
            <a:fillRect/>
          </a:stretch>
        </p:blipFill>
        <p:spPr>
          <a:xfrm>
            <a:off x="817839" y="1869399"/>
            <a:ext cx="302849" cy="302849"/>
          </a:xfrm>
          <a:prstGeom prst="rect">
            <a:avLst/>
          </a:prstGeom>
        </p:spPr>
      </p:pic>
      <p:sp>
        <p:nvSpPr>
          <p:cNvPr id="7" name="Text 3"/>
          <p:cNvSpPr txBox="1"/>
          <p:nvPr/>
        </p:nvSpPr>
        <p:spPr>
          <a:xfrm>
            <a:off x="1508760" y="1737360"/>
            <a:ext cx="2743200" cy="548640"/>
          </a:xfrm>
          <a:prstGeom prst="rect">
            <a:avLst/>
          </a:prstGeom>
          <a:noFill/>
          <a:ln/>
        </p:spPr>
        <p:txBody>
          <a:bodyPr wrap="square" lIns="0" tIns="0" rIns="0" bIns="0" rtlCol="0" anchor="ctr"/>
          <a:lstStyle/>
          <a:p>
            <a:pPr indent="0" marL="0">
              <a:buNone/>
            </a:pPr>
            <a:r>
              <a:rPr lang="en-US" sz="2200" b="1" dirty="0">
                <a:solidFill>
                  <a:srgbClr val="222222"/>
                </a:solidFill>
                <a:latin typeface="Cambria" pitchFamily="34" charset="0"/>
                <a:ea typeface="Cambria" pitchFamily="34" charset="-122"/>
                <a:cs typeface="Cambria" pitchFamily="34" charset="-120"/>
              </a:rPr>
              <a:t>Python</a:t>
            </a:r>
            <a:endParaRPr lang="en-US" sz="2200" dirty="0"/>
          </a:p>
        </p:txBody>
      </p:sp>
      <p:sp>
        <p:nvSpPr>
          <p:cNvPr id="8" name="Text 4"/>
          <p:cNvSpPr txBox="1"/>
          <p:nvPr/>
        </p:nvSpPr>
        <p:spPr>
          <a:xfrm>
            <a:off x="4297680" y="1737360"/>
            <a:ext cx="7223760" cy="548640"/>
          </a:xfrm>
          <a:prstGeom prst="rect">
            <a:avLst/>
          </a:prstGeom>
          <a:noFill/>
          <a:ln/>
        </p:spPr>
        <p:txBody>
          <a:bodyPr wrap="square" lIns="0" tIns="0" rIns="0" bIns="0" rtlCol="0" anchor="ctr"/>
          <a:lstStyle/>
          <a:p>
            <a:pPr indent="0" marL="0">
              <a:buNone/>
            </a:pPr>
            <a:r>
              <a:rPr lang="en-US" sz="1700" dirty="0">
                <a:solidFill>
                  <a:srgbClr val="4A4A4A"/>
                </a:solidFill>
              </a:rPr>
              <a:t>the language: the instructions you typed in cells 1 to 7</a:t>
            </a:r>
            <a:endParaRPr lang="en-US" sz="1700" dirty="0"/>
          </a:p>
        </p:txBody>
      </p:sp>
      <p:sp>
        <p:nvSpPr>
          <p:cNvPr id="9" name="Shape 5"/>
          <p:cNvSpPr/>
          <p:nvPr/>
        </p:nvSpPr>
        <p:spPr>
          <a:xfrm>
            <a:off x="640080" y="2560320"/>
            <a:ext cx="658368" cy="658368"/>
          </a:xfrm>
          <a:prstGeom prst="ellipse">
            <a:avLst/>
          </a:prstGeom>
          <a:solidFill>
            <a:srgbClr val="612141"/>
          </a:solidFill>
          <a:ln w="12700">
            <a:solidFill>
              <a:srgbClr val="612141"/>
            </a:solidFill>
            <a:prstDash val="solid"/>
          </a:ln>
        </p:spPr>
      </p:sp>
      <p:pic>
        <p:nvPicPr>
          <p:cNvPr id="10" name="Image 1" descr="preencoded.png">    </p:cNvPr>
          <p:cNvPicPr>
            <a:picLocks noChangeAspect="1"/>
          </p:cNvPicPr>
          <p:nvPr/>
        </p:nvPicPr>
        <p:blipFill>
          <a:blip r:embed="rId2"/>
          <a:stretch>
            <a:fillRect/>
          </a:stretch>
        </p:blipFill>
        <p:spPr>
          <a:xfrm>
            <a:off x="817839" y="2738079"/>
            <a:ext cx="302849" cy="302849"/>
          </a:xfrm>
          <a:prstGeom prst="rect">
            <a:avLst/>
          </a:prstGeom>
        </p:spPr>
      </p:pic>
      <p:sp>
        <p:nvSpPr>
          <p:cNvPr id="11" name="Text 6"/>
          <p:cNvSpPr txBox="1"/>
          <p:nvPr/>
        </p:nvSpPr>
        <p:spPr>
          <a:xfrm>
            <a:off x="1508760" y="2606040"/>
            <a:ext cx="2743200" cy="548640"/>
          </a:xfrm>
          <a:prstGeom prst="rect">
            <a:avLst/>
          </a:prstGeom>
          <a:noFill/>
          <a:ln/>
        </p:spPr>
        <p:txBody>
          <a:bodyPr wrap="square" lIns="0" tIns="0" rIns="0" bIns="0" rtlCol="0" anchor="ctr"/>
          <a:lstStyle/>
          <a:p>
            <a:pPr indent="0" marL="0">
              <a:buNone/>
            </a:pPr>
            <a:r>
              <a:rPr lang="en-US" sz="2200" b="1" dirty="0">
                <a:solidFill>
                  <a:srgbClr val="222222"/>
                </a:solidFill>
                <a:latin typeface="Cambria" pitchFamily="34" charset="0"/>
                <a:ea typeface="Cambria" pitchFamily="34" charset="-122"/>
                <a:cs typeface="Cambria" pitchFamily="34" charset="-120"/>
              </a:rPr>
              <a:t>Google Colab</a:t>
            </a:r>
            <a:endParaRPr lang="en-US" sz="2200" dirty="0"/>
          </a:p>
        </p:txBody>
      </p:sp>
      <p:sp>
        <p:nvSpPr>
          <p:cNvPr id="12" name="Text 7"/>
          <p:cNvSpPr txBox="1"/>
          <p:nvPr/>
        </p:nvSpPr>
        <p:spPr>
          <a:xfrm>
            <a:off x="4297680" y="2606040"/>
            <a:ext cx="7223760" cy="548640"/>
          </a:xfrm>
          <a:prstGeom prst="rect">
            <a:avLst/>
          </a:prstGeom>
          <a:noFill/>
          <a:ln/>
        </p:spPr>
        <p:txBody>
          <a:bodyPr wrap="square" lIns="0" tIns="0" rIns="0" bIns="0" rtlCol="0" anchor="ctr"/>
          <a:lstStyle/>
          <a:p>
            <a:pPr indent="0" marL="0">
              <a:buNone/>
            </a:pPr>
            <a:r>
              <a:rPr lang="en-US" sz="1700" dirty="0">
                <a:solidFill>
                  <a:srgbClr val="4A4A4A"/>
                </a:solidFill>
              </a:rPr>
              <a:t>runs Python in your browser; the Files panel is where the CSV went</a:t>
            </a:r>
            <a:endParaRPr lang="en-US" sz="1700" dirty="0"/>
          </a:p>
        </p:txBody>
      </p:sp>
      <p:sp>
        <p:nvSpPr>
          <p:cNvPr id="13" name="Shape 8"/>
          <p:cNvSpPr/>
          <p:nvPr/>
        </p:nvSpPr>
        <p:spPr>
          <a:xfrm>
            <a:off x="640080" y="3429000"/>
            <a:ext cx="658368" cy="658368"/>
          </a:xfrm>
          <a:prstGeom prst="ellipse">
            <a:avLst/>
          </a:prstGeom>
          <a:solidFill>
            <a:srgbClr val="612141"/>
          </a:solidFill>
          <a:ln w="12700">
            <a:solidFill>
              <a:srgbClr val="612141"/>
            </a:solidFill>
            <a:prstDash val="solid"/>
          </a:ln>
        </p:spPr>
      </p:sp>
      <p:pic>
        <p:nvPicPr>
          <p:cNvPr id="14" name="Image 2" descr="preencoded.png">    </p:cNvPr>
          <p:cNvPicPr>
            <a:picLocks noChangeAspect="1"/>
          </p:cNvPicPr>
          <p:nvPr/>
        </p:nvPicPr>
        <p:blipFill>
          <a:blip r:embed="rId3"/>
          <a:stretch>
            <a:fillRect/>
          </a:stretch>
        </p:blipFill>
        <p:spPr>
          <a:xfrm>
            <a:off x="817839" y="3606759"/>
            <a:ext cx="302849" cy="302849"/>
          </a:xfrm>
          <a:prstGeom prst="rect">
            <a:avLst/>
          </a:prstGeom>
        </p:spPr>
      </p:pic>
      <p:sp>
        <p:nvSpPr>
          <p:cNvPr id="15" name="Text 9"/>
          <p:cNvSpPr txBox="1"/>
          <p:nvPr/>
        </p:nvSpPr>
        <p:spPr>
          <a:xfrm>
            <a:off x="1508760" y="3474720"/>
            <a:ext cx="2743200" cy="548640"/>
          </a:xfrm>
          <a:prstGeom prst="rect">
            <a:avLst/>
          </a:prstGeom>
          <a:noFill/>
          <a:ln/>
        </p:spPr>
        <p:txBody>
          <a:bodyPr wrap="square" lIns="0" tIns="0" rIns="0" bIns="0" rtlCol="0" anchor="ctr"/>
          <a:lstStyle/>
          <a:p>
            <a:pPr indent="0" marL="0">
              <a:buNone/>
            </a:pPr>
            <a:r>
              <a:rPr lang="en-US" sz="2200" b="1" dirty="0">
                <a:solidFill>
                  <a:srgbClr val="222222"/>
                </a:solidFill>
                <a:latin typeface="Cambria" pitchFamily="34" charset="0"/>
                <a:ea typeface="Cambria" pitchFamily="34" charset="-122"/>
                <a:cs typeface="Cambria" pitchFamily="34" charset="-120"/>
              </a:rPr>
              <a:t>pandas</a:t>
            </a:r>
            <a:endParaRPr lang="en-US" sz="2200" dirty="0"/>
          </a:p>
        </p:txBody>
      </p:sp>
      <p:sp>
        <p:nvSpPr>
          <p:cNvPr id="16" name="Text 10"/>
          <p:cNvSpPr txBox="1"/>
          <p:nvPr/>
        </p:nvSpPr>
        <p:spPr>
          <a:xfrm>
            <a:off x="4297680" y="3474720"/>
            <a:ext cx="7223760" cy="548640"/>
          </a:xfrm>
          <a:prstGeom prst="rect">
            <a:avLst/>
          </a:prstGeom>
          <a:noFill/>
          <a:ln/>
        </p:spPr>
        <p:txBody>
          <a:bodyPr wrap="square" lIns="0" tIns="0" rIns="0" bIns="0" rtlCol="0" anchor="ctr"/>
          <a:lstStyle/>
          <a:p>
            <a:pPr indent="0" marL="0">
              <a:buNone/>
            </a:pPr>
            <a:r>
              <a:rPr lang="en-US" sz="1700" dirty="0">
                <a:solidFill>
                  <a:srgbClr val="4A4A4A"/>
                </a:solidFill>
              </a:rPr>
              <a:t>tables you control with code: read_csv, a new column, .sum() in cell 8</a:t>
            </a:r>
            <a:endParaRPr lang="en-US" sz="1700" dirty="0"/>
          </a:p>
        </p:txBody>
      </p:sp>
      <p:sp>
        <p:nvSpPr>
          <p:cNvPr id="17" name="Shape 11"/>
          <p:cNvSpPr/>
          <p:nvPr/>
        </p:nvSpPr>
        <p:spPr>
          <a:xfrm>
            <a:off x="640080" y="4297680"/>
            <a:ext cx="658368" cy="658368"/>
          </a:xfrm>
          <a:prstGeom prst="ellipse">
            <a:avLst/>
          </a:prstGeom>
          <a:solidFill>
            <a:srgbClr val="612141"/>
          </a:solidFill>
          <a:ln w="12700">
            <a:solidFill>
              <a:srgbClr val="612141"/>
            </a:solidFill>
            <a:prstDash val="solid"/>
          </a:ln>
        </p:spPr>
      </p:sp>
      <p:pic>
        <p:nvPicPr>
          <p:cNvPr id="18" name="Image 3" descr="preencoded.png">    </p:cNvPr>
          <p:cNvPicPr>
            <a:picLocks noChangeAspect="1"/>
          </p:cNvPicPr>
          <p:nvPr/>
        </p:nvPicPr>
        <p:blipFill>
          <a:blip r:embed="rId4"/>
          <a:stretch>
            <a:fillRect/>
          </a:stretch>
        </p:blipFill>
        <p:spPr>
          <a:xfrm>
            <a:off x="817839" y="4475439"/>
            <a:ext cx="302849" cy="302849"/>
          </a:xfrm>
          <a:prstGeom prst="rect">
            <a:avLst/>
          </a:prstGeom>
        </p:spPr>
      </p:pic>
      <p:sp>
        <p:nvSpPr>
          <p:cNvPr id="19" name="Text 12"/>
          <p:cNvSpPr txBox="1"/>
          <p:nvPr/>
        </p:nvSpPr>
        <p:spPr>
          <a:xfrm>
            <a:off x="1508760" y="4343400"/>
            <a:ext cx="2743200" cy="548640"/>
          </a:xfrm>
          <a:prstGeom prst="rect">
            <a:avLst/>
          </a:prstGeom>
          <a:noFill/>
          <a:ln/>
        </p:spPr>
        <p:txBody>
          <a:bodyPr wrap="square" lIns="0" tIns="0" rIns="0" bIns="0" rtlCol="0" anchor="ctr"/>
          <a:lstStyle/>
          <a:p>
            <a:pPr indent="0" marL="0">
              <a:buNone/>
            </a:pPr>
            <a:r>
              <a:rPr lang="en-US" sz="2200" b="1" dirty="0">
                <a:solidFill>
                  <a:srgbClr val="222222"/>
                </a:solidFill>
                <a:latin typeface="Cambria" pitchFamily="34" charset="0"/>
                <a:ea typeface="Cambria" pitchFamily="34" charset="-122"/>
                <a:cs typeface="Cambria" pitchFamily="34" charset="-120"/>
              </a:rPr>
              <a:t>matplotlib</a:t>
            </a:r>
            <a:endParaRPr lang="en-US" sz="2200" dirty="0"/>
          </a:p>
        </p:txBody>
      </p:sp>
      <p:sp>
        <p:nvSpPr>
          <p:cNvPr id="20" name="Text 13"/>
          <p:cNvSpPr txBox="1"/>
          <p:nvPr/>
        </p:nvSpPr>
        <p:spPr>
          <a:xfrm>
            <a:off x="4297680" y="4343400"/>
            <a:ext cx="7223760" cy="548640"/>
          </a:xfrm>
          <a:prstGeom prst="rect">
            <a:avLst/>
          </a:prstGeom>
          <a:noFill/>
          <a:ln/>
        </p:spPr>
        <p:txBody>
          <a:bodyPr wrap="square" lIns="0" tIns="0" rIns="0" bIns="0" rtlCol="0" anchor="ctr"/>
          <a:lstStyle/>
          <a:p>
            <a:pPr indent="0" marL="0">
              <a:buNone/>
            </a:pPr>
            <a:r>
              <a:rPr lang="en-US" sz="1700" dirty="0">
                <a:solidFill>
                  <a:srgbClr val="4A4A4A"/>
                </a:solidFill>
              </a:rPr>
              <a:t>draws any chart, piece by piece: cell 8's bar chart used it behind the scenes</a:t>
            </a:r>
            <a:endParaRPr lang="en-US" sz="1700" dirty="0"/>
          </a:p>
        </p:txBody>
      </p:sp>
      <p:sp>
        <p:nvSpPr>
          <p:cNvPr id="21" name="Shape 14"/>
          <p:cNvSpPr/>
          <p:nvPr/>
        </p:nvSpPr>
        <p:spPr>
          <a:xfrm>
            <a:off x="640080" y="5166360"/>
            <a:ext cx="658368" cy="658368"/>
          </a:xfrm>
          <a:prstGeom prst="ellipse">
            <a:avLst/>
          </a:prstGeom>
          <a:solidFill>
            <a:srgbClr val="612141"/>
          </a:solidFill>
          <a:ln w="12700">
            <a:solidFill>
              <a:srgbClr val="612141"/>
            </a:solidFill>
            <a:prstDash val="solid"/>
          </a:ln>
        </p:spPr>
      </p:sp>
      <p:pic>
        <p:nvPicPr>
          <p:cNvPr id="22" name="Image 4" descr="preencoded.png">    </p:cNvPr>
          <p:cNvPicPr>
            <a:picLocks noChangeAspect="1"/>
          </p:cNvPicPr>
          <p:nvPr/>
        </p:nvPicPr>
        <p:blipFill>
          <a:blip r:embed="rId5"/>
          <a:stretch>
            <a:fillRect/>
          </a:stretch>
        </p:blipFill>
        <p:spPr>
          <a:xfrm>
            <a:off x="817839" y="5344119"/>
            <a:ext cx="302849" cy="302849"/>
          </a:xfrm>
          <a:prstGeom prst="rect">
            <a:avLst/>
          </a:prstGeom>
        </p:spPr>
      </p:pic>
      <p:sp>
        <p:nvSpPr>
          <p:cNvPr id="23" name="Text 15"/>
          <p:cNvSpPr txBox="1"/>
          <p:nvPr/>
        </p:nvSpPr>
        <p:spPr>
          <a:xfrm>
            <a:off x="1508760" y="5212080"/>
            <a:ext cx="2743200" cy="548640"/>
          </a:xfrm>
          <a:prstGeom prst="rect">
            <a:avLst/>
          </a:prstGeom>
          <a:noFill/>
          <a:ln/>
        </p:spPr>
        <p:txBody>
          <a:bodyPr wrap="square" lIns="0" tIns="0" rIns="0" bIns="0" rtlCol="0" anchor="ctr"/>
          <a:lstStyle/>
          <a:p>
            <a:pPr indent="0" marL="0">
              <a:buNone/>
            </a:pPr>
            <a:r>
              <a:rPr lang="en-US" sz="2200" b="1" dirty="0">
                <a:solidFill>
                  <a:srgbClr val="222222"/>
                </a:solidFill>
                <a:latin typeface="Cambria" pitchFamily="34" charset="0"/>
                <a:ea typeface="Cambria" pitchFamily="34" charset="-122"/>
                <a:cs typeface="Cambria" pitchFamily="34" charset="-120"/>
              </a:rPr>
              <a:t>seaborn</a:t>
            </a:r>
            <a:endParaRPr lang="en-US" sz="2200" dirty="0"/>
          </a:p>
        </p:txBody>
      </p:sp>
      <p:sp>
        <p:nvSpPr>
          <p:cNvPr id="24" name="Text 16"/>
          <p:cNvSpPr txBox="1"/>
          <p:nvPr/>
        </p:nvSpPr>
        <p:spPr>
          <a:xfrm>
            <a:off x="4297680" y="5212080"/>
            <a:ext cx="7223760" cy="548640"/>
          </a:xfrm>
          <a:prstGeom prst="rect">
            <a:avLst/>
          </a:prstGeom>
          <a:noFill/>
          <a:ln/>
        </p:spPr>
        <p:txBody>
          <a:bodyPr wrap="square" lIns="0" tIns="0" rIns="0" bIns="0" rtlCol="0" anchor="ctr"/>
          <a:lstStyle/>
          <a:p>
            <a:pPr indent="0" marL="0">
              <a:buNone/>
            </a:pPr>
            <a:r>
              <a:rPr lang="en-US" sz="1700" dirty="0">
                <a:solidFill>
                  <a:srgbClr val="4A4A4A"/>
                </a:solidFill>
              </a:rPr>
              <a:t>statistical charts in one line: box plots and heatmaps, coming up in Notebook 2</a:t>
            </a:r>
            <a:endParaRPr lang="en-US" sz="17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THE TOOLS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Import once, print the versions, then every chart uses the same house style</a:t>
            </a:r>
            <a:endParaRPr lang="en-US" sz="2800" dirty="0"/>
          </a:p>
        </p:txBody>
      </p:sp>
      <p:pic>
        <p:nvPicPr>
          <p:cNvPr id="5" name="Image 0" descr="/tmp/claude-0/-home-claude/93efb843-a8d1-5396-a1f0-bcc38514be15/scratchpad/build/img_day3/p_import.png">    </p:cNvPr>
          <p:cNvPicPr>
            <a:picLocks noChangeAspect="1"/>
          </p:cNvPicPr>
          <p:nvPr/>
        </p:nvPicPr>
        <p:blipFill>
          <a:blip r:embed="rId1"/>
          <a:stretch>
            <a:fillRect/>
          </a:stretch>
        </p:blipFill>
        <p:spPr>
          <a:xfrm>
            <a:off x="640080" y="1645920"/>
            <a:ext cx="6949440" cy="1390310"/>
          </a:xfrm>
          <a:prstGeom prst="rect">
            <a:avLst/>
          </a:prstGeom>
        </p:spPr>
      </p:pic>
      <p:sp>
        <p:nvSpPr>
          <p:cNvPr id="6" name="Text 2"/>
          <p:cNvSpPr txBox="1"/>
          <p:nvPr/>
        </p:nvSpPr>
        <p:spPr>
          <a:xfrm>
            <a:off x="7955280" y="1645920"/>
            <a:ext cx="3593592" cy="274320"/>
          </a:xfrm>
          <a:prstGeom prst="rect">
            <a:avLst/>
          </a:prstGeom>
          <a:noFill/>
          <a:ln/>
        </p:spPr>
        <p:txBody>
          <a:bodyPr wrap="square" lIns="0" tIns="0" rIns="0" bIns="0" rtlCol="0" anchor="t"/>
          <a:lstStyle/>
          <a:p>
            <a:pPr indent="0" marL="0">
              <a:buNone/>
            </a:pPr>
            <a:r>
              <a:rPr lang="en-US" sz="1200" b="1" spc="100" kern="0" dirty="0">
                <a:solidFill>
                  <a:srgbClr val="612141"/>
                </a:solidFill>
              </a:rPr>
              <a:t>WHY PRINT VERSIONS?</a:t>
            </a:r>
            <a:endParaRPr lang="en-US" sz="1200" dirty="0"/>
          </a:p>
        </p:txBody>
      </p:sp>
      <p:sp>
        <p:nvSpPr>
          <p:cNvPr id="7" name="Text 3"/>
          <p:cNvSpPr txBox="1"/>
          <p:nvPr/>
        </p:nvSpPr>
        <p:spPr>
          <a:xfrm>
            <a:off x="7955280" y="1965960"/>
            <a:ext cx="3593592" cy="1188720"/>
          </a:xfrm>
          <a:prstGeom prst="rect">
            <a:avLst/>
          </a:prstGeom>
          <a:noFill/>
          <a:ln/>
        </p:spPr>
        <p:txBody>
          <a:bodyPr wrap="square" lIns="0" tIns="0" rIns="0" bIns="0" rtlCol="0" anchor="t"/>
          <a:lstStyle/>
          <a:p>
            <a:pPr indent="0" marL="0">
              <a:buNone/>
            </a:pPr>
            <a:r>
              <a:rPr lang="en-US" sz="1500" dirty="0">
                <a:solidFill>
                  <a:srgbClr val="222222"/>
                </a:solidFill>
              </a:rPr>
              <a:t>Different versions can draw a chart differently. Printing them makes your run checkable.</a:t>
            </a:r>
            <a:endParaRPr lang="en-US" sz="1500" dirty="0"/>
          </a:p>
        </p:txBody>
      </p:sp>
      <p:sp>
        <p:nvSpPr>
          <p:cNvPr id="8" name="Text 4"/>
          <p:cNvSpPr txBox="1"/>
          <p:nvPr/>
        </p:nvSpPr>
        <p:spPr>
          <a:xfrm>
            <a:off x="7955280" y="3291840"/>
            <a:ext cx="3593592"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HOUSE STYLE</a:t>
            </a:r>
            <a:endParaRPr lang="en-US" sz="1200" dirty="0"/>
          </a:p>
        </p:txBody>
      </p:sp>
      <p:sp>
        <p:nvSpPr>
          <p:cNvPr id="9" name="Text 5"/>
          <p:cNvSpPr txBox="1"/>
          <p:nvPr/>
        </p:nvSpPr>
        <p:spPr>
          <a:xfrm>
            <a:off x="7955280" y="3611880"/>
            <a:ext cx="3593592" cy="1371600"/>
          </a:xfrm>
          <a:prstGeom prst="rect">
            <a:avLst/>
          </a:prstGeom>
          <a:noFill/>
          <a:ln/>
        </p:spPr>
        <p:txBody>
          <a:bodyPr wrap="square" lIns="0" tIns="0" rIns="0" bIns="0" rtlCol="0" anchor="t"/>
          <a:lstStyle/>
          <a:p>
            <a:pPr indent="0" marL="0">
              <a:buNone/>
            </a:pPr>
            <a:r>
              <a:rPr lang="en-US" sz="1500" dirty="0">
                <a:solidFill>
                  <a:srgbClr val="222222"/>
                </a:solidFill>
              </a:rPr>
              <a:t>One ready-made cell sets colours, fonts and a finish() helper: a title that states the finding, a source line, a saved PNG.</a:t>
            </a:r>
            <a:endParaRPr lang="en-US" sz="1500" dirty="0"/>
          </a:p>
        </p:txBody>
      </p:sp>
      <p:sp>
        <p:nvSpPr>
          <p:cNvPr id="10" name="Text 6"/>
          <p:cNvSpPr txBox="1"/>
          <p:nvPr/>
        </p:nvSpPr>
        <p:spPr>
          <a:xfrm>
            <a:off x="640080" y="3173390"/>
            <a:ext cx="6949440" cy="274320"/>
          </a:xfrm>
          <a:prstGeom prst="rect">
            <a:avLst/>
          </a:prstGeom>
          <a:noFill/>
          <a:ln/>
        </p:spPr>
        <p:txBody>
          <a:bodyPr wrap="square" lIns="0" tIns="0" rIns="0" bIns="0" rtlCol="0" anchor="t"/>
          <a:lstStyle/>
          <a:p>
            <a:pPr indent="0" marL="0">
              <a:buNone/>
            </a:pPr>
            <a:r>
              <a:rPr lang="en-US" sz="1100" dirty="0">
                <a:solidFill>
                  <a:srgbClr val="5F6368"/>
                </a:solidFill>
              </a:rPr>
              <a:t>Versions shown: the run that produced the answer sheet.</a:t>
            </a:r>
            <a:endParaRPr lang="en-US" sz="11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THE ANALYTICS PIPELINE</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Six steps: question, load, clean, analyze, visualize, decide</a:t>
            </a:r>
            <a:endParaRPr lang="en-US" sz="2800" dirty="0"/>
          </a:p>
        </p:txBody>
      </p:sp>
      <p:sp>
        <p:nvSpPr>
          <p:cNvPr id="5" name="Shape 2"/>
          <p:cNvSpPr/>
          <p:nvPr/>
        </p:nvSpPr>
        <p:spPr>
          <a:xfrm>
            <a:off x="640080" y="1920240"/>
            <a:ext cx="1691640" cy="868680"/>
          </a:xfrm>
          <a:prstGeom prst="chevron">
            <a:avLst/>
          </a:prstGeom>
          <a:solidFill>
            <a:srgbClr val="9D2235"/>
          </a:solidFill>
          <a:ln w="12700">
            <a:solidFill>
              <a:srgbClr val="FFFFFF"/>
            </a:solidFill>
            <a:prstDash val="solid"/>
          </a:ln>
        </p:spPr>
      </p:sp>
      <p:sp>
        <p:nvSpPr>
          <p:cNvPr id="6" name="Text 3"/>
          <p:cNvSpPr txBox="1"/>
          <p:nvPr/>
        </p:nvSpPr>
        <p:spPr>
          <a:xfrm>
            <a:off x="914400"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Question</a:t>
            </a:r>
            <a:endParaRPr lang="en-US" sz="1500" dirty="0"/>
          </a:p>
        </p:txBody>
      </p:sp>
      <p:sp>
        <p:nvSpPr>
          <p:cNvPr id="7" name="Text 4"/>
          <p:cNvSpPr txBox="1"/>
          <p:nvPr/>
        </p:nvSpPr>
        <p:spPr>
          <a:xfrm>
            <a:off x="640080"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When should a store stock up for its season, and for how long?</a:t>
            </a:r>
            <a:endParaRPr lang="en-US" sz="1350" dirty="0"/>
          </a:p>
        </p:txBody>
      </p:sp>
      <p:sp>
        <p:nvSpPr>
          <p:cNvPr id="8" name="Shape 5"/>
          <p:cNvSpPr/>
          <p:nvPr/>
        </p:nvSpPr>
        <p:spPr>
          <a:xfrm>
            <a:off x="2487168" y="1920240"/>
            <a:ext cx="1691640" cy="868680"/>
          </a:xfrm>
          <a:prstGeom prst="chevron">
            <a:avLst/>
          </a:prstGeom>
          <a:solidFill>
            <a:srgbClr val="612141"/>
          </a:solidFill>
          <a:ln w="12700">
            <a:solidFill>
              <a:srgbClr val="FFFFFF"/>
            </a:solidFill>
            <a:prstDash val="solid"/>
          </a:ln>
        </p:spPr>
      </p:sp>
      <p:sp>
        <p:nvSpPr>
          <p:cNvPr id="9" name="Text 6"/>
          <p:cNvSpPr txBox="1"/>
          <p:nvPr/>
        </p:nvSpPr>
        <p:spPr>
          <a:xfrm>
            <a:off x="2761488"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Load</a:t>
            </a:r>
            <a:endParaRPr lang="en-US" sz="1500" dirty="0"/>
          </a:p>
        </p:txBody>
      </p:sp>
      <p:sp>
        <p:nvSpPr>
          <p:cNvPr id="10" name="Text 7"/>
          <p:cNvSpPr txBox="1"/>
          <p:nvPr/>
        </p:nvSpPr>
        <p:spPr>
          <a:xfrm>
            <a:off x="2487168"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2,096 weeks of Canadian searches, eight lanes; 22 years of Halloween spending</a:t>
            </a:r>
            <a:endParaRPr lang="en-US" sz="1350" dirty="0"/>
          </a:p>
        </p:txBody>
      </p:sp>
      <p:sp>
        <p:nvSpPr>
          <p:cNvPr id="11" name="Shape 8"/>
          <p:cNvSpPr/>
          <p:nvPr/>
        </p:nvSpPr>
        <p:spPr>
          <a:xfrm>
            <a:off x="4334256" y="1920240"/>
            <a:ext cx="1691640" cy="868680"/>
          </a:xfrm>
          <a:prstGeom prst="chevron">
            <a:avLst/>
          </a:prstGeom>
          <a:solidFill>
            <a:srgbClr val="612141"/>
          </a:solidFill>
          <a:ln w="12700">
            <a:solidFill>
              <a:srgbClr val="FFFFFF"/>
            </a:solidFill>
            <a:prstDash val="solid"/>
          </a:ln>
        </p:spPr>
      </p:sp>
      <p:sp>
        <p:nvSpPr>
          <p:cNvPr id="12" name="Text 9"/>
          <p:cNvSpPr txBox="1"/>
          <p:nvPr/>
        </p:nvSpPr>
        <p:spPr>
          <a:xfrm>
            <a:off x="4608576"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Clean</a:t>
            </a:r>
            <a:endParaRPr lang="en-US" sz="1500" dirty="0"/>
          </a:p>
        </p:txBody>
      </p:sp>
      <p:sp>
        <p:nvSpPr>
          <p:cNvPr id="13" name="Text 10"/>
          <p:cNvSpPr txBox="1"/>
          <p:nvPr/>
        </p:nvSpPr>
        <p:spPr>
          <a:xfrm>
            <a:off x="4334256"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text dates become real dates; partial years get flagged, never hidden</a:t>
            </a:r>
            <a:endParaRPr lang="en-US" sz="1350" dirty="0"/>
          </a:p>
        </p:txBody>
      </p:sp>
      <p:sp>
        <p:nvSpPr>
          <p:cNvPr id="14" name="Shape 11"/>
          <p:cNvSpPr/>
          <p:nvPr/>
        </p:nvSpPr>
        <p:spPr>
          <a:xfrm>
            <a:off x="6181344" y="1920240"/>
            <a:ext cx="1691640" cy="868680"/>
          </a:xfrm>
          <a:prstGeom prst="chevron">
            <a:avLst/>
          </a:prstGeom>
          <a:solidFill>
            <a:srgbClr val="612141"/>
          </a:solidFill>
          <a:ln w="12700">
            <a:solidFill>
              <a:srgbClr val="FFFFFF"/>
            </a:solidFill>
            <a:prstDash val="solid"/>
          </a:ln>
        </p:spPr>
      </p:sp>
      <p:sp>
        <p:nvSpPr>
          <p:cNvPr id="15" name="Text 12"/>
          <p:cNvSpPr txBox="1"/>
          <p:nvPr/>
        </p:nvSpPr>
        <p:spPr>
          <a:xfrm>
            <a:off x="6455664"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Analyze</a:t>
            </a:r>
            <a:endParaRPr lang="en-US" sz="1500" dirty="0"/>
          </a:p>
        </p:txBody>
      </p:sp>
      <p:sp>
        <p:nvSpPr>
          <p:cNvPr id="16" name="Text 13"/>
          <p:cNvSpPr txBox="1"/>
          <p:nvPr/>
        </p:nvSpPr>
        <p:spPr>
          <a:xfrm>
            <a:off x="6181344"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groupby by month and year; peak week, stock-up week, season length</a:t>
            </a:r>
            <a:endParaRPr lang="en-US" sz="1350" dirty="0"/>
          </a:p>
        </p:txBody>
      </p:sp>
      <p:sp>
        <p:nvSpPr>
          <p:cNvPr id="17" name="Shape 14"/>
          <p:cNvSpPr/>
          <p:nvPr/>
        </p:nvSpPr>
        <p:spPr>
          <a:xfrm>
            <a:off x="8028432" y="1920240"/>
            <a:ext cx="1691640" cy="868680"/>
          </a:xfrm>
          <a:prstGeom prst="chevron">
            <a:avLst/>
          </a:prstGeom>
          <a:solidFill>
            <a:srgbClr val="612141"/>
          </a:solidFill>
          <a:ln w="12700">
            <a:solidFill>
              <a:srgbClr val="FFFFFF"/>
            </a:solidFill>
            <a:prstDash val="solid"/>
          </a:ln>
        </p:spPr>
      </p:sp>
      <p:sp>
        <p:nvSpPr>
          <p:cNvPr id="18" name="Text 15"/>
          <p:cNvSpPr txBox="1"/>
          <p:nvPr/>
        </p:nvSpPr>
        <p:spPr>
          <a:xfrm>
            <a:off x="8302752"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Visualize</a:t>
            </a:r>
            <a:endParaRPr lang="en-US" sz="1500" dirty="0"/>
          </a:p>
        </p:txBody>
      </p:sp>
      <p:sp>
        <p:nvSpPr>
          <p:cNvPr id="19" name="Text 16"/>
          <p:cNvSpPr txBox="1"/>
          <p:nvPr/>
        </p:nvSpPr>
        <p:spPr>
          <a:xfrm>
            <a:off x="8028432"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seven chart types, one question each</a:t>
            </a:r>
            <a:endParaRPr lang="en-US" sz="1350" dirty="0"/>
          </a:p>
        </p:txBody>
      </p:sp>
      <p:sp>
        <p:nvSpPr>
          <p:cNvPr id="20" name="Shape 17"/>
          <p:cNvSpPr/>
          <p:nvPr/>
        </p:nvSpPr>
        <p:spPr>
          <a:xfrm>
            <a:off x="9875520" y="1920240"/>
            <a:ext cx="1691640" cy="868680"/>
          </a:xfrm>
          <a:prstGeom prst="chevron">
            <a:avLst/>
          </a:prstGeom>
          <a:solidFill>
            <a:srgbClr val="9D2235"/>
          </a:solidFill>
          <a:ln w="12700">
            <a:solidFill>
              <a:srgbClr val="FFFFFF"/>
            </a:solidFill>
            <a:prstDash val="solid"/>
          </a:ln>
        </p:spPr>
      </p:sp>
      <p:sp>
        <p:nvSpPr>
          <p:cNvPr id="21" name="Text 18"/>
          <p:cNvSpPr txBox="1"/>
          <p:nvPr/>
        </p:nvSpPr>
        <p:spPr>
          <a:xfrm>
            <a:off x="10149840" y="1920240"/>
            <a:ext cx="1234440" cy="868680"/>
          </a:xfrm>
          <a:prstGeom prst="rect">
            <a:avLst/>
          </a:prstGeom>
          <a:noFill/>
          <a:ln/>
        </p:spPr>
        <p:txBody>
          <a:bodyPr wrap="square" lIns="0" tIns="0" rIns="0" bIns="0" rtlCol="0" anchor="ctr"/>
          <a:lstStyle/>
          <a:p>
            <a:pPr algn="ctr" indent="0" marL="0">
              <a:buNone/>
            </a:pPr>
            <a:r>
              <a:rPr lang="en-US" sz="1500" b="1" dirty="0">
                <a:solidFill>
                  <a:srgbClr val="FFFFFF"/>
                </a:solidFill>
              </a:rPr>
              <a:t>Decide</a:t>
            </a:r>
            <a:endParaRPr lang="en-US" sz="1500" dirty="0"/>
          </a:p>
        </p:txBody>
      </p:sp>
      <p:sp>
        <p:nvSpPr>
          <p:cNvPr id="22" name="Text 19"/>
          <p:cNvSpPr txBox="1"/>
          <p:nvPr/>
        </p:nvSpPr>
        <p:spPr>
          <a:xfrm>
            <a:off x="9875520" y="3063240"/>
            <a:ext cx="1645920" cy="1554480"/>
          </a:xfrm>
          <a:prstGeom prst="rect">
            <a:avLst/>
          </a:prstGeom>
          <a:noFill/>
          <a:ln/>
        </p:spPr>
        <p:txBody>
          <a:bodyPr wrap="square" lIns="0" tIns="0" rIns="0" bIns="0" rtlCol="0" anchor="t"/>
          <a:lstStyle/>
          <a:p>
            <a:pPr indent="0" marL="0">
              <a:buNone/>
            </a:pPr>
            <a:r>
              <a:rPr lang="en-US" sz="1350" dirty="0">
                <a:solidFill>
                  <a:srgbClr val="4A4A4A"/>
                </a:solidFill>
              </a:rPr>
              <a:t>stock date, ad start, markdown date, and how to check it</a:t>
            </a:r>
            <a:endParaRPr lang="en-US" sz="1350" dirty="0"/>
          </a:p>
        </p:txBody>
      </p:sp>
      <p:sp>
        <p:nvSpPr>
          <p:cNvPr id="23" name="Shape 20"/>
          <p:cNvSpPr/>
          <p:nvPr/>
        </p:nvSpPr>
        <p:spPr>
          <a:xfrm>
            <a:off x="640080" y="4800600"/>
            <a:ext cx="10908792" cy="868680"/>
          </a:xfrm>
          <a:prstGeom prst="rect">
            <a:avLst/>
          </a:prstGeom>
          <a:solidFill>
            <a:srgbClr val="F4EEF1"/>
          </a:solidFill>
          <a:ln w="9525">
            <a:solidFill>
              <a:srgbClr val="F4EEF1"/>
            </a:solidFill>
            <a:prstDash val="solid"/>
          </a:ln>
        </p:spPr>
      </p:sp>
      <p:sp>
        <p:nvSpPr>
          <p:cNvPr id="24" name="Text 21"/>
          <p:cNvSpPr txBox="1"/>
          <p:nvPr/>
        </p:nvSpPr>
        <p:spPr>
          <a:xfrm>
            <a:off x="868680" y="4892040"/>
            <a:ext cx="10451592" cy="685800"/>
          </a:xfrm>
          <a:prstGeom prst="rect">
            <a:avLst/>
          </a:prstGeom>
          <a:noFill/>
          <a:ln/>
        </p:spPr>
        <p:txBody>
          <a:bodyPr wrap="square" lIns="0" tIns="0" rIns="0" bIns="0" rtlCol="0" anchor="ctr"/>
          <a:lstStyle/>
          <a:p>
            <a:pPr indent="0" marL="0">
              <a:buNone/>
            </a:pPr>
            <a:r>
              <a:rPr lang="en-US" sz="1500" b="1" dirty="0">
                <a:solidFill>
                  <a:srgbClr val="612141"/>
                </a:solidFill>
              </a:rPr>
              <a:t>Cell 8 was the whole pipeline in miniature:  </a:t>
            </a:r>
            <a:pPr indent="0" marL="0">
              <a:buNone/>
            </a:pPr>
            <a:r>
              <a:rPr lang="en-US" sz="1500" dirty="0">
                <a:solidFill>
                  <a:srgbClr val="222222"/>
                </a:solidFill>
              </a:rPr>
              <a:t>a question (what is on the shelf worth?), load, a new column, a sum, a chart. Notebook 2 is the same shape with 2,096 rows.</a:t>
            </a:r>
            <a:endParaRPr lang="en-US" sz="15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THE NOTEBOOK · READING DATA</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pandas reads 2,096 weeks of real searches; a fingerprint proves the file</a:t>
            </a:r>
            <a:endParaRPr lang="en-US" sz="2800" dirty="0"/>
          </a:p>
        </p:txBody>
      </p:sp>
      <p:pic>
        <p:nvPicPr>
          <p:cNvPr id="5" name="Image 0" descr="/tmp/claude-0/-home-claude/93efb843-a8d1-5396-a1f0-bcc38514be15/scratchpad/build/img_day3/p_read.png">    </p:cNvPr>
          <p:cNvPicPr>
            <a:picLocks noChangeAspect="1"/>
          </p:cNvPicPr>
          <p:nvPr/>
        </p:nvPicPr>
        <p:blipFill>
          <a:blip r:embed="rId1"/>
          <a:stretch>
            <a:fillRect/>
          </a:stretch>
        </p:blipFill>
        <p:spPr>
          <a:xfrm>
            <a:off x="640080" y="1600200"/>
            <a:ext cx="8139389" cy="3108960"/>
          </a:xfrm>
          <a:prstGeom prst="rect">
            <a:avLst/>
          </a:prstGeom>
        </p:spPr>
      </p:pic>
      <p:sp>
        <p:nvSpPr>
          <p:cNvPr id="6" name="Text 2"/>
          <p:cNvSpPr txBox="1"/>
          <p:nvPr/>
        </p:nvSpPr>
        <p:spPr>
          <a:xfrm>
            <a:off x="640080" y="4937760"/>
            <a:ext cx="3474720" cy="274320"/>
          </a:xfrm>
          <a:prstGeom prst="rect">
            <a:avLst/>
          </a:prstGeom>
          <a:noFill/>
          <a:ln/>
        </p:spPr>
        <p:txBody>
          <a:bodyPr wrap="square" lIns="0" tIns="0" rIns="0" bIns="0" rtlCol="0" anchor="t"/>
          <a:lstStyle/>
          <a:p>
            <a:pPr indent="0" marL="0">
              <a:buNone/>
            </a:pPr>
            <a:r>
              <a:rPr lang="en-US" sz="1200" b="1" spc="100" kern="0" dirty="0">
                <a:solidFill>
                  <a:srgbClr val="612141"/>
                </a:solidFill>
              </a:rPr>
              <a:t>TWO TABLES</a:t>
            </a:r>
            <a:endParaRPr lang="en-US" sz="1200" dirty="0"/>
          </a:p>
        </p:txBody>
      </p:sp>
      <p:sp>
        <p:nvSpPr>
          <p:cNvPr id="7" name="Text 3"/>
          <p:cNvSpPr txBox="1"/>
          <p:nvPr/>
        </p:nvSpPr>
        <p:spPr>
          <a:xfrm>
            <a:off x="640080" y="5212080"/>
            <a:ext cx="3474720" cy="1188720"/>
          </a:xfrm>
          <a:prstGeom prst="rect">
            <a:avLst/>
          </a:prstGeom>
          <a:noFill/>
          <a:ln/>
        </p:spPr>
        <p:txBody>
          <a:bodyPr wrap="square" lIns="0" tIns="0" rIns="0" bIns="0" rtlCol="0" anchor="t"/>
          <a:lstStyle/>
          <a:p>
            <a:pPr indent="0" marL="0">
              <a:buNone/>
            </a:pPr>
            <a:r>
              <a:rPr lang="en-US" sz="1300" dirty="0">
                <a:solidFill>
                  <a:srgbClr val="222222"/>
                </a:solidFill>
              </a:rPr>
              <a:t>Trends: 2,096 rows (week, lane, interest) and NRF spending (22 years). melt turns one column per lane into one row per week per lane, the shape groupby wants.</a:t>
            </a:r>
            <a:endParaRPr lang="en-US" sz="1300" dirty="0"/>
          </a:p>
        </p:txBody>
      </p:sp>
      <p:sp>
        <p:nvSpPr>
          <p:cNvPr id="8" name="Text 4"/>
          <p:cNvSpPr txBox="1"/>
          <p:nvPr/>
        </p:nvSpPr>
        <p:spPr>
          <a:xfrm>
            <a:off x="4361688" y="4937760"/>
            <a:ext cx="347472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A SCORE MEANS</a:t>
            </a:r>
            <a:endParaRPr lang="en-US" sz="1200" dirty="0"/>
          </a:p>
        </p:txBody>
      </p:sp>
      <p:sp>
        <p:nvSpPr>
          <p:cNvPr id="9" name="Text 5"/>
          <p:cNvSpPr txBox="1"/>
          <p:nvPr/>
        </p:nvSpPr>
        <p:spPr>
          <a:xfrm>
            <a:off x="4361688" y="5212080"/>
            <a:ext cx="3474720" cy="1188720"/>
          </a:xfrm>
          <a:prstGeom prst="rect">
            <a:avLst/>
          </a:prstGeom>
          <a:noFill/>
          <a:ln/>
        </p:spPr>
        <p:txBody>
          <a:bodyPr wrap="square" lIns="0" tIns="0" rIns="0" bIns="0" rtlCol="0" anchor="t"/>
          <a:lstStyle/>
          <a:p>
            <a:pPr indent="0" marL="0">
              <a:buNone/>
            </a:pPr>
            <a:r>
              <a:rPr lang="en-US" sz="1300" dirty="0">
                <a:solidFill>
                  <a:srgbClr val="222222"/>
                </a:solidFill>
              </a:rPr>
              <a:t>100 = that lane's busiest week; 50 = half as busy. Relative interest, not a count, not sales.</a:t>
            </a:r>
            <a:endParaRPr lang="en-US" sz="1300" dirty="0"/>
          </a:p>
        </p:txBody>
      </p:sp>
      <p:sp>
        <p:nvSpPr>
          <p:cNvPr id="10" name="Shape 6"/>
          <p:cNvSpPr/>
          <p:nvPr/>
        </p:nvSpPr>
        <p:spPr>
          <a:xfrm>
            <a:off x="8074152" y="4937760"/>
            <a:ext cx="3474720" cy="1188720"/>
          </a:xfrm>
          <a:prstGeom prst="rect">
            <a:avLst/>
          </a:prstGeom>
          <a:solidFill>
            <a:srgbClr val="F4EEF1"/>
          </a:solidFill>
          <a:ln w="9525">
            <a:solidFill>
              <a:srgbClr val="F4EEF1"/>
            </a:solidFill>
            <a:prstDash val="solid"/>
          </a:ln>
        </p:spPr>
      </p:sp>
      <p:sp>
        <p:nvSpPr>
          <p:cNvPr id="11" name="Text 7"/>
          <p:cNvSpPr txBox="1"/>
          <p:nvPr/>
        </p:nvSpPr>
        <p:spPr>
          <a:xfrm>
            <a:off x="8302752" y="5029200"/>
            <a:ext cx="3017520" cy="1005840"/>
          </a:xfrm>
          <a:prstGeom prst="rect">
            <a:avLst/>
          </a:prstGeom>
          <a:noFill/>
          <a:ln/>
        </p:spPr>
        <p:txBody>
          <a:bodyPr wrap="square" lIns="0" tIns="0" rIns="0" bIns="0" rtlCol="0" anchor="ctr"/>
          <a:lstStyle/>
          <a:p>
            <a:pPr indent="0" marL="0">
              <a:buNone/>
            </a:pPr>
            <a:r>
              <a:rPr lang="en-US" sz="1300" b="1" dirty="0">
                <a:solidFill>
                  <a:srgbClr val="612141"/>
                </a:solidFill>
              </a:rPr>
              <a:t>Feeds:  </a:t>
            </a:r>
            <a:pPr indent="0" marL="0">
              <a:buNone/>
            </a:pPr>
            <a:r>
              <a:rPr lang="en-US" sz="1300" dirty="0">
                <a:solidFill>
                  <a:srgbClr val="222222"/>
                </a:solidFill>
              </a:rPr>
              <a:t>every chart in the gallery and your lane in section 6.</a:t>
            </a:r>
            <a:endParaRPr lang="en-US" sz="1300" dirty="0"/>
          </a:p>
        </p:txBody>
      </p:sp>
      <p:sp>
        <p:nvSpPr>
          <p:cNvPr id="12" name="Text 8"/>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WHY VISUALIZE</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Four datasets, identical averages: only the charts show the difference</a:t>
            </a:r>
            <a:endParaRPr lang="en-US" sz="2800" dirty="0"/>
          </a:p>
        </p:txBody>
      </p:sp>
      <p:pic>
        <p:nvPicPr>
          <p:cNvPr id="5" name="Image 0" descr="/tmp/claude-0/-home-claude/93efb843-a8d1-5396-a1f0-bcc38514be15/scratchpad/build/img_day3/anscombe.png">    </p:cNvPr>
          <p:cNvPicPr>
            <a:picLocks noChangeAspect="1"/>
          </p:cNvPicPr>
          <p:nvPr/>
        </p:nvPicPr>
        <p:blipFill>
          <a:blip r:embed="rId1"/>
          <a:stretch>
            <a:fillRect/>
          </a:stretch>
        </p:blipFill>
        <p:spPr>
          <a:xfrm>
            <a:off x="640080" y="1554480"/>
            <a:ext cx="6356897" cy="4343400"/>
          </a:xfrm>
          <a:prstGeom prst="rect">
            <a:avLst/>
          </a:prstGeom>
        </p:spPr>
      </p:pic>
      <p:sp>
        <p:nvSpPr>
          <p:cNvPr id="6" name="Text 2"/>
          <p:cNvSpPr txBox="1"/>
          <p:nvPr/>
        </p:nvSpPr>
        <p:spPr>
          <a:xfrm>
            <a:off x="7772400" y="164592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SAME FOR ALL FOUR</a:t>
            </a:r>
            <a:endParaRPr lang="en-US" sz="1200" dirty="0"/>
          </a:p>
        </p:txBody>
      </p:sp>
      <p:sp>
        <p:nvSpPr>
          <p:cNvPr id="7" name="Text 3"/>
          <p:cNvSpPr txBox="1"/>
          <p:nvPr/>
        </p:nvSpPr>
        <p:spPr>
          <a:xfrm>
            <a:off x="7772400" y="2011680"/>
            <a:ext cx="2103120" cy="457200"/>
          </a:xfrm>
          <a:prstGeom prst="rect">
            <a:avLst/>
          </a:prstGeom>
          <a:noFill/>
          <a:ln/>
        </p:spPr>
        <p:txBody>
          <a:bodyPr wrap="square" lIns="0" tIns="0" rIns="0" bIns="0" rtlCol="0" anchor="t"/>
          <a:lstStyle/>
          <a:p>
            <a:pPr indent="0" marL="0">
              <a:buNone/>
            </a:pPr>
            <a:r>
              <a:rPr lang="en-US" sz="1700" dirty="0">
                <a:solidFill>
                  <a:srgbClr val="222222"/>
                </a:solidFill>
              </a:rPr>
              <a:t>mean of x</a:t>
            </a:r>
            <a:endParaRPr lang="en-US" sz="1700" dirty="0"/>
          </a:p>
        </p:txBody>
      </p:sp>
      <p:sp>
        <p:nvSpPr>
          <p:cNvPr id="8" name="Text 4"/>
          <p:cNvSpPr txBox="1"/>
          <p:nvPr/>
        </p:nvSpPr>
        <p:spPr>
          <a:xfrm>
            <a:off x="9875520" y="2011680"/>
            <a:ext cx="1554480" cy="457200"/>
          </a:xfrm>
          <a:prstGeom prst="rect">
            <a:avLst/>
          </a:prstGeom>
          <a:noFill/>
          <a:ln/>
        </p:spPr>
        <p:txBody>
          <a:bodyPr wrap="square" lIns="0" tIns="0" rIns="0" bIns="0" rtlCol="0" anchor="t"/>
          <a:lstStyle/>
          <a:p>
            <a:pPr algn="r" indent="0" marL="0">
              <a:buNone/>
            </a:pPr>
            <a:r>
              <a:rPr lang="en-US" sz="2200" b="1" dirty="0">
                <a:solidFill>
                  <a:srgbClr val="612141"/>
                </a:solidFill>
                <a:latin typeface="Cambria" pitchFamily="34" charset="0"/>
                <a:ea typeface="Cambria" pitchFamily="34" charset="-122"/>
                <a:cs typeface="Cambria" pitchFamily="34" charset="-120"/>
              </a:rPr>
              <a:t>9.0</a:t>
            </a:r>
            <a:endParaRPr lang="en-US" sz="2200" dirty="0"/>
          </a:p>
        </p:txBody>
      </p:sp>
      <p:sp>
        <p:nvSpPr>
          <p:cNvPr id="9" name="Shape 5"/>
          <p:cNvSpPr/>
          <p:nvPr/>
        </p:nvSpPr>
        <p:spPr>
          <a:xfrm>
            <a:off x="7772400" y="2487168"/>
            <a:ext cx="3657600" cy="0"/>
          </a:xfrm>
          <a:prstGeom prst="line">
            <a:avLst/>
          </a:prstGeom>
          <a:noFill/>
          <a:ln w="6350">
            <a:solidFill>
              <a:srgbClr val="D9D3D3"/>
            </a:solidFill>
            <a:prstDash val="solid"/>
          </a:ln>
        </p:spPr>
      </p:sp>
      <p:sp>
        <p:nvSpPr>
          <p:cNvPr id="10" name="Text 6"/>
          <p:cNvSpPr txBox="1"/>
          <p:nvPr/>
        </p:nvSpPr>
        <p:spPr>
          <a:xfrm>
            <a:off x="7772400" y="2578608"/>
            <a:ext cx="2103120" cy="457200"/>
          </a:xfrm>
          <a:prstGeom prst="rect">
            <a:avLst/>
          </a:prstGeom>
          <a:noFill/>
          <a:ln/>
        </p:spPr>
        <p:txBody>
          <a:bodyPr wrap="square" lIns="0" tIns="0" rIns="0" bIns="0" rtlCol="0" anchor="t"/>
          <a:lstStyle/>
          <a:p>
            <a:pPr indent="0" marL="0">
              <a:buNone/>
            </a:pPr>
            <a:r>
              <a:rPr lang="en-US" sz="1700" dirty="0">
                <a:solidFill>
                  <a:srgbClr val="222222"/>
                </a:solidFill>
              </a:rPr>
              <a:t>mean of y</a:t>
            </a:r>
            <a:endParaRPr lang="en-US" sz="1700" dirty="0"/>
          </a:p>
        </p:txBody>
      </p:sp>
      <p:sp>
        <p:nvSpPr>
          <p:cNvPr id="11" name="Text 7"/>
          <p:cNvSpPr txBox="1"/>
          <p:nvPr/>
        </p:nvSpPr>
        <p:spPr>
          <a:xfrm>
            <a:off x="9875520" y="2578608"/>
            <a:ext cx="1554480" cy="457200"/>
          </a:xfrm>
          <a:prstGeom prst="rect">
            <a:avLst/>
          </a:prstGeom>
          <a:noFill/>
          <a:ln/>
        </p:spPr>
        <p:txBody>
          <a:bodyPr wrap="square" lIns="0" tIns="0" rIns="0" bIns="0" rtlCol="0" anchor="t"/>
          <a:lstStyle/>
          <a:p>
            <a:pPr algn="r" indent="0" marL="0">
              <a:buNone/>
            </a:pPr>
            <a:r>
              <a:rPr lang="en-US" sz="2200" b="1" dirty="0">
                <a:solidFill>
                  <a:srgbClr val="612141"/>
                </a:solidFill>
                <a:latin typeface="Cambria" pitchFamily="34" charset="0"/>
                <a:ea typeface="Cambria" pitchFamily="34" charset="-122"/>
                <a:cs typeface="Cambria" pitchFamily="34" charset="-120"/>
              </a:rPr>
              <a:t>7.50</a:t>
            </a:r>
            <a:endParaRPr lang="en-US" sz="2200" dirty="0"/>
          </a:p>
        </p:txBody>
      </p:sp>
      <p:sp>
        <p:nvSpPr>
          <p:cNvPr id="12" name="Shape 8"/>
          <p:cNvSpPr/>
          <p:nvPr/>
        </p:nvSpPr>
        <p:spPr>
          <a:xfrm>
            <a:off x="7772400" y="3054096"/>
            <a:ext cx="3657600" cy="0"/>
          </a:xfrm>
          <a:prstGeom prst="line">
            <a:avLst/>
          </a:prstGeom>
          <a:noFill/>
          <a:ln w="6350">
            <a:solidFill>
              <a:srgbClr val="D9D3D3"/>
            </a:solidFill>
            <a:prstDash val="solid"/>
          </a:ln>
        </p:spPr>
      </p:sp>
      <p:sp>
        <p:nvSpPr>
          <p:cNvPr id="13" name="Text 9"/>
          <p:cNvSpPr txBox="1"/>
          <p:nvPr/>
        </p:nvSpPr>
        <p:spPr>
          <a:xfrm>
            <a:off x="7772400" y="3145536"/>
            <a:ext cx="2103120" cy="457200"/>
          </a:xfrm>
          <a:prstGeom prst="rect">
            <a:avLst/>
          </a:prstGeom>
          <a:noFill/>
          <a:ln/>
        </p:spPr>
        <p:txBody>
          <a:bodyPr wrap="square" lIns="0" tIns="0" rIns="0" bIns="0" rtlCol="0" anchor="t"/>
          <a:lstStyle/>
          <a:p>
            <a:pPr indent="0" marL="0">
              <a:buNone/>
            </a:pPr>
            <a:r>
              <a:rPr lang="en-US" sz="1700" dirty="0">
                <a:solidFill>
                  <a:srgbClr val="222222"/>
                </a:solidFill>
              </a:rPr>
              <a:t>correlation r</a:t>
            </a:r>
            <a:endParaRPr lang="en-US" sz="1700" dirty="0"/>
          </a:p>
        </p:txBody>
      </p:sp>
      <p:sp>
        <p:nvSpPr>
          <p:cNvPr id="14" name="Text 10"/>
          <p:cNvSpPr txBox="1"/>
          <p:nvPr/>
        </p:nvSpPr>
        <p:spPr>
          <a:xfrm>
            <a:off x="9875520" y="3145536"/>
            <a:ext cx="1554480" cy="457200"/>
          </a:xfrm>
          <a:prstGeom prst="rect">
            <a:avLst/>
          </a:prstGeom>
          <a:noFill/>
          <a:ln/>
        </p:spPr>
        <p:txBody>
          <a:bodyPr wrap="square" lIns="0" tIns="0" rIns="0" bIns="0" rtlCol="0" anchor="t"/>
          <a:lstStyle/>
          <a:p>
            <a:pPr algn="r" indent="0" marL="0">
              <a:buNone/>
            </a:pPr>
            <a:r>
              <a:rPr lang="en-US" sz="2200" b="1" dirty="0">
                <a:solidFill>
                  <a:srgbClr val="612141"/>
                </a:solidFill>
                <a:latin typeface="Cambria" pitchFamily="34" charset="0"/>
                <a:ea typeface="Cambria" pitchFamily="34" charset="-122"/>
                <a:cs typeface="Cambria" pitchFamily="34" charset="-120"/>
              </a:rPr>
              <a:t>0.816</a:t>
            </a:r>
            <a:endParaRPr lang="en-US" sz="2200" dirty="0"/>
          </a:p>
        </p:txBody>
      </p:sp>
      <p:sp>
        <p:nvSpPr>
          <p:cNvPr id="15" name="Shape 11"/>
          <p:cNvSpPr/>
          <p:nvPr/>
        </p:nvSpPr>
        <p:spPr>
          <a:xfrm>
            <a:off x="7772400" y="3621024"/>
            <a:ext cx="3657600" cy="0"/>
          </a:xfrm>
          <a:prstGeom prst="line">
            <a:avLst/>
          </a:prstGeom>
          <a:noFill/>
          <a:ln w="6350">
            <a:solidFill>
              <a:srgbClr val="D9D3D3"/>
            </a:solidFill>
            <a:prstDash val="solid"/>
          </a:ln>
        </p:spPr>
      </p:sp>
      <p:sp>
        <p:nvSpPr>
          <p:cNvPr id="16" name="Text 12"/>
          <p:cNvSpPr txBox="1"/>
          <p:nvPr/>
        </p:nvSpPr>
        <p:spPr>
          <a:xfrm>
            <a:off x="7772400" y="3712464"/>
            <a:ext cx="2103120" cy="457200"/>
          </a:xfrm>
          <a:prstGeom prst="rect">
            <a:avLst/>
          </a:prstGeom>
          <a:noFill/>
          <a:ln/>
        </p:spPr>
        <p:txBody>
          <a:bodyPr wrap="square" lIns="0" tIns="0" rIns="0" bIns="0" rtlCol="0" anchor="t"/>
          <a:lstStyle/>
          <a:p>
            <a:pPr indent="0" marL="0">
              <a:buNone/>
            </a:pPr>
            <a:r>
              <a:rPr lang="en-US" sz="1700" dirty="0">
                <a:solidFill>
                  <a:srgbClr val="222222"/>
                </a:solidFill>
              </a:rPr>
              <a:t>points</a:t>
            </a:r>
            <a:endParaRPr lang="en-US" sz="1700" dirty="0"/>
          </a:p>
        </p:txBody>
      </p:sp>
      <p:sp>
        <p:nvSpPr>
          <p:cNvPr id="17" name="Text 13"/>
          <p:cNvSpPr txBox="1"/>
          <p:nvPr/>
        </p:nvSpPr>
        <p:spPr>
          <a:xfrm>
            <a:off x="9875520" y="3712464"/>
            <a:ext cx="1554480" cy="457200"/>
          </a:xfrm>
          <a:prstGeom prst="rect">
            <a:avLst/>
          </a:prstGeom>
          <a:noFill/>
          <a:ln/>
        </p:spPr>
        <p:txBody>
          <a:bodyPr wrap="square" lIns="0" tIns="0" rIns="0" bIns="0" rtlCol="0" anchor="t"/>
          <a:lstStyle/>
          <a:p>
            <a:pPr algn="r" indent="0" marL="0">
              <a:buNone/>
            </a:pPr>
            <a:r>
              <a:rPr lang="en-US" sz="2200" b="1" dirty="0">
                <a:solidFill>
                  <a:srgbClr val="612141"/>
                </a:solidFill>
                <a:latin typeface="Cambria" pitchFamily="34" charset="0"/>
                <a:ea typeface="Cambria" pitchFamily="34" charset="-122"/>
                <a:cs typeface="Cambria" pitchFamily="34" charset="-120"/>
              </a:rPr>
              <a:t>11 each</a:t>
            </a:r>
            <a:endParaRPr lang="en-US" sz="2200" dirty="0"/>
          </a:p>
        </p:txBody>
      </p:sp>
      <p:sp>
        <p:nvSpPr>
          <p:cNvPr id="18" name="Shape 14"/>
          <p:cNvSpPr/>
          <p:nvPr/>
        </p:nvSpPr>
        <p:spPr>
          <a:xfrm>
            <a:off x="7772400" y="4187952"/>
            <a:ext cx="3657600" cy="0"/>
          </a:xfrm>
          <a:prstGeom prst="line">
            <a:avLst/>
          </a:prstGeom>
          <a:noFill/>
          <a:ln w="6350">
            <a:solidFill>
              <a:srgbClr val="D9D3D3"/>
            </a:solidFill>
            <a:prstDash val="solid"/>
          </a:ln>
        </p:spPr>
      </p:sp>
      <p:sp>
        <p:nvSpPr>
          <p:cNvPr id="19" name="Shape 15"/>
          <p:cNvSpPr/>
          <p:nvPr/>
        </p:nvSpPr>
        <p:spPr>
          <a:xfrm>
            <a:off x="7772400" y="4434840"/>
            <a:ext cx="3776472" cy="1143000"/>
          </a:xfrm>
          <a:prstGeom prst="rect">
            <a:avLst/>
          </a:prstGeom>
          <a:solidFill>
            <a:srgbClr val="F4EEF1"/>
          </a:solidFill>
          <a:ln w="9525">
            <a:solidFill>
              <a:srgbClr val="F4EEF1"/>
            </a:solidFill>
            <a:prstDash val="solid"/>
          </a:ln>
        </p:spPr>
      </p:sp>
      <p:sp>
        <p:nvSpPr>
          <p:cNvPr id="20" name="Text 16"/>
          <p:cNvSpPr txBox="1"/>
          <p:nvPr/>
        </p:nvSpPr>
        <p:spPr>
          <a:xfrm>
            <a:off x="8001000" y="4526280"/>
            <a:ext cx="3319272" cy="960120"/>
          </a:xfrm>
          <a:prstGeom prst="rect">
            <a:avLst/>
          </a:prstGeom>
          <a:noFill/>
          <a:ln/>
        </p:spPr>
        <p:txBody>
          <a:bodyPr wrap="square" lIns="0" tIns="0" rIns="0" bIns="0" rtlCol="0" anchor="ctr"/>
          <a:lstStyle/>
          <a:p>
            <a:pPr indent="0" marL="0">
              <a:buNone/>
            </a:pPr>
            <a:r>
              <a:rPr lang="en-US" sz="1500" b="1" dirty="0">
                <a:solidFill>
                  <a:srgbClr val="612141"/>
                </a:solidFill>
              </a:rPr>
              <a:t>So:  </a:t>
            </a:r>
            <a:pPr indent="0" marL="0">
              <a:buNone/>
            </a:pPr>
            <a:r>
              <a:rPr lang="en-US" sz="1500" dirty="0">
                <a:solidFill>
                  <a:srgbClr val="222222"/>
                </a:solidFill>
              </a:rPr>
              <a:t>always look at the data, not only its averages.</a:t>
            </a:r>
            <a:endParaRPr lang="en-US" sz="1500" dirty="0"/>
          </a:p>
        </p:txBody>
      </p:sp>
      <p:sp>
        <p:nvSpPr>
          <p:cNvPr id="21" name="Text 17"/>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F. J. Anscombe (1973), "Graphs in Statistical Analysis", The American Statistician 27(1); data as published in seaborn-data (anscombe.csv). Charts drawn by us.</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WHY VISUALIZE · A REAL DASHBOARD</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Nova Scotia Health puts hospital occupancy on a public dashboard</a:t>
            </a:r>
            <a:endParaRPr lang="en-US" sz="2800" dirty="0"/>
          </a:p>
        </p:txBody>
      </p:sp>
      <p:pic>
        <p:nvPicPr>
          <p:cNvPr id="5" name="Image 0" descr="/tmp/claude-0/-home-claude/93efb843-a8d1-5396-a1f0-bcc38514be15/scratchpad/build/img_day3/ns_health_dashboard_2026-10-27.png">    </p:cNvPr>
          <p:cNvPicPr>
            <a:picLocks noChangeAspect="1"/>
          </p:cNvPicPr>
          <p:nvPr/>
        </p:nvPicPr>
        <p:blipFill>
          <a:blip r:embed="rId1"/>
          <a:stretch>
            <a:fillRect/>
          </a:stretch>
        </p:blipFill>
        <p:spPr>
          <a:xfrm>
            <a:off x="640080" y="1554480"/>
            <a:ext cx="6464333" cy="4343400"/>
          </a:xfrm>
          <a:prstGeom prst="rect">
            <a:avLst/>
          </a:prstGeom>
        </p:spPr>
      </p:pic>
      <p:sp>
        <p:nvSpPr>
          <p:cNvPr id="6" name="Shape 2"/>
          <p:cNvSpPr/>
          <p:nvPr/>
        </p:nvSpPr>
        <p:spPr>
          <a:xfrm>
            <a:off x="7589520" y="1645920"/>
            <a:ext cx="457200" cy="457200"/>
          </a:xfrm>
          <a:prstGeom prst="ellipse">
            <a:avLst/>
          </a:prstGeom>
          <a:solidFill>
            <a:srgbClr val="612141"/>
          </a:solidFill>
          <a:ln w="12700">
            <a:solidFill>
              <a:srgbClr val="612141"/>
            </a:solidFill>
            <a:prstDash val="solid"/>
          </a:ln>
        </p:spPr>
      </p:sp>
      <p:sp>
        <p:nvSpPr>
          <p:cNvPr id="7" name="Text 3"/>
          <p:cNvSpPr txBox="1"/>
          <p:nvPr/>
        </p:nvSpPr>
        <p:spPr>
          <a:xfrm>
            <a:off x="758952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4"/>
          <p:cNvSpPr txBox="1"/>
          <p:nvPr/>
        </p:nvSpPr>
        <p:spPr>
          <a:xfrm>
            <a:off x="8229600" y="1627632"/>
            <a:ext cx="3291840" cy="320040"/>
          </a:xfrm>
          <a:prstGeom prst="rect">
            <a:avLst/>
          </a:prstGeom>
          <a:noFill/>
          <a:ln/>
        </p:spPr>
        <p:txBody>
          <a:bodyPr wrap="square" lIns="0" tIns="0" rIns="0" bIns="0" rtlCol="0" anchor="t"/>
          <a:lstStyle/>
          <a:p>
            <a:pPr indent="0" marL="0">
              <a:buNone/>
            </a:pPr>
            <a:r>
              <a:rPr lang="en-US" sz="1600" b="1" dirty="0">
                <a:solidFill>
                  <a:srgbClr val="222222"/>
                </a:solidFill>
              </a:rPr>
              <a:t>Headline numbers</a:t>
            </a:r>
            <a:endParaRPr lang="en-US" sz="1600" dirty="0"/>
          </a:p>
        </p:txBody>
      </p:sp>
      <p:sp>
        <p:nvSpPr>
          <p:cNvPr id="9" name="Text 5"/>
          <p:cNvSpPr txBox="1"/>
          <p:nvPr/>
        </p:nvSpPr>
        <p:spPr>
          <a:xfrm>
            <a:off x="8229600" y="1947672"/>
            <a:ext cx="3291840" cy="548640"/>
          </a:xfrm>
          <a:prstGeom prst="rect">
            <a:avLst/>
          </a:prstGeom>
          <a:noFill/>
          <a:ln/>
        </p:spPr>
        <p:txBody>
          <a:bodyPr wrap="square" lIns="0" tIns="0" rIns="0" bIns="0" rtlCol="0" anchor="t"/>
          <a:lstStyle/>
          <a:p>
            <a:pPr indent="0" marL="0">
              <a:buNone/>
            </a:pPr>
            <a:r>
              <a:rPr lang="en-US" sz="1400" dirty="0">
                <a:solidFill>
                  <a:srgbClr val="4A4A4A"/>
                </a:solidFill>
              </a:rPr>
              <a:t>Acute care units at 112.4% occupancy on Oct 25, 2026</a:t>
            </a:r>
            <a:endParaRPr lang="en-US" sz="1400" dirty="0"/>
          </a:p>
        </p:txBody>
      </p:sp>
      <p:sp>
        <p:nvSpPr>
          <p:cNvPr id="10" name="Shape 6"/>
          <p:cNvSpPr/>
          <p:nvPr/>
        </p:nvSpPr>
        <p:spPr>
          <a:xfrm>
            <a:off x="7589520" y="2633472"/>
            <a:ext cx="457200" cy="457200"/>
          </a:xfrm>
          <a:prstGeom prst="ellipse">
            <a:avLst/>
          </a:prstGeom>
          <a:solidFill>
            <a:srgbClr val="612141"/>
          </a:solidFill>
          <a:ln w="12700">
            <a:solidFill>
              <a:srgbClr val="612141"/>
            </a:solidFill>
            <a:prstDash val="solid"/>
          </a:ln>
        </p:spPr>
      </p:sp>
      <p:sp>
        <p:nvSpPr>
          <p:cNvPr id="11" name="Text 7"/>
          <p:cNvSpPr txBox="1"/>
          <p:nvPr/>
        </p:nvSpPr>
        <p:spPr>
          <a:xfrm>
            <a:off x="7589520" y="2633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8"/>
          <p:cNvSpPr txBox="1"/>
          <p:nvPr/>
        </p:nvSpPr>
        <p:spPr>
          <a:xfrm>
            <a:off x="8229600" y="2615184"/>
            <a:ext cx="3291840" cy="320040"/>
          </a:xfrm>
          <a:prstGeom prst="rect">
            <a:avLst/>
          </a:prstGeom>
          <a:noFill/>
          <a:ln/>
        </p:spPr>
        <p:txBody>
          <a:bodyPr wrap="square" lIns="0" tIns="0" rIns="0" bIns="0" rtlCol="0" anchor="t"/>
          <a:lstStyle/>
          <a:p>
            <a:pPr indent="0" marL="0">
              <a:buNone/>
            </a:pPr>
            <a:r>
              <a:rPr lang="en-US" sz="1600" b="1" dirty="0">
                <a:solidFill>
                  <a:srgbClr val="222222"/>
                </a:solidFill>
              </a:rPr>
              <a:t>Trend lines</a:t>
            </a:r>
            <a:endParaRPr lang="en-US" sz="1600" dirty="0"/>
          </a:p>
        </p:txBody>
      </p:sp>
      <p:sp>
        <p:nvSpPr>
          <p:cNvPr id="13" name="Text 9"/>
          <p:cNvSpPr txBox="1"/>
          <p:nvPr/>
        </p:nvSpPr>
        <p:spPr>
          <a:xfrm>
            <a:off x="8229600" y="2935224"/>
            <a:ext cx="3291840" cy="548640"/>
          </a:xfrm>
          <a:prstGeom prst="rect">
            <a:avLst/>
          </a:prstGeom>
          <a:noFill/>
          <a:ln/>
        </p:spPr>
        <p:txBody>
          <a:bodyPr wrap="square" lIns="0" tIns="0" rIns="0" bIns="0" rtlCol="0" anchor="t"/>
          <a:lstStyle/>
          <a:p>
            <a:pPr indent="0" marL="0">
              <a:buNone/>
            </a:pPr>
            <a:r>
              <a:rPr lang="en-US" sz="1400" dirty="0">
                <a:solidFill>
                  <a:srgbClr val="4A4A4A"/>
                </a:solidFill>
              </a:rPr>
              <a:t>a small daily trend under each number</a:t>
            </a:r>
            <a:endParaRPr lang="en-US" sz="1400" dirty="0"/>
          </a:p>
        </p:txBody>
      </p:sp>
      <p:sp>
        <p:nvSpPr>
          <p:cNvPr id="14" name="Shape 10"/>
          <p:cNvSpPr/>
          <p:nvPr/>
        </p:nvSpPr>
        <p:spPr>
          <a:xfrm>
            <a:off x="7589520" y="3621024"/>
            <a:ext cx="457200" cy="457200"/>
          </a:xfrm>
          <a:prstGeom prst="ellipse">
            <a:avLst/>
          </a:prstGeom>
          <a:solidFill>
            <a:srgbClr val="612141"/>
          </a:solidFill>
          <a:ln w="12700">
            <a:solidFill>
              <a:srgbClr val="612141"/>
            </a:solidFill>
            <a:prstDash val="solid"/>
          </a:ln>
        </p:spPr>
      </p:sp>
      <p:sp>
        <p:nvSpPr>
          <p:cNvPr id="15" name="Text 11"/>
          <p:cNvSpPr txBox="1"/>
          <p:nvPr/>
        </p:nvSpPr>
        <p:spPr>
          <a:xfrm>
            <a:off x="7589520" y="3621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2"/>
          <p:cNvSpPr txBox="1"/>
          <p:nvPr/>
        </p:nvSpPr>
        <p:spPr>
          <a:xfrm>
            <a:off x="8229600" y="3602736"/>
            <a:ext cx="3291840" cy="320040"/>
          </a:xfrm>
          <a:prstGeom prst="rect">
            <a:avLst/>
          </a:prstGeom>
          <a:noFill/>
          <a:ln/>
        </p:spPr>
        <p:txBody>
          <a:bodyPr wrap="square" lIns="0" tIns="0" rIns="0" bIns="0" rtlCol="0" anchor="t"/>
          <a:lstStyle/>
          <a:p>
            <a:pPr indent="0" marL="0">
              <a:buNone/>
            </a:pPr>
            <a:r>
              <a:rPr lang="en-US" sz="1600" b="1" dirty="0">
                <a:solidFill>
                  <a:srgbClr val="222222"/>
                </a:solidFill>
              </a:rPr>
              <a:t>Bars per hospital</a:t>
            </a:r>
            <a:endParaRPr lang="en-US" sz="1600" dirty="0"/>
          </a:p>
        </p:txBody>
      </p:sp>
      <p:sp>
        <p:nvSpPr>
          <p:cNvPr id="17" name="Text 13"/>
          <p:cNvSpPr txBox="1"/>
          <p:nvPr/>
        </p:nvSpPr>
        <p:spPr>
          <a:xfrm>
            <a:off x="8229600" y="3922776"/>
            <a:ext cx="3291840" cy="548640"/>
          </a:xfrm>
          <a:prstGeom prst="rect">
            <a:avLst/>
          </a:prstGeom>
          <a:noFill/>
          <a:ln/>
        </p:spPr>
        <p:txBody>
          <a:bodyPr wrap="square" lIns="0" tIns="0" rIns="0" bIns="0" rtlCol="0" anchor="t"/>
          <a:lstStyle/>
          <a:p>
            <a:pPr indent="0" marL="0">
              <a:buNone/>
            </a:pPr>
            <a:r>
              <a:rPr lang="en-US" sz="1400" dirty="0">
                <a:solidFill>
                  <a:srgbClr val="4A4A4A"/>
                </a:solidFill>
              </a:rPr>
              <a:t>grouped by health zone, filterable</a:t>
            </a:r>
            <a:endParaRPr lang="en-US" sz="1400" dirty="0"/>
          </a:p>
        </p:txBody>
      </p:sp>
      <p:sp>
        <p:nvSpPr>
          <p:cNvPr id="18" name="Shape 14"/>
          <p:cNvSpPr/>
          <p:nvPr/>
        </p:nvSpPr>
        <p:spPr>
          <a:xfrm>
            <a:off x="7589520" y="4608576"/>
            <a:ext cx="457200" cy="457200"/>
          </a:xfrm>
          <a:prstGeom prst="ellipse">
            <a:avLst/>
          </a:prstGeom>
          <a:solidFill>
            <a:srgbClr val="612141"/>
          </a:solidFill>
          <a:ln w="12700">
            <a:solidFill>
              <a:srgbClr val="612141"/>
            </a:solidFill>
            <a:prstDash val="solid"/>
          </a:ln>
        </p:spPr>
      </p:sp>
      <p:sp>
        <p:nvSpPr>
          <p:cNvPr id="19" name="Text 15"/>
          <p:cNvSpPr txBox="1"/>
          <p:nvPr/>
        </p:nvSpPr>
        <p:spPr>
          <a:xfrm>
            <a:off x="758952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0" name="Text 16"/>
          <p:cNvSpPr txBox="1"/>
          <p:nvPr/>
        </p:nvSpPr>
        <p:spPr>
          <a:xfrm>
            <a:off x="8229600" y="4590288"/>
            <a:ext cx="3291840" cy="320040"/>
          </a:xfrm>
          <a:prstGeom prst="rect">
            <a:avLst/>
          </a:prstGeom>
          <a:noFill/>
          <a:ln/>
        </p:spPr>
        <p:txBody>
          <a:bodyPr wrap="square" lIns="0" tIns="0" rIns="0" bIns="0" rtlCol="0" anchor="t"/>
          <a:lstStyle/>
          <a:p>
            <a:pPr indent="0" marL="0">
              <a:buNone/>
            </a:pPr>
            <a:r>
              <a:rPr lang="en-US" sz="1600" b="1" dirty="0">
                <a:solidFill>
                  <a:srgbClr val="222222"/>
                </a:solidFill>
              </a:rPr>
              <a:t>An honest limit</a:t>
            </a:r>
            <a:endParaRPr lang="en-US" sz="1600" dirty="0"/>
          </a:p>
        </p:txBody>
      </p:sp>
      <p:sp>
        <p:nvSpPr>
          <p:cNvPr id="21" name="Text 17"/>
          <p:cNvSpPr txBox="1"/>
          <p:nvPr/>
        </p:nvSpPr>
        <p:spPr>
          <a:xfrm>
            <a:off x="8229600" y="4910328"/>
            <a:ext cx="3291840" cy="548640"/>
          </a:xfrm>
          <a:prstGeom prst="rect">
            <a:avLst/>
          </a:prstGeom>
          <a:noFill/>
          <a:ln/>
        </p:spPr>
        <p:txBody>
          <a:bodyPr wrap="square" lIns="0" tIns="0" rIns="0" bIns="0" rtlCol="0" anchor="t"/>
          <a:lstStyle/>
          <a:p>
            <a:pPr indent="0" marL="0">
              <a:buNone/>
            </a:pPr>
            <a:r>
              <a:rPr lang="en-US" sz="1400" dirty="0">
                <a:solidFill>
                  <a:srgbClr val="4A4A4A"/>
                </a:solidFill>
              </a:rPr>
              <a:t>the banner says some data is left out for now</a:t>
            </a:r>
            <a:endParaRPr lang="en-US" sz="1400" dirty="0"/>
          </a:p>
        </p:txBody>
      </p:sp>
      <p:sp>
        <p:nvSpPr>
          <p:cNvPr id="22" name="Text 18"/>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Nova Scotia Health, Action for Health – Public Reporting, "Hospital Inpatient Occupancy – Daily" (Tableau Public), data for Oct 25, 2026; screenshot Oct 27,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lIns="0" tIns="0" rIns="0" bIns="0" rtlCol="0" anchor="b"/>
          <a:lstStyle/>
          <a:p>
            <a:pPr indent="0" marL="0">
              <a:buNone/>
            </a:pPr>
            <a:r>
              <a:rPr lang="en-US" sz="7200" dirty="0">
                <a:solidFill>
                  <a:srgbClr val="D9A7B7"/>
                </a:solidFill>
                <a:latin typeface="Cambria" pitchFamily="34" charset="0"/>
                <a:ea typeface="Cambria" pitchFamily="34" charset="-122"/>
                <a:cs typeface="Cambria" pitchFamily="34" charset="-120"/>
              </a:rPr>
              <a:t>03</a:t>
            </a: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lIns="0" tIns="0" rIns="0" bIns="0" rtlCol="0" anchor="t"/>
          <a:lstStyle/>
          <a:p>
            <a:pPr algn="l" indent="0" marL="0">
              <a:buNone/>
            </a:pPr>
            <a:r>
              <a:rPr lang="en-US" sz="4000" dirty="0">
                <a:solidFill>
                  <a:schemeClr val="bg1"/>
                </a:solidFill>
                <a:latin typeface="Cambria" pitchFamily="34" charset="0"/>
                <a:ea typeface="Cambria" pitchFamily="34" charset="-122"/>
                <a:cs typeface="Cambria" pitchFamily="34" charset="-120"/>
              </a:rPr>
              <a:t>The chart gallery: one question per chart</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1 LINE</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Costume searches spike for about a month; candy never goes quiet</a:t>
            </a:r>
            <a:endParaRPr lang="en-US" sz="2800" dirty="0"/>
          </a:p>
        </p:txBody>
      </p:sp>
      <p:pic>
        <p:nvPicPr>
          <p:cNvPr id="5" name="Image 0" descr="out3/seasonal_run/chart1 line halloween.png">    </p:cNvPr>
          <p:cNvPicPr>
            <a:picLocks noChangeAspect="1"/>
          </p:cNvPicPr>
          <p:nvPr/>
        </p:nvPicPr>
        <p:blipFill>
          <a:blip r:embed="rId1"/>
          <a:stretch>
            <a:fillRect/>
          </a:stretch>
        </p:blipFill>
        <p:spPr>
          <a:xfrm>
            <a:off x="640080" y="1600200"/>
            <a:ext cx="6675120" cy="3451313"/>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When does Halloween start on Google?</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MATPLOTLIB</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ax.plot(one["week"], one["interest"],</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color=COLOURS[lane], label=lane)</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Costume interest is near zero for ten months, climbs through September and explodes in the last two weeks of October, the same shape every year. Candy sits between 35 and 60 with two bumps: Halloween and Christmas.</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Relative interest, not sales: we know when people search, not how many or what they bought.</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2 BAR</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Candy and sunscreen are always-on; valentines day is a one-week wonder</a:t>
            </a:r>
            <a:endParaRPr lang="en-US" sz="2800" dirty="0"/>
          </a:p>
        </p:txBody>
      </p:sp>
      <p:pic>
        <p:nvPicPr>
          <p:cNvPr id="5" name="Image 0" descr="out3/seasonal_run/chart2 bar lane means.png">    </p:cNvPr>
          <p:cNvPicPr>
            <a:picLocks noChangeAspect="1"/>
          </p:cNvPicPr>
          <p:nvPr/>
        </p:nvPicPr>
        <p:blipFill>
          <a:blip r:embed="rId1"/>
          <a:stretch>
            <a:fillRect/>
          </a:stretch>
        </p:blipFill>
        <p:spPr>
          <a:xfrm>
            <a:off x="640080" y="1600200"/>
            <a:ext cx="6675120" cy="3613789"/>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Which lanes are always-on and which are spikes?</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MATPLOTLIB</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means = trends.groupby("lane")["interest"].mean()</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ax.barh(means.index, means.values)</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The average tells you how spread out a season is. A store in a spike lane lives or dies on timing; an always-on lane needs steady stock and a plan for the bumps.</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An average hides when. The heatmap answers that.</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3 GROUPED BAR</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Costumes, candy and decorations each pass $4B; cards are the small slice</a:t>
            </a:r>
            <a:endParaRPr lang="en-US" sz="2800" dirty="0"/>
          </a:p>
        </p:txBody>
      </p:sp>
      <p:pic>
        <p:nvPicPr>
          <p:cNvPr id="5" name="Image 0" descr="out3/seasonal_run/chart3 grouped bar spending.png">    </p:cNvPr>
          <p:cNvPicPr>
            <a:picLocks noChangeAspect="1"/>
          </p:cNvPicPr>
          <p:nvPr/>
        </p:nvPicPr>
        <p:blipFill>
          <a:blip r:embed="rId1"/>
          <a:stretch>
            <a:fillRect/>
          </a:stretch>
        </p:blipFill>
        <p:spPr>
          <a:xfrm>
            <a:off x="640080" y="1600200"/>
            <a:ext cx="6675120" cy="3535929"/>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Where does the Halloween dollar go?</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PANDAS + MATPLOTLIB</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recent.plot.bar(ax=ax, width=0.8)   # one bar per</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category, grouped by year</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Three categories of roughly equal size, all growing, with a dip in 2024 (the $11.6B year). 2026: costumes $4.4B, candy $4.1B, decorations $4.3B, cards $0.8B.</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US shoppers, US dollars, a survey forecast each September. Canada will rhyme with it; we do not have the Canadian number.</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NRF / Prosper Insights &amp; Analytics annual Halloween consumer survey (nrf.com Halloween Data Center); US consumers, US dollars; 2026 is the September forecast</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4 HISTOGRAM</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Costume interest is under 10 in 209 of 262 weeks; candy stays 35 to 60</a:t>
            </a:r>
            <a:endParaRPr lang="en-US" sz="2800" dirty="0"/>
          </a:p>
        </p:txBody>
      </p:sp>
      <p:pic>
        <p:nvPicPr>
          <p:cNvPr id="5" name="Image 0" descr="out3/seasonal_run/chart4 histogram weeks.png">    </p:cNvPr>
          <p:cNvPicPr>
            <a:picLocks noChangeAspect="1"/>
          </p:cNvPicPr>
          <p:nvPr/>
        </p:nvPicPr>
        <p:blipFill>
          <a:blip r:embed="rId1"/>
          <a:stretch>
            <a:fillRect/>
          </a:stretch>
        </p:blipFill>
        <p:spPr>
          <a:xfrm>
            <a:off x="640080" y="1600200"/>
            <a:ext cx="6675120" cy="3581159"/>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How many weeks a year are actually busy?</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MATPLOTLIB</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ax.hist(one["interest"], bins=range(0, 105, 5),</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alpha=0.65, label=lane)</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The shape of a season. A tall bar at the left plus a long tail is a spike business; a hump in the middle is a steady one. Costume scores above 50 in only 12 weeks out of 262.</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Bins too narrow turn spiky and the shape disappears; bins too wide hide the tail. We used 5.</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BOX-PLOT ANATOMY</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How to read a box plot: the middle half in a box, the median as a line</a:t>
            </a:r>
            <a:endParaRPr lang="en-US" sz="2800" dirty="0"/>
          </a:p>
        </p:txBody>
      </p:sp>
      <p:pic>
        <p:nvPicPr>
          <p:cNvPr id="5" name="Image 0" descr="/tmp/claude-0/-home-claude/93efb843-a8d1-5396-a1f0-bcc38514be15/scratchpad/build/img_day3/box_anatomy_seasonal.png">    </p:cNvPr>
          <p:cNvPicPr>
            <a:picLocks noChangeAspect="1"/>
          </p:cNvPicPr>
          <p:nvPr/>
        </p:nvPicPr>
        <p:blipFill>
          <a:blip r:embed="rId1"/>
          <a:stretch>
            <a:fillRect/>
          </a:stretch>
        </p:blipFill>
        <p:spPr>
          <a:xfrm>
            <a:off x="640080" y="1554480"/>
            <a:ext cx="6519152" cy="4343400"/>
          </a:xfrm>
          <a:prstGeom prst="rect">
            <a:avLst/>
          </a:prstGeom>
        </p:spPr>
      </p:pic>
      <p:sp>
        <p:nvSpPr>
          <p:cNvPr id="6" name="Text 2"/>
          <p:cNvSpPr txBox="1"/>
          <p:nvPr/>
        </p:nvSpPr>
        <p:spPr>
          <a:xfrm>
            <a:off x="8503920" y="1691640"/>
            <a:ext cx="3044952" cy="320040"/>
          </a:xfrm>
          <a:prstGeom prst="rect">
            <a:avLst/>
          </a:prstGeom>
          <a:noFill/>
          <a:ln/>
        </p:spPr>
        <p:txBody>
          <a:bodyPr wrap="square" lIns="0" tIns="0" rIns="0" bIns="0" rtlCol="0" anchor="t"/>
          <a:lstStyle/>
          <a:p>
            <a:pPr indent="0" marL="0">
              <a:buNone/>
            </a:pPr>
            <a:r>
              <a:rPr lang="en-US" sz="1600" b="1" dirty="0">
                <a:solidFill>
                  <a:srgbClr val="612141"/>
                </a:solidFill>
              </a:rPr>
              <a:t>Box</a:t>
            </a:r>
            <a:endParaRPr lang="en-US" sz="1600" dirty="0"/>
          </a:p>
        </p:txBody>
      </p:sp>
      <p:sp>
        <p:nvSpPr>
          <p:cNvPr id="7" name="Text 3"/>
          <p:cNvSpPr txBox="1"/>
          <p:nvPr/>
        </p:nvSpPr>
        <p:spPr>
          <a:xfrm>
            <a:off x="8503920" y="2020824"/>
            <a:ext cx="3044952" cy="548640"/>
          </a:xfrm>
          <a:prstGeom prst="rect">
            <a:avLst/>
          </a:prstGeom>
          <a:noFill/>
          <a:ln/>
        </p:spPr>
        <p:txBody>
          <a:bodyPr wrap="square" lIns="0" tIns="0" rIns="0" bIns="0" rtlCol="0" anchor="t"/>
          <a:lstStyle/>
          <a:p>
            <a:pPr indent="0" marL="0">
              <a:buNone/>
            </a:pPr>
            <a:r>
              <a:rPr lang="en-US" sz="1400" dirty="0">
                <a:solidFill>
                  <a:srgbClr val="4A4A4A"/>
                </a:solidFill>
              </a:rPr>
              <a:t>the middle half of the weeks</a:t>
            </a:r>
            <a:endParaRPr lang="en-US" sz="1400" dirty="0"/>
          </a:p>
        </p:txBody>
      </p:sp>
      <p:sp>
        <p:nvSpPr>
          <p:cNvPr id="8" name="Text 4"/>
          <p:cNvSpPr txBox="1"/>
          <p:nvPr/>
        </p:nvSpPr>
        <p:spPr>
          <a:xfrm>
            <a:off x="8503920" y="2679192"/>
            <a:ext cx="3044952" cy="320040"/>
          </a:xfrm>
          <a:prstGeom prst="rect">
            <a:avLst/>
          </a:prstGeom>
          <a:noFill/>
          <a:ln/>
        </p:spPr>
        <p:txBody>
          <a:bodyPr wrap="square" lIns="0" tIns="0" rIns="0" bIns="0" rtlCol="0" anchor="t"/>
          <a:lstStyle/>
          <a:p>
            <a:pPr indent="0" marL="0">
              <a:buNone/>
            </a:pPr>
            <a:r>
              <a:rPr lang="en-US" sz="1600" b="1" dirty="0">
                <a:solidFill>
                  <a:srgbClr val="612141"/>
                </a:solidFill>
              </a:rPr>
              <a:t>Line in the box</a:t>
            </a:r>
            <a:endParaRPr lang="en-US" sz="1600" dirty="0"/>
          </a:p>
        </p:txBody>
      </p:sp>
      <p:sp>
        <p:nvSpPr>
          <p:cNvPr id="9" name="Text 5"/>
          <p:cNvSpPr txBox="1"/>
          <p:nvPr/>
        </p:nvSpPr>
        <p:spPr>
          <a:xfrm>
            <a:off x="8503920" y="3008376"/>
            <a:ext cx="3044952" cy="548640"/>
          </a:xfrm>
          <a:prstGeom prst="rect">
            <a:avLst/>
          </a:prstGeom>
          <a:noFill/>
          <a:ln/>
        </p:spPr>
        <p:txBody>
          <a:bodyPr wrap="square" lIns="0" tIns="0" rIns="0" bIns="0" rtlCol="0" anchor="t"/>
          <a:lstStyle/>
          <a:p>
            <a:pPr indent="0" marL="0">
              <a:buNone/>
            </a:pPr>
            <a:r>
              <a:rPr lang="en-US" sz="1400" dirty="0">
                <a:solidFill>
                  <a:srgbClr val="4A4A4A"/>
                </a:solidFill>
              </a:rPr>
              <a:t>the median: the typical week</a:t>
            </a:r>
            <a:endParaRPr lang="en-US" sz="1400" dirty="0"/>
          </a:p>
        </p:txBody>
      </p:sp>
      <p:sp>
        <p:nvSpPr>
          <p:cNvPr id="10" name="Text 6"/>
          <p:cNvSpPr txBox="1"/>
          <p:nvPr/>
        </p:nvSpPr>
        <p:spPr>
          <a:xfrm>
            <a:off x="8503920" y="3666744"/>
            <a:ext cx="3044952" cy="320040"/>
          </a:xfrm>
          <a:prstGeom prst="rect">
            <a:avLst/>
          </a:prstGeom>
          <a:noFill/>
          <a:ln/>
        </p:spPr>
        <p:txBody>
          <a:bodyPr wrap="square" lIns="0" tIns="0" rIns="0" bIns="0" rtlCol="0" anchor="t"/>
          <a:lstStyle/>
          <a:p>
            <a:pPr indent="0" marL="0">
              <a:buNone/>
            </a:pPr>
            <a:r>
              <a:rPr lang="en-US" sz="1600" b="1" dirty="0">
                <a:solidFill>
                  <a:srgbClr val="612141"/>
                </a:solidFill>
              </a:rPr>
              <a:t>Whiskers</a:t>
            </a:r>
            <a:endParaRPr lang="en-US" sz="1600" dirty="0"/>
          </a:p>
        </p:txBody>
      </p:sp>
      <p:sp>
        <p:nvSpPr>
          <p:cNvPr id="11" name="Text 7"/>
          <p:cNvSpPr txBox="1"/>
          <p:nvPr/>
        </p:nvSpPr>
        <p:spPr>
          <a:xfrm>
            <a:off x="8503920" y="3995928"/>
            <a:ext cx="3044952" cy="548640"/>
          </a:xfrm>
          <a:prstGeom prst="rect">
            <a:avLst/>
          </a:prstGeom>
          <a:noFill/>
          <a:ln/>
        </p:spPr>
        <p:txBody>
          <a:bodyPr wrap="square" lIns="0" tIns="0" rIns="0" bIns="0" rtlCol="0" anchor="t"/>
          <a:lstStyle/>
          <a:p>
            <a:pPr indent="0" marL="0">
              <a:buNone/>
            </a:pPr>
            <a:r>
              <a:rPr lang="en-US" sz="1400" dirty="0">
                <a:solidFill>
                  <a:srgbClr val="4A4A4A"/>
                </a:solidFill>
              </a:rPr>
              <a:t>the rest of the usual weeks</a:t>
            </a:r>
            <a:endParaRPr lang="en-US" sz="1400" dirty="0"/>
          </a:p>
        </p:txBody>
      </p:sp>
      <p:sp>
        <p:nvSpPr>
          <p:cNvPr id="12" name="Text 8"/>
          <p:cNvSpPr txBox="1"/>
          <p:nvPr/>
        </p:nvSpPr>
        <p:spPr>
          <a:xfrm>
            <a:off x="8503920" y="4654296"/>
            <a:ext cx="3044952" cy="320040"/>
          </a:xfrm>
          <a:prstGeom prst="rect">
            <a:avLst/>
          </a:prstGeom>
          <a:noFill/>
          <a:ln/>
        </p:spPr>
        <p:txBody>
          <a:bodyPr wrap="square" lIns="0" tIns="0" rIns="0" bIns="0" rtlCol="0" anchor="t"/>
          <a:lstStyle/>
          <a:p>
            <a:pPr indent="0" marL="0">
              <a:buNone/>
            </a:pPr>
            <a:r>
              <a:rPr lang="en-US" sz="1600" b="1" dirty="0">
                <a:solidFill>
                  <a:srgbClr val="612141"/>
                </a:solidFill>
              </a:rPr>
              <a:t>Dots</a:t>
            </a:r>
            <a:endParaRPr lang="en-US" sz="1600" dirty="0"/>
          </a:p>
        </p:txBody>
      </p:sp>
      <p:sp>
        <p:nvSpPr>
          <p:cNvPr id="13" name="Text 9"/>
          <p:cNvSpPr txBox="1"/>
          <p:nvPr/>
        </p:nvSpPr>
        <p:spPr>
          <a:xfrm>
            <a:off x="8503920" y="4983480"/>
            <a:ext cx="3044952" cy="548640"/>
          </a:xfrm>
          <a:prstGeom prst="rect">
            <a:avLst/>
          </a:prstGeom>
          <a:noFill/>
          <a:ln/>
        </p:spPr>
        <p:txBody>
          <a:bodyPr wrap="square" lIns="0" tIns="0" rIns="0" bIns="0" rtlCol="0" anchor="t"/>
          <a:lstStyle/>
          <a:p>
            <a:pPr indent="0" marL="0">
              <a:buNone/>
            </a:pPr>
            <a:r>
              <a:rPr lang="en-US" sz="1400" dirty="0">
                <a:solidFill>
                  <a:srgbClr val="4A4A4A"/>
                </a:solidFill>
              </a:rPr>
              <a:t>unusual weeks, shown one by one: here, the season</a:t>
            </a:r>
            <a:endParaRPr lang="en-US" sz="1400" dirty="0"/>
          </a:p>
        </p:txBody>
      </p:sp>
      <p:sp>
        <p:nvSpPr>
          <p:cNvPr id="14" name="Text 10"/>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5 BOX PLOT</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Pumpkin spice season is September and October, with August as the ramp</a:t>
            </a:r>
            <a:endParaRPr lang="en-US" sz="2800" dirty="0"/>
          </a:p>
        </p:txBody>
      </p:sp>
      <p:pic>
        <p:nvPicPr>
          <p:cNvPr id="5" name="Image 0" descr="out3/seasonal_run/chart5 box pumpkin months.png">    </p:cNvPr>
          <p:cNvPicPr>
            <a:picLocks noChangeAspect="1"/>
          </p:cNvPicPr>
          <p:nvPr/>
        </p:nvPicPr>
        <p:blipFill>
          <a:blip r:embed="rId1"/>
          <a:stretch>
            <a:fillRect/>
          </a:stretch>
        </p:blipFill>
        <p:spPr>
          <a:xfrm>
            <a:off x="640080" y="1600200"/>
            <a:ext cx="6675120" cy="3486711"/>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Which month, and how sure are we?</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SEABORN</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sns.boxplot(data=one, x="month_name",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y="interest", order=MONTHS)</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August's box is short and low but its whisker is tall: most August weeks are quiet, a couple are already busy. That whisker is the stock-up week. September and October boxes sit high: the season.</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Five Augusts is a small sample; one strange year moves the box.</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6 SCATTER</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Weeks with more costume searching have more candy searching (r = 0.40)</a:t>
            </a:r>
            <a:endParaRPr lang="en-US" sz="2800" dirty="0"/>
          </a:p>
        </p:txBody>
      </p:sp>
      <p:pic>
        <p:nvPicPr>
          <p:cNvPr id="5" name="Image 0" descr="out3/seasonal_run/chart6 scatter costume candy.png">    </p:cNvPr>
          <p:cNvPicPr>
            <a:picLocks noChangeAspect="1"/>
          </p:cNvPicPr>
          <p:nvPr/>
        </p:nvPicPr>
        <p:blipFill>
          <a:blip r:embed="rId1"/>
          <a:stretch>
            <a:fillRect/>
          </a:stretch>
        </p:blipFill>
        <p:spPr>
          <a:xfrm>
            <a:off x="640080" y="1600200"/>
            <a:ext cx="6508376" cy="4206240"/>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Do costume and candy searches move together?</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PANDAS + MATPLOTLIB</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ax.scatter(pair["halloween costume"], pair["candy"])</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r = pair["halloween costume"].corr(pair["candy"])</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The dots lean up and to the right: r = 0.40, a moderate link. Most weeks are quiet for both; the busy costume weeks are only some of candy's busy weeks, because candy has Christmas too.</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Not causation. Neither causes the other; the calendar causes both. Say it on your slide if you use a scatter.</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CHART GALLERY · 7 HEATMAP</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Eight lanes, eight seasons: every month belongs to somebody</a:t>
            </a:r>
            <a:endParaRPr lang="en-US" sz="2800" dirty="0"/>
          </a:p>
        </p:txBody>
      </p:sp>
      <p:pic>
        <p:nvPicPr>
          <p:cNvPr id="5" name="Image 0" descr="out3/seasonal_run/chart7 heatmap lane month.png">    </p:cNvPr>
          <p:cNvPicPr>
            <a:picLocks noChangeAspect="1"/>
          </p:cNvPicPr>
          <p:nvPr/>
        </p:nvPicPr>
        <p:blipFill>
          <a:blip r:embed="rId1"/>
          <a:stretch>
            <a:fillRect/>
          </a:stretch>
        </p:blipFill>
        <p:spPr>
          <a:xfrm>
            <a:off x="640080" y="1600200"/>
            <a:ext cx="6675120" cy="3730942"/>
          </a:xfrm>
          <a:prstGeom prst="rect">
            <a:avLst/>
          </a:prstGeom>
        </p:spPr>
      </p:pic>
      <p:sp>
        <p:nvSpPr>
          <p:cNvPr id="6" name="Text 2"/>
          <p:cNvSpPr txBox="1"/>
          <p:nvPr/>
        </p:nvSpPr>
        <p:spPr>
          <a:xfrm>
            <a:off x="7635240" y="1600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QUESTION</a:t>
            </a:r>
            <a:endParaRPr lang="en-US" sz="1200" dirty="0"/>
          </a:p>
        </p:txBody>
      </p:sp>
      <p:sp>
        <p:nvSpPr>
          <p:cNvPr id="7" name="Text 3"/>
          <p:cNvSpPr txBox="1"/>
          <p:nvPr/>
        </p:nvSpPr>
        <p:spPr>
          <a:xfrm>
            <a:off x="7635240" y="1856232"/>
            <a:ext cx="3913632" cy="502920"/>
          </a:xfrm>
          <a:prstGeom prst="rect">
            <a:avLst/>
          </a:prstGeom>
          <a:noFill/>
          <a:ln/>
        </p:spPr>
        <p:txBody>
          <a:bodyPr wrap="square" lIns="0" tIns="0" rIns="0" bIns="0" rtlCol="0" anchor="t"/>
          <a:lstStyle/>
          <a:p>
            <a:pPr indent="0" marL="0">
              <a:buNone/>
            </a:pPr>
            <a:r>
              <a:rPr lang="en-US" sz="1400" i="1" dirty="0">
                <a:solidFill>
                  <a:srgbClr val="222222"/>
                </a:solidFill>
              </a:rPr>
              <a:t>What does the whole year look like, for every lane at once?</a:t>
            </a:r>
            <a:endParaRPr lang="en-US" sz="1400" dirty="0"/>
          </a:p>
        </p:txBody>
      </p:sp>
      <p:sp>
        <p:nvSpPr>
          <p:cNvPr id="8" name="Text 4"/>
          <p:cNvSpPr txBox="1"/>
          <p:nvPr/>
        </p:nvSpPr>
        <p:spPr>
          <a:xfrm>
            <a:off x="7635240" y="237744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SEABORN</a:t>
            </a:r>
            <a:endParaRPr lang="en-US" sz="1200" dirty="0"/>
          </a:p>
        </p:txBody>
      </p:sp>
      <p:sp>
        <p:nvSpPr>
          <p:cNvPr id="9" name="Shape 5"/>
          <p:cNvSpPr/>
          <p:nvPr/>
        </p:nvSpPr>
        <p:spPr>
          <a:xfrm>
            <a:off x="7635240" y="2633472"/>
            <a:ext cx="3913632" cy="868680"/>
          </a:xfrm>
          <a:prstGeom prst="roundRect">
            <a:avLst>
              <a:gd name="adj" fmla="val 8421"/>
            </a:avLst>
          </a:prstGeom>
          <a:solidFill>
            <a:srgbClr val="262626"/>
          </a:solidFill>
          <a:ln w="9525">
            <a:solidFill>
              <a:srgbClr val="262626"/>
            </a:solidFill>
            <a:prstDash val="solid"/>
          </a:ln>
        </p:spPr>
      </p:sp>
      <p:sp>
        <p:nvSpPr>
          <p:cNvPr id="10" name="Text 6"/>
          <p:cNvSpPr txBox="1"/>
          <p:nvPr/>
        </p:nvSpPr>
        <p:spPr>
          <a:xfrm>
            <a:off x="7818120" y="2770632"/>
            <a:ext cx="3547872" cy="594360"/>
          </a:xfrm>
          <a:prstGeom prst="rect">
            <a:avLst/>
          </a:prstGeom>
          <a:noFill/>
          <a:ln/>
        </p:spPr>
        <p:txBody>
          <a:bodyPr wrap="square" lIns="0" tIns="0" rIns="0" bIns="0" rtlCol="0" anchor="ctr"/>
          <a:lstStyle/>
          <a:p>
            <a:pPr indent="0" marL="0">
              <a:buNone/>
            </a:pPr>
            <a:r>
              <a:rPr lang="en-US" sz="1050" dirty="0">
                <a:solidFill>
                  <a:srgbClr val="F2F2F2"/>
                </a:solidFill>
                <a:latin typeface="Courier New" pitchFamily="34" charset="0"/>
                <a:ea typeface="Courier New" pitchFamily="34" charset="-122"/>
                <a:cs typeface="Courier New" pitchFamily="34" charset="-120"/>
              </a:rPr>
              <a:t>sns.heatmap(calendar_table, annot=True,</a:t>
            </a:r>
            <a:endParaRPr lang="en-US" sz="1050" dirty="0"/>
          </a:p>
          <a:p>
            <a:pPr indent="0" marL="0">
              <a:buNone/>
            </a:pPr>
            <a:r>
              <a:rPr lang="en-US" sz="1050" dirty="0">
                <a:solidFill>
                  <a:srgbClr val="F2F2F2"/>
                </a:solidFill>
                <a:latin typeface="Courier New" pitchFamily="34" charset="0"/>
                <a:ea typeface="Courier New" pitchFamily="34" charset="-122"/>
                <a:cs typeface="Courier New" pitchFamily="34" charset="-120"/>
              </a:rPr>
              <a:t>            fmt=".0f", cmap="Oranges")</a:t>
            </a:r>
            <a:endParaRPr lang="en-US" sz="1050" dirty="0"/>
          </a:p>
        </p:txBody>
      </p:sp>
      <p:sp>
        <p:nvSpPr>
          <p:cNvPr id="11" name="Text 7"/>
          <p:cNvSpPr txBox="1"/>
          <p:nvPr/>
        </p:nvSpPr>
        <p:spPr>
          <a:xfrm>
            <a:off x="7635240" y="361188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WHAT WE CAN INFER</a:t>
            </a:r>
            <a:endParaRPr lang="en-US" sz="1200" dirty="0"/>
          </a:p>
        </p:txBody>
      </p:sp>
      <p:sp>
        <p:nvSpPr>
          <p:cNvPr id="12" name="Text 8"/>
          <p:cNvSpPr txBox="1"/>
          <p:nvPr/>
        </p:nvSpPr>
        <p:spPr>
          <a:xfrm>
            <a:off x="7635240" y="3867912"/>
            <a:ext cx="3913632" cy="1097280"/>
          </a:xfrm>
          <a:prstGeom prst="rect">
            <a:avLst/>
          </a:prstGeom>
          <a:noFill/>
          <a:ln/>
        </p:spPr>
        <p:txBody>
          <a:bodyPr wrap="square" lIns="0" tIns="0" rIns="0" bIns="0" rtlCol="0" anchor="t"/>
          <a:lstStyle/>
          <a:p>
            <a:pPr indent="0" marL="0">
              <a:buNone/>
            </a:pPr>
            <a:r>
              <a:rPr lang="en-US" sz="1250" dirty="0">
                <a:solidFill>
                  <a:srgbClr val="222222"/>
                </a:solidFill>
              </a:rPr>
              <a:t>Read across a row for a lane's season, down a column for who is busy this month. October: costumes, pumpkin spice, snow tires. December: gifts and candy. February: valentines. May to July: sunscreen. August: back to school.</a:t>
            </a:r>
            <a:endParaRPr lang="en-US" sz="1250" dirty="0"/>
          </a:p>
        </p:txBody>
      </p:sp>
      <p:sp>
        <p:nvSpPr>
          <p:cNvPr id="13" name="Text 9"/>
          <p:cNvSpPr txBox="1"/>
          <p:nvPr/>
        </p:nvSpPr>
        <p:spPr>
          <a:xfrm>
            <a:off x="7635240" y="5029200"/>
            <a:ext cx="4572000" cy="274320"/>
          </a:xfrm>
          <a:prstGeom prst="rect">
            <a:avLst/>
          </a:prstGeom>
          <a:noFill/>
          <a:ln/>
        </p:spPr>
        <p:txBody>
          <a:bodyPr wrap="square" lIns="0" tIns="0" rIns="0" bIns="0" rtlCol="0" anchor="t"/>
          <a:lstStyle/>
          <a:p>
            <a:pPr indent="0" marL="0">
              <a:buNone/>
            </a:pPr>
            <a:r>
              <a:rPr lang="en-US" sz="1200" b="1" spc="100" kern="0" dirty="0">
                <a:solidFill>
                  <a:srgbClr val="9D2235"/>
                </a:solidFill>
              </a:rPr>
              <a:t>THE LIMIT</a:t>
            </a:r>
            <a:endParaRPr lang="en-US" sz="1200" dirty="0"/>
          </a:p>
        </p:txBody>
      </p:sp>
      <p:sp>
        <p:nvSpPr>
          <p:cNvPr id="14" name="Text 10"/>
          <p:cNvSpPr txBox="1"/>
          <p:nvPr/>
        </p:nvSpPr>
        <p:spPr>
          <a:xfrm>
            <a:off x="7635240" y="5285232"/>
            <a:ext cx="3913632" cy="640080"/>
          </a:xfrm>
          <a:prstGeom prst="rect">
            <a:avLst/>
          </a:prstGeom>
          <a:noFill/>
          <a:ln/>
        </p:spPr>
        <p:txBody>
          <a:bodyPr wrap="square" lIns="0" tIns="0" rIns="0" bIns="0" rtlCol="0" anchor="t"/>
          <a:lstStyle/>
          <a:p>
            <a:pPr indent="0" marL="0">
              <a:buNone/>
            </a:pPr>
            <a:r>
              <a:rPr lang="en-US" sz="1250" dirty="0">
                <a:solidFill>
                  <a:srgbClr val="222222"/>
                </a:solidFill>
              </a:rPr>
              <a:t>Monthly averages blur the exact week; season maths finds the week.</a:t>
            </a:r>
            <a:endParaRPr lang="en-US" sz="1250" dirty="0"/>
          </a:p>
        </p:txBody>
      </p:sp>
      <p:sp>
        <p:nvSpPr>
          <p:cNvPr id="15" name="Text 11"/>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MAKE IT HONEST</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Start bars at zero: an axis starting at 9 turns 34% growth into an explosion</a:t>
            </a:r>
            <a:endParaRPr lang="en-US" sz="2800" dirty="0"/>
          </a:p>
        </p:txBody>
      </p:sp>
      <p:pic>
        <p:nvPicPr>
          <p:cNvPr id="5" name="Image 0" descr="out3/seasonal_run/chart8 honest axis.png">    </p:cNvPr>
          <p:cNvPicPr>
            <a:picLocks noChangeAspect="1"/>
          </p:cNvPicPr>
          <p:nvPr/>
        </p:nvPicPr>
        <p:blipFill>
          <a:blip r:embed="rId1"/>
          <a:stretch>
            <a:fillRect/>
          </a:stretch>
        </p:blipFill>
        <p:spPr>
          <a:xfrm>
            <a:off x="1578465" y="1554480"/>
            <a:ext cx="9032023" cy="4297680"/>
          </a:xfrm>
          <a:prstGeom prst="rect">
            <a:avLst/>
          </a:prstGeom>
        </p:spPr>
      </p:pic>
      <p:sp>
        <p:nvSpPr>
          <p:cNvPr id="6" name="Text 2"/>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NRF / Prosper Insights &amp; Analytics annual Halloween consumer survey (nrf.com Halloween Data Center); US consumers, US dollars; 2026 is the September forecast</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MAKE IT HONEST · MAKEOVER</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Same numbers, two charts: the second says what it found</a:t>
            </a:r>
            <a:endParaRPr lang="en-US" sz="2800" dirty="0"/>
          </a:p>
        </p:txBody>
      </p:sp>
      <p:sp>
        <p:nvSpPr>
          <p:cNvPr id="5" name="Text 2"/>
          <p:cNvSpPr txBox="1"/>
          <p:nvPr/>
        </p:nvSpPr>
        <p:spPr>
          <a:xfrm>
            <a:off x="640080" y="1600200"/>
            <a:ext cx="4572000" cy="274320"/>
          </a:xfrm>
          <a:prstGeom prst="rect">
            <a:avLst/>
          </a:prstGeom>
          <a:noFill/>
          <a:ln/>
        </p:spPr>
        <p:txBody>
          <a:bodyPr wrap="square" lIns="0" tIns="0" rIns="0" bIns="0" rtlCol="0" anchor="t"/>
          <a:lstStyle/>
          <a:p>
            <a:pPr indent="0" marL="0">
              <a:buNone/>
            </a:pPr>
            <a:r>
              <a:rPr lang="en-US" sz="1200" b="1" spc="100" kern="0" dirty="0">
                <a:solidFill>
                  <a:srgbClr val="5F6368"/>
                </a:solidFill>
              </a:rPr>
              <a:t>BEFORE: DEFAULTS</a:t>
            </a:r>
            <a:endParaRPr lang="en-US" sz="1200" dirty="0"/>
          </a:p>
        </p:txBody>
      </p:sp>
      <p:pic>
        <p:nvPicPr>
          <p:cNvPr id="6" name="Image 0" descr="/tmp/claude-0/-home-claude/93efb843-a8d1-5396-a1f0-bcc38514be15/scratchpad/build/img_day3/makeover_before.png">    </p:cNvPr>
          <p:cNvPicPr>
            <a:picLocks noChangeAspect="1"/>
          </p:cNvPicPr>
          <p:nvPr/>
        </p:nvPicPr>
        <p:blipFill>
          <a:blip r:embed="rId1"/>
          <a:stretch>
            <a:fillRect/>
          </a:stretch>
        </p:blipFill>
        <p:spPr>
          <a:xfrm>
            <a:off x="1374996" y="1874520"/>
            <a:ext cx="3833687" cy="3017520"/>
          </a:xfrm>
          <a:prstGeom prst="rect">
            <a:avLst/>
          </a:prstGeom>
        </p:spPr>
      </p:pic>
      <p:sp>
        <p:nvSpPr>
          <p:cNvPr id="7" name="Text 3"/>
          <p:cNvSpPr txBox="1"/>
          <p:nvPr/>
        </p:nvSpPr>
        <p:spPr>
          <a:xfrm>
            <a:off x="6245352" y="1600200"/>
            <a:ext cx="4572000" cy="274320"/>
          </a:xfrm>
          <a:prstGeom prst="rect">
            <a:avLst/>
          </a:prstGeom>
          <a:noFill/>
          <a:ln/>
        </p:spPr>
        <p:txBody>
          <a:bodyPr wrap="square" lIns="0" tIns="0" rIns="0" bIns="0" rtlCol="0" anchor="t"/>
          <a:lstStyle/>
          <a:p>
            <a:pPr indent="0" marL="0">
              <a:buNone/>
            </a:pPr>
            <a:r>
              <a:rPr lang="en-US" sz="1200" b="1" spc="100" kern="0" dirty="0">
                <a:solidFill>
                  <a:srgbClr val="2E8B57"/>
                </a:solidFill>
              </a:rPr>
              <a:t>AFTER: HOUSE STYLE</a:t>
            </a:r>
            <a:endParaRPr lang="en-US" sz="1200" dirty="0"/>
          </a:p>
        </p:txBody>
      </p:sp>
      <p:pic>
        <p:nvPicPr>
          <p:cNvPr id="8" name="Image 1" descr="/tmp/claude-0/-home-claude/93efb843-a8d1-5396-a1f0-bcc38514be15/scratchpad/build/img_day3/makeover_after.png">    </p:cNvPr>
          <p:cNvPicPr>
            <a:picLocks noChangeAspect="1"/>
          </p:cNvPicPr>
          <p:nvPr/>
        </p:nvPicPr>
        <p:blipFill>
          <a:blip r:embed="rId2"/>
          <a:stretch>
            <a:fillRect/>
          </a:stretch>
        </p:blipFill>
        <p:spPr>
          <a:xfrm>
            <a:off x="6245352" y="1948770"/>
            <a:ext cx="5303520" cy="2869020"/>
          </a:xfrm>
          <a:prstGeom prst="rect">
            <a:avLst/>
          </a:prstGeom>
        </p:spPr>
      </p:pic>
      <p:sp>
        <p:nvSpPr>
          <p:cNvPr id="9" name="Shape 4"/>
          <p:cNvSpPr/>
          <p:nvPr/>
        </p:nvSpPr>
        <p:spPr>
          <a:xfrm>
            <a:off x="640080" y="5074920"/>
            <a:ext cx="2103120" cy="731520"/>
          </a:xfrm>
          <a:prstGeom prst="roundRect">
            <a:avLst>
              <a:gd name="adj" fmla="val 10000"/>
            </a:avLst>
          </a:prstGeom>
          <a:solidFill>
            <a:srgbClr val="F4EEF1"/>
          </a:solidFill>
          <a:ln w="9525">
            <a:solidFill>
              <a:srgbClr val="F4EEF1"/>
            </a:solidFill>
            <a:prstDash val="solid"/>
          </a:ln>
        </p:spPr>
      </p:sp>
      <p:sp>
        <p:nvSpPr>
          <p:cNvPr id="10" name="Text 5"/>
          <p:cNvSpPr txBox="1"/>
          <p:nvPr/>
        </p:nvSpPr>
        <p:spPr>
          <a:xfrm>
            <a:off x="777240" y="5074920"/>
            <a:ext cx="1874520" cy="731520"/>
          </a:xfrm>
          <a:prstGeom prst="rect">
            <a:avLst/>
          </a:prstGeom>
          <a:noFill/>
          <a:ln/>
        </p:spPr>
        <p:txBody>
          <a:bodyPr wrap="square" lIns="0" tIns="0" rIns="0" bIns="0" rtlCol="0" anchor="ctr"/>
          <a:lstStyle/>
          <a:p>
            <a:pPr indent="0" marL="0">
              <a:buNone/>
            </a:pPr>
            <a:r>
              <a:rPr lang="en-US" sz="1800" b="1" dirty="0">
                <a:solidFill>
                  <a:srgbClr val="612141"/>
                </a:solidFill>
              </a:rPr>
              <a:t>1  </a:t>
            </a:r>
            <a:pPr indent="0" marL="0">
              <a:buNone/>
            </a:pPr>
            <a:r>
              <a:rPr lang="en-US" sz="1400" dirty="0">
                <a:solidFill>
                  <a:srgbClr val="222222"/>
                </a:solidFill>
              </a:rPr>
              <a:t>Title states the finding</a:t>
            </a:r>
            <a:endParaRPr lang="en-US" sz="1400" dirty="0"/>
          </a:p>
        </p:txBody>
      </p:sp>
      <p:sp>
        <p:nvSpPr>
          <p:cNvPr id="11" name="Shape 6"/>
          <p:cNvSpPr/>
          <p:nvPr/>
        </p:nvSpPr>
        <p:spPr>
          <a:xfrm>
            <a:off x="2862072" y="5074920"/>
            <a:ext cx="2103120" cy="731520"/>
          </a:xfrm>
          <a:prstGeom prst="roundRect">
            <a:avLst>
              <a:gd name="adj" fmla="val 10000"/>
            </a:avLst>
          </a:prstGeom>
          <a:solidFill>
            <a:srgbClr val="F4EEF1"/>
          </a:solidFill>
          <a:ln w="9525">
            <a:solidFill>
              <a:srgbClr val="F4EEF1"/>
            </a:solidFill>
            <a:prstDash val="solid"/>
          </a:ln>
        </p:spPr>
      </p:sp>
      <p:sp>
        <p:nvSpPr>
          <p:cNvPr id="12" name="Text 7"/>
          <p:cNvSpPr txBox="1"/>
          <p:nvPr/>
        </p:nvSpPr>
        <p:spPr>
          <a:xfrm>
            <a:off x="2999232" y="5074920"/>
            <a:ext cx="1874520" cy="731520"/>
          </a:xfrm>
          <a:prstGeom prst="rect">
            <a:avLst/>
          </a:prstGeom>
          <a:noFill/>
          <a:ln/>
        </p:spPr>
        <p:txBody>
          <a:bodyPr wrap="square" lIns="0" tIns="0" rIns="0" bIns="0" rtlCol="0" anchor="ctr"/>
          <a:lstStyle/>
          <a:p>
            <a:pPr indent="0" marL="0">
              <a:buNone/>
            </a:pPr>
            <a:r>
              <a:rPr lang="en-US" sz="1800" b="1" dirty="0">
                <a:solidFill>
                  <a:srgbClr val="612141"/>
                </a:solidFill>
              </a:rPr>
              <a:t>2  </a:t>
            </a:r>
            <a:pPr indent="0" marL="0">
              <a:buNone/>
            </a:pPr>
            <a:r>
              <a:rPr lang="en-US" sz="1400" dirty="0">
                <a:solidFill>
                  <a:srgbClr val="222222"/>
                </a:solidFill>
              </a:rPr>
              <a:t>Labels you can read</a:t>
            </a:r>
            <a:endParaRPr lang="en-US" sz="1400" dirty="0"/>
          </a:p>
        </p:txBody>
      </p:sp>
      <p:sp>
        <p:nvSpPr>
          <p:cNvPr id="13" name="Shape 8"/>
          <p:cNvSpPr/>
          <p:nvPr/>
        </p:nvSpPr>
        <p:spPr>
          <a:xfrm>
            <a:off x="5084064" y="5074920"/>
            <a:ext cx="2103120" cy="731520"/>
          </a:xfrm>
          <a:prstGeom prst="roundRect">
            <a:avLst>
              <a:gd name="adj" fmla="val 10000"/>
            </a:avLst>
          </a:prstGeom>
          <a:solidFill>
            <a:srgbClr val="F4EEF1"/>
          </a:solidFill>
          <a:ln w="9525">
            <a:solidFill>
              <a:srgbClr val="F4EEF1"/>
            </a:solidFill>
            <a:prstDash val="solid"/>
          </a:ln>
        </p:spPr>
      </p:sp>
      <p:sp>
        <p:nvSpPr>
          <p:cNvPr id="14" name="Text 9"/>
          <p:cNvSpPr txBox="1"/>
          <p:nvPr/>
        </p:nvSpPr>
        <p:spPr>
          <a:xfrm>
            <a:off x="5221224" y="5074920"/>
            <a:ext cx="1874520" cy="731520"/>
          </a:xfrm>
          <a:prstGeom prst="rect">
            <a:avLst/>
          </a:prstGeom>
          <a:noFill/>
          <a:ln/>
        </p:spPr>
        <p:txBody>
          <a:bodyPr wrap="square" lIns="0" tIns="0" rIns="0" bIns="0" rtlCol="0" anchor="ctr"/>
          <a:lstStyle/>
          <a:p>
            <a:pPr indent="0" marL="0">
              <a:buNone/>
            </a:pPr>
            <a:r>
              <a:rPr lang="en-US" sz="1800" b="1" dirty="0">
                <a:solidFill>
                  <a:srgbClr val="612141"/>
                </a:solidFill>
              </a:rPr>
              <a:t>3  </a:t>
            </a:r>
            <a:pPr indent="0" marL="0">
              <a:buNone/>
            </a:pPr>
            <a:r>
              <a:rPr lang="en-US" sz="1400" dirty="0">
                <a:solidFill>
                  <a:srgbClr val="222222"/>
                </a:solidFill>
              </a:rPr>
              <a:t>One colour per lane</a:t>
            </a:r>
            <a:endParaRPr lang="en-US" sz="1400" dirty="0"/>
          </a:p>
        </p:txBody>
      </p:sp>
      <p:sp>
        <p:nvSpPr>
          <p:cNvPr id="15" name="Shape 10"/>
          <p:cNvSpPr/>
          <p:nvPr/>
        </p:nvSpPr>
        <p:spPr>
          <a:xfrm>
            <a:off x="7306056" y="5074920"/>
            <a:ext cx="2103120" cy="731520"/>
          </a:xfrm>
          <a:prstGeom prst="roundRect">
            <a:avLst>
              <a:gd name="adj" fmla="val 10000"/>
            </a:avLst>
          </a:prstGeom>
          <a:solidFill>
            <a:srgbClr val="F4EEF1"/>
          </a:solidFill>
          <a:ln w="9525">
            <a:solidFill>
              <a:srgbClr val="F4EEF1"/>
            </a:solidFill>
            <a:prstDash val="solid"/>
          </a:ln>
        </p:spPr>
      </p:sp>
      <p:sp>
        <p:nvSpPr>
          <p:cNvPr id="16" name="Text 11"/>
          <p:cNvSpPr txBox="1"/>
          <p:nvPr/>
        </p:nvSpPr>
        <p:spPr>
          <a:xfrm>
            <a:off x="7443216" y="5074920"/>
            <a:ext cx="1874520" cy="731520"/>
          </a:xfrm>
          <a:prstGeom prst="rect">
            <a:avLst/>
          </a:prstGeom>
          <a:noFill/>
          <a:ln/>
        </p:spPr>
        <p:txBody>
          <a:bodyPr wrap="square" lIns="0" tIns="0" rIns="0" bIns="0" rtlCol="0" anchor="ctr"/>
          <a:lstStyle/>
          <a:p>
            <a:pPr indent="0" marL="0">
              <a:buNone/>
            </a:pPr>
            <a:r>
              <a:rPr lang="en-US" sz="1800" b="1" dirty="0">
                <a:solidFill>
                  <a:srgbClr val="612141"/>
                </a:solidFill>
              </a:rPr>
              <a:t>4  </a:t>
            </a:r>
            <a:pPr indent="0" marL="0">
              <a:buNone/>
            </a:pPr>
            <a:r>
              <a:rPr lang="en-US" sz="1400" dirty="0">
                <a:solidFill>
                  <a:srgbClr val="222222"/>
                </a:solidFill>
              </a:rPr>
              <a:t>The number on the bar</a:t>
            </a:r>
            <a:endParaRPr lang="en-US" sz="1400" dirty="0"/>
          </a:p>
        </p:txBody>
      </p:sp>
      <p:sp>
        <p:nvSpPr>
          <p:cNvPr id="17" name="Shape 12"/>
          <p:cNvSpPr/>
          <p:nvPr/>
        </p:nvSpPr>
        <p:spPr>
          <a:xfrm>
            <a:off x="9528048" y="5074920"/>
            <a:ext cx="2103120" cy="731520"/>
          </a:xfrm>
          <a:prstGeom prst="roundRect">
            <a:avLst>
              <a:gd name="adj" fmla="val 10000"/>
            </a:avLst>
          </a:prstGeom>
          <a:solidFill>
            <a:srgbClr val="F4EEF1"/>
          </a:solidFill>
          <a:ln w="9525">
            <a:solidFill>
              <a:srgbClr val="F4EEF1"/>
            </a:solidFill>
            <a:prstDash val="solid"/>
          </a:ln>
        </p:spPr>
      </p:sp>
      <p:sp>
        <p:nvSpPr>
          <p:cNvPr id="18" name="Text 13"/>
          <p:cNvSpPr txBox="1"/>
          <p:nvPr/>
        </p:nvSpPr>
        <p:spPr>
          <a:xfrm>
            <a:off x="9665208" y="5074920"/>
            <a:ext cx="1874520" cy="731520"/>
          </a:xfrm>
          <a:prstGeom prst="rect">
            <a:avLst/>
          </a:prstGeom>
          <a:noFill/>
          <a:ln/>
        </p:spPr>
        <p:txBody>
          <a:bodyPr wrap="square" lIns="0" tIns="0" rIns="0" bIns="0" rtlCol="0" anchor="ctr"/>
          <a:lstStyle/>
          <a:p>
            <a:pPr indent="0" marL="0">
              <a:buNone/>
            </a:pPr>
            <a:r>
              <a:rPr lang="en-US" sz="1800" b="1" dirty="0">
                <a:solidFill>
                  <a:srgbClr val="612141"/>
                </a:solidFill>
              </a:rPr>
              <a:t>5  </a:t>
            </a:r>
            <a:pPr indent="0" marL="0">
              <a:buNone/>
            </a:pPr>
            <a:r>
              <a:rPr lang="en-US" sz="1400" dirty="0">
                <a:solidFill>
                  <a:srgbClr val="222222"/>
                </a:solidFill>
              </a:rPr>
              <a:t>A source line</a:t>
            </a:r>
            <a:endParaRPr lang="en-US" sz="1400" dirty="0"/>
          </a:p>
        </p:txBody>
      </p:sp>
      <p:sp>
        <p:nvSpPr>
          <p:cNvPr id="19" name="Text 14"/>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MAKE IT HONEST · THE RULES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Four rules for every chart you make today</a:t>
            </a:r>
            <a:endParaRPr lang="en-US" sz="2800" dirty="0"/>
          </a:p>
        </p:txBody>
      </p:sp>
      <p:sp>
        <p:nvSpPr>
          <p:cNvPr id="5" name="Shape 2"/>
          <p:cNvSpPr/>
          <p:nvPr/>
        </p:nvSpPr>
        <p:spPr>
          <a:xfrm>
            <a:off x="640080" y="1737360"/>
            <a:ext cx="777240" cy="777240"/>
          </a:xfrm>
          <a:prstGeom prst="roundRect">
            <a:avLst>
              <a:gd name="adj" fmla="val 9412"/>
            </a:avLst>
          </a:prstGeom>
          <a:solidFill>
            <a:srgbClr val="612141"/>
          </a:solidFill>
          <a:ln w="9525">
            <a:solidFill>
              <a:srgbClr val="612141"/>
            </a:solidFill>
            <a:prstDash val="solid"/>
          </a:ln>
        </p:spPr>
      </p:sp>
      <p:sp>
        <p:nvSpPr>
          <p:cNvPr id="6" name="Text 3"/>
          <p:cNvSpPr txBox="1"/>
          <p:nvPr/>
        </p:nvSpPr>
        <p:spPr>
          <a:xfrm>
            <a:off x="640080" y="173736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4"/>
          <p:cNvSpPr txBox="1"/>
          <p:nvPr/>
        </p:nvSpPr>
        <p:spPr>
          <a:xfrm>
            <a:off x="1645920" y="1755648"/>
            <a:ext cx="9875520" cy="384048"/>
          </a:xfrm>
          <a:prstGeom prst="rect">
            <a:avLst/>
          </a:prstGeom>
          <a:noFill/>
          <a:ln/>
        </p:spPr>
        <p:txBody>
          <a:bodyPr wrap="square" lIns="0" tIns="0" rIns="0" bIns="0" rtlCol="0" anchor="t"/>
          <a:lstStyle/>
          <a:p>
            <a:pPr indent="0" marL="0">
              <a:buNone/>
            </a:pPr>
            <a:r>
              <a:rPr lang="en-US" sz="2000" b="1" dirty="0">
                <a:solidFill>
                  <a:srgbClr val="222222"/>
                </a:solidFill>
                <a:latin typeface="Cambria" pitchFamily="34" charset="0"/>
                <a:ea typeface="Cambria" pitchFamily="34" charset="-122"/>
                <a:cs typeface="Cambria" pitchFamily="34" charset="-120"/>
              </a:rPr>
              <a:t>Bars start at zero</a:t>
            </a:r>
            <a:endParaRPr lang="en-US" sz="2000" dirty="0"/>
          </a:p>
        </p:txBody>
      </p:sp>
      <p:sp>
        <p:nvSpPr>
          <p:cNvPr id="8" name="Text 5"/>
          <p:cNvSpPr txBox="1"/>
          <p:nvPr/>
        </p:nvSpPr>
        <p:spPr>
          <a:xfrm>
            <a:off x="1645920" y="2139696"/>
            <a:ext cx="9875520" cy="365760"/>
          </a:xfrm>
          <a:prstGeom prst="rect">
            <a:avLst/>
          </a:prstGeom>
          <a:noFill/>
          <a:ln/>
        </p:spPr>
        <p:txBody>
          <a:bodyPr wrap="square" lIns="0" tIns="0" rIns="0" bIns="0" rtlCol="0" anchor="t"/>
          <a:lstStyle/>
          <a:p>
            <a:pPr indent="0" marL="0">
              <a:buNone/>
            </a:pPr>
            <a:r>
              <a:rPr lang="en-US" sz="1500" dirty="0">
                <a:solidFill>
                  <a:srgbClr val="4A4A4A"/>
                </a:solidFill>
              </a:rPr>
              <a:t>a truncated axis turns a third into an explosion</a:t>
            </a:r>
            <a:endParaRPr lang="en-US" sz="1500" dirty="0"/>
          </a:p>
        </p:txBody>
      </p:sp>
      <p:sp>
        <p:nvSpPr>
          <p:cNvPr id="9" name="Shape 6"/>
          <p:cNvSpPr/>
          <p:nvPr/>
        </p:nvSpPr>
        <p:spPr>
          <a:xfrm>
            <a:off x="640080" y="2761488"/>
            <a:ext cx="777240" cy="777240"/>
          </a:xfrm>
          <a:prstGeom prst="roundRect">
            <a:avLst>
              <a:gd name="adj" fmla="val 9412"/>
            </a:avLst>
          </a:prstGeom>
          <a:solidFill>
            <a:srgbClr val="612141"/>
          </a:solidFill>
          <a:ln w="9525">
            <a:solidFill>
              <a:srgbClr val="612141"/>
            </a:solidFill>
            <a:prstDash val="solid"/>
          </a:ln>
        </p:spPr>
      </p:sp>
      <p:sp>
        <p:nvSpPr>
          <p:cNvPr id="10" name="Text 7"/>
          <p:cNvSpPr txBox="1"/>
          <p:nvPr/>
        </p:nvSpPr>
        <p:spPr>
          <a:xfrm>
            <a:off x="640080" y="2761488"/>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1" name="Text 8"/>
          <p:cNvSpPr txBox="1"/>
          <p:nvPr/>
        </p:nvSpPr>
        <p:spPr>
          <a:xfrm>
            <a:off x="1645920" y="2779776"/>
            <a:ext cx="9875520" cy="384048"/>
          </a:xfrm>
          <a:prstGeom prst="rect">
            <a:avLst/>
          </a:prstGeom>
          <a:noFill/>
          <a:ln/>
        </p:spPr>
        <p:txBody>
          <a:bodyPr wrap="square" lIns="0" tIns="0" rIns="0" bIns="0" rtlCol="0" anchor="t"/>
          <a:lstStyle/>
          <a:p>
            <a:pPr indent="0" marL="0">
              <a:buNone/>
            </a:pPr>
            <a:r>
              <a:rPr lang="en-US" sz="2000" b="1" dirty="0">
                <a:solidFill>
                  <a:srgbClr val="222222"/>
                </a:solidFill>
                <a:latin typeface="Cambria" pitchFamily="34" charset="0"/>
                <a:ea typeface="Cambria" pitchFamily="34" charset="-122"/>
                <a:cs typeface="Cambria" pitchFamily="34" charset="-120"/>
              </a:rPr>
              <a:t>The title states the finding</a:t>
            </a:r>
            <a:endParaRPr lang="en-US" sz="2000" dirty="0"/>
          </a:p>
        </p:txBody>
      </p:sp>
      <p:sp>
        <p:nvSpPr>
          <p:cNvPr id="12" name="Text 9"/>
          <p:cNvSpPr txBox="1"/>
          <p:nvPr/>
        </p:nvSpPr>
        <p:spPr>
          <a:xfrm>
            <a:off x="1645920" y="3163824"/>
            <a:ext cx="9875520" cy="365760"/>
          </a:xfrm>
          <a:prstGeom prst="rect">
            <a:avLst/>
          </a:prstGeom>
          <a:noFill/>
          <a:ln/>
        </p:spPr>
        <p:txBody>
          <a:bodyPr wrap="square" lIns="0" tIns="0" rIns="0" bIns="0" rtlCol="0" anchor="t"/>
          <a:lstStyle/>
          <a:p>
            <a:pPr indent="0" marL="0">
              <a:buNone/>
            </a:pPr>
            <a:r>
              <a:rPr lang="en-US" sz="1500" dirty="0">
                <a:solidFill>
                  <a:srgbClr val="4A4A4A"/>
                </a:solidFill>
              </a:rPr>
              <a:t>not the topic: 'Costume season is 3 to 4 weeks', not 'Costume searches'</a:t>
            </a:r>
            <a:endParaRPr lang="en-US" sz="1500" dirty="0"/>
          </a:p>
        </p:txBody>
      </p:sp>
      <p:sp>
        <p:nvSpPr>
          <p:cNvPr id="13" name="Shape 10"/>
          <p:cNvSpPr/>
          <p:nvPr/>
        </p:nvSpPr>
        <p:spPr>
          <a:xfrm>
            <a:off x="640080" y="3785616"/>
            <a:ext cx="777240" cy="777240"/>
          </a:xfrm>
          <a:prstGeom prst="roundRect">
            <a:avLst>
              <a:gd name="adj" fmla="val 9412"/>
            </a:avLst>
          </a:prstGeom>
          <a:solidFill>
            <a:srgbClr val="612141"/>
          </a:solidFill>
          <a:ln w="9525">
            <a:solidFill>
              <a:srgbClr val="612141"/>
            </a:solidFill>
            <a:prstDash val="solid"/>
          </a:ln>
        </p:spPr>
      </p:sp>
      <p:sp>
        <p:nvSpPr>
          <p:cNvPr id="14" name="Text 11"/>
          <p:cNvSpPr txBox="1"/>
          <p:nvPr/>
        </p:nvSpPr>
        <p:spPr>
          <a:xfrm>
            <a:off x="640080" y="3785616"/>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5" name="Text 12"/>
          <p:cNvSpPr txBox="1"/>
          <p:nvPr/>
        </p:nvSpPr>
        <p:spPr>
          <a:xfrm>
            <a:off x="1645920" y="3803904"/>
            <a:ext cx="9875520" cy="384048"/>
          </a:xfrm>
          <a:prstGeom prst="rect">
            <a:avLst/>
          </a:prstGeom>
          <a:noFill/>
          <a:ln/>
        </p:spPr>
        <p:txBody>
          <a:bodyPr wrap="square" lIns="0" tIns="0" rIns="0" bIns="0" rtlCol="0" anchor="t"/>
          <a:lstStyle/>
          <a:p>
            <a:pPr indent="0" marL="0">
              <a:buNone/>
            </a:pPr>
            <a:r>
              <a:rPr lang="en-US" sz="2000" b="1" dirty="0">
                <a:solidFill>
                  <a:srgbClr val="222222"/>
                </a:solidFill>
                <a:latin typeface="Cambria" pitchFamily="34" charset="0"/>
                <a:ea typeface="Cambria" pitchFamily="34" charset="-122"/>
                <a:cs typeface="Cambria" pitchFamily="34" charset="-120"/>
              </a:rPr>
              <a:t>A source line, always</a:t>
            </a:r>
            <a:endParaRPr lang="en-US" sz="2000" dirty="0"/>
          </a:p>
        </p:txBody>
      </p:sp>
      <p:sp>
        <p:nvSpPr>
          <p:cNvPr id="16" name="Text 13"/>
          <p:cNvSpPr txBox="1"/>
          <p:nvPr/>
        </p:nvSpPr>
        <p:spPr>
          <a:xfrm>
            <a:off x="1645920" y="4187952"/>
            <a:ext cx="9875520" cy="365760"/>
          </a:xfrm>
          <a:prstGeom prst="rect">
            <a:avLst/>
          </a:prstGeom>
          <a:noFill/>
          <a:ln/>
        </p:spPr>
        <p:txBody>
          <a:bodyPr wrap="square" lIns="0" tIns="0" rIns="0" bIns="0" rtlCol="0" anchor="t"/>
          <a:lstStyle/>
          <a:p>
            <a:pPr indent="0" marL="0">
              <a:buNone/>
            </a:pPr>
            <a:r>
              <a:rPr lang="en-US" sz="1500" dirty="0">
                <a:solidFill>
                  <a:srgbClr val="4A4A4A"/>
                </a:solidFill>
              </a:rPr>
              <a:t>where the numbers came from, and when</a:t>
            </a:r>
            <a:endParaRPr lang="en-US" sz="1500" dirty="0"/>
          </a:p>
        </p:txBody>
      </p:sp>
      <p:sp>
        <p:nvSpPr>
          <p:cNvPr id="17" name="Shape 14"/>
          <p:cNvSpPr/>
          <p:nvPr/>
        </p:nvSpPr>
        <p:spPr>
          <a:xfrm>
            <a:off x="640080" y="4809744"/>
            <a:ext cx="777240" cy="777240"/>
          </a:xfrm>
          <a:prstGeom prst="roundRect">
            <a:avLst>
              <a:gd name="adj" fmla="val 9412"/>
            </a:avLst>
          </a:prstGeom>
          <a:solidFill>
            <a:srgbClr val="9D2235"/>
          </a:solidFill>
          <a:ln w="9525">
            <a:solidFill>
              <a:srgbClr val="9D2235"/>
            </a:solidFill>
            <a:prstDash val="solid"/>
          </a:ln>
        </p:spPr>
      </p:sp>
      <p:sp>
        <p:nvSpPr>
          <p:cNvPr id="18" name="Text 15"/>
          <p:cNvSpPr txBox="1"/>
          <p:nvPr/>
        </p:nvSpPr>
        <p:spPr>
          <a:xfrm>
            <a:off x="640080" y="4809744"/>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9" name="Text 16"/>
          <p:cNvSpPr txBox="1"/>
          <p:nvPr/>
        </p:nvSpPr>
        <p:spPr>
          <a:xfrm>
            <a:off x="1645920" y="4828032"/>
            <a:ext cx="9875520" cy="384048"/>
          </a:xfrm>
          <a:prstGeom prst="rect">
            <a:avLst/>
          </a:prstGeom>
          <a:noFill/>
          <a:ln/>
        </p:spPr>
        <p:txBody>
          <a:bodyPr wrap="square" lIns="0" tIns="0" rIns="0" bIns="0" rtlCol="0" anchor="t"/>
          <a:lstStyle/>
          <a:p>
            <a:pPr indent="0" marL="0">
              <a:buNone/>
            </a:pPr>
            <a:r>
              <a:rPr lang="en-US" sz="2000" b="1" dirty="0">
                <a:solidFill>
                  <a:srgbClr val="222222"/>
                </a:solidFill>
                <a:latin typeface="Cambria" pitchFamily="34" charset="0"/>
                <a:ea typeface="Cambria" pitchFamily="34" charset="-122"/>
                <a:cs typeface="Cambria" pitchFamily="34" charset="-120"/>
              </a:rPr>
              <a:t>Say the limit out loud</a:t>
            </a:r>
            <a:endParaRPr lang="en-US" sz="2000" dirty="0"/>
          </a:p>
        </p:txBody>
      </p:sp>
      <p:sp>
        <p:nvSpPr>
          <p:cNvPr id="20" name="Text 17"/>
          <p:cNvSpPr txBox="1"/>
          <p:nvPr/>
        </p:nvSpPr>
        <p:spPr>
          <a:xfrm>
            <a:off x="1645920" y="5212080"/>
            <a:ext cx="9875520" cy="365760"/>
          </a:xfrm>
          <a:prstGeom prst="rect">
            <a:avLst/>
          </a:prstGeom>
          <a:noFill/>
          <a:ln/>
        </p:spPr>
        <p:txBody>
          <a:bodyPr wrap="square" lIns="0" tIns="0" rIns="0" bIns="0" rtlCol="0" anchor="t"/>
          <a:lstStyle/>
          <a:p>
            <a:pPr indent="0" marL="0">
              <a:buNone/>
            </a:pPr>
            <a:r>
              <a:rPr lang="en-US" sz="1500" dirty="0">
                <a:solidFill>
                  <a:srgbClr val="4A4A4A"/>
                </a:solidFill>
              </a:rPr>
              <a:t>relative interest, not sales · Canada-wide, not Nova Scotia · US dollars · a survey</a:t>
            </a:r>
            <a:endParaRPr lang="en-US" sz="1500" dirty="0"/>
          </a:p>
        </p:txBody>
      </p:sp>
      <p:sp>
        <p:nvSpPr>
          <p:cNvPr id="21" name="Shape 18"/>
          <p:cNvSpPr/>
          <p:nvPr/>
        </p:nvSpPr>
        <p:spPr>
          <a:xfrm>
            <a:off x="640080" y="5852160"/>
            <a:ext cx="10908792" cy="457200"/>
          </a:xfrm>
          <a:prstGeom prst="rect">
            <a:avLst/>
          </a:prstGeom>
          <a:solidFill>
            <a:srgbClr val="F4EEF1"/>
          </a:solidFill>
          <a:ln w="9525">
            <a:solidFill>
              <a:srgbClr val="F4EEF1"/>
            </a:solidFill>
            <a:prstDash val="solid"/>
          </a:ln>
        </p:spPr>
      </p:sp>
      <p:sp>
        <p:nvSpPr>
          <p:cNvPr id="22" name="Text 19"/>
          <p:cNvSpPr txBox="1"/>
          <p:nvPr/>
        </p:nvSpPr>
        <p:spPr>
          <a:xfrm>
            <a:off x="868680" y="5943600"/>
            <a:ext cx="10451592" cy="274320"/>
          </a:xfrm>
          <a:prstGeom prst="rect">
            <a:avLst/>
          </a:prstGeom>
          <a:noFill/>
          <a:ln/>
        </p:spPr>
        <p:txBody>
          <a:bodyPr wrap="square" lIns="0" tIns="0" rIns="0" bIns="0" rtlCol="0" anchor="ctr"/>
          <a:lstStyle/>
          <a:p>
            <a:pPr indent="0" marL="0">
              <a:buNone/>
            </a:pPr>
            <a:r>
              <a:rPr lang="en-US" sz="1400" b="1" dirty="0">
                <a:solidFill>
                  <a:srgbClr val="612141"/>
                </a:solidFill>
              </a:rPr>
              <a:t>A chart without a limit is an ad.  </a:t>
            </a:r>
            <a:pPr indent="0" marL="0">
              <a:buNone/>
            </a:pPr>
            <a:endParaRPr lang="en-US" sz="14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lIns="0" tIns="0" rIns="0" bIns="0" rtlCol="0" anchor="b"/>
          <a:lstStyle/>
          <a:p>
            <a:pPr indent="0" marL="0">
              <a:buNone/>
            </a:pPr>
            <a:r>
              <a:rPr lang="en-US" sz="7200" dirty="0">
                <a:solidFill>
                  <a:srgbClr val="D9A7B7"/>
                </a:solidFill>
                <a:latin typeface="Cambria" pitchFamily="34" charset="0"/>
                <a:ea typeface="Cambria" pitchFamily="34" charset="-122"/>
                <a:cs typeface="Cambria" pitchFamily="34" charset="-120"/>
              </a:rPr>
              <a:t>04</a:t>
            </a: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lIns="0" tIns="0" rIns="0" bIns="0" rtlCol="0" anchor="t"/>
          <a:lstStyle/>
          <a:p>
            <a:pPr algn="l" indent="0" marL="0">
              <a:buNone/>
            </a:pPr>
            <a:r>
              <a:rPr lang="en-US" sz="4000" dirty="0">
                <a:solidFill>
                  <a:schemeClr val="bg1"/>
                </a:solidFill>
                <a:latin typeface="Cambria" pitchFamily="34" charset="0"/>
                <a:ea typeface="Cambria" pitchFamily="34" charset="-122"/>
                <a:cs typeface="Cambria" pitchFamily="34" charset="-120"/>
              </a:rPr>
              <a:t>Season maths: the three numbers every pitch needs</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SEASON MATHS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Peak week, stock-up week, season length: a function with two while loops</a:t>
            </a:r>
            <a:endParaRPr lang="en-US" sz="2800" dirty="0"/>
          </a:p>
        </p:txBody>
      </p:sp>
      <p:pic>
        <p:nvPicPr>
          <p:cNvPr id="5" name="Image 0" descr="/tmp/claude-0/-home-claude/93efb843-a8d1-5396-a1f0-bcc38514be15/scratchpad/build/img_day3/p_season.png">    </p:cNvPr>
          <p:cNvPicPr>
            <a:picLocks noChangeAspect="1"/>
          </p:cNvPicPr>
          <p:nvPr/>
        </p:nvPicPr>
        <p:blipFill>
          <a:blip r:embed="rId1"/>
          <a:stretch>
            <a:fillRect/>
          </a:stretch>
        </p:blipFill>
        <p:spPr>
          <a:xfrm>
            <a:off x="640080" y="1645920"/>
            <a:ext cx="6949440" cy="3103675"/>
          </a:xfrm>
          <a:prstGeom prst="rect">
            <a:avLst/>
          </a:prstGeom>
        </p:spPr>
      </p:pic>
      <p:sp>
        <p:nvSpPr>
          <p:cNvPr id="6" name="Text 2"/>
          <p:cNvSpPr txBox="1"/>
          <p:nvPr/>
        </p:nvSpPr>
        <p:spPr>
          <a:xfrm>
            <a:off x="7955280" y="1645920"/>
            <a:ext cx="3593592" cy="365760"/>
          </a:xfrm>
          <a:prstGeom prst="rect">
            <a:avLst/>
          </a:prstGeom>
          <a:noFill/>
          <a:ln/>
        </p:spPr>
        <p:txBody>
          <a:bodyPr wrap="square" lIns="0" tIns="0" rIns="0" bIns="0" rtlCol="0" anchor="t"/>
          <a:lstStyle/>
          <a:p>
            <a:pPr indent="0" marL="0">
              <a:buNone/>
            </a:pPr>
            <a:r>
              <a:rPr lang="en-US" sz="1800" b="1" dirty="0">
                <a:solidFill>
                  <a:srgbClr val="612141"/>
                </a:solidFill>
                <a:latin typeface="Cambria" pitchFamily="34" charset="0"/>
                <a:ea typeface="Cambria" pitchFamily="34" charset="-122"/>
                <a:cs typeface="Cambria" pitchFamily="34" charset="-120"/>
              </a:rPr>
              <a:t>peak week</a:t>
            </a:r>
            <a:endParaRPr lang="en-US" sz="1800" dirty="0"/>
          </a:p>
        </p:txBody>
      </p:sp>
      <p:sp>
        <p:nvSpPr>
          <p:cNvPr id="7" name="Text 3"/>
          <p:cNvSpPr txBox="1"/>
          <p:nvPr/>
        </p:nvSpPr>
        <p:spPr>
          <a:xfrm>
            <a:off x="7955280" y="2029968"/>
            <a:ext cx="3593592" cy="731520"/>
          </a:xfrm>
          <a:prstGeom prst="rect">
            <a:avLst/>
          </a:prstGeom>
          <a:noFill/>
          <a:ln/>
        </p:spPr>
        <p:txBody>
          <a:bodyPr wrap="square" lIns="0" tIns="0" rIns="0" bIns="0" rtlCol="0" anchor="t"/>
          <a:lstStyle/>
          <a:p>
            <a:pPr indent="0" marL="0">
              <a:buNone/>
            </a:pPr>
            <a:r>
              <a:rPr lang="en-US" sz="1350" dirty="0">
                <a:solidFill>
                  <a:srgbClr val="4A4A4A"/>
                </a:solidFill>
              </a:rPr>
              <a:t>the week with the highest score</a:t>
            </a:r>
            <a:endParaRPr lang="en-US" sz="1350" dirty="0"/>
          </a:p>
        </p:txBody>
      </p:sp>
      <p:sp>
        <p:nvSpPr>
          <p:cNvPr id="8" name="Text 4"/>
          <p:cNvSpPr txBox="1"/>
          <p:nvPr/>
        </p:nvSpPr>
        <p:spPr>
          <a:xfrm>
            <a:off x="7955280" y="2788920"/>
            <a:ext cx="3593592" cy="365760"/>
          </a:xfrm>
          <a:prstGeom prst="rect">
            <a:avLst/>
          </a:prstGeom>
          <a:noFill/>
          <a:ln/>
        </p:spPr>
        <p:txBody>
          <a:bodyPr wrap="square" lIns="0" tIns="0" rIns="0" bIns="0" rtlCol="0" anchor="t"/>
          <a:lstStyle/>
          <a:p>
            <a:pPr indent="0" marL="0">
              <a:buNone/>
            </a:pPr>
            <a:r>
              <a:rPr lang="en-US" sz="1800" b="1" dirty="0">
                <a:solidFill>
                  <a:srgbClr val="612141"/>
                </a:solidFill>
                <a:latin typeface="Cambria" pitchFamily="34" charset="0"/>
                <a:ea typeface="Cambria" pitchFamily="34" charset="-122"/>
                <a:cs typeface="Cambria" pitchFamily="34" charset="-120"/>
              </a:rPr>
              <a:t>stock-up week</a:t>
            </a:r>
            <a:endParaRPr lang="en-US" sz="1800" dirty="0"/>
          </a:p>
        </p:txBody>
      </p:sp>
      <p:sp>
        <p:nvSpPr>
          <p:cNvPr id="9" name="Text 5"/>
          <p:cNvSpPr txBox="1"/>
          <p:nvPr/>
        </p:nvSpPr>
        <p:spPr>
          <a:xfrm>
            <a:off x="7955280" y="3172968"/>
            <a:ext cx="3593592" cy="731520"/>
          </a:xfrm>
          <a:prstGeom prst="rect">
            <a:avLst/>
          </a:prstGeom>
          <a:noFill/>
          <a:ln/>
        </p:spPr>
        <p:txBody>
          <a:bodyPr wrap="square" lIns="0" tIns="0" rIns="0" bIns="0" rtlCol="0" anchor="t"/>
          <a:lstStyle/>
          <a:p>
            <a:pPr indent="0" marL="0">
              <a:buNone/>
            </a:pPr>
            <a:r>
              <a:rPr lang="en-US" sz="1350" dirty="0">
                <a:solidFill>
                  <a:srgbClr val="4A4A4A"/>
                </a:solidFill>
              </a:rPr>
              <a:t>walking backwards from the peak, the first week still at or above 50% of it. Shelves full by then.</a:t>
            </a:r>
            <a:endParaRPr lang="en-US" sz="1350" dirty="0"/>
          </a:p>
        </p:txBody>
      </p:sp>
      <p:sp>
        <p:nvSpPr>
          <p:cNvPr id="10" name="Text 6"/>
          <p:cNvSpPr txBox="1"/>
          <p:nvPr/>
        </p:nvSpPr>
        <p:spPr>
          <a:xfrm>
            <a:off x="7955280" y="3931920"/>
            <a:ext cx="3593592" cy="365760"/>
          </a:xfrm>
          <a:prstGeom prst="rect">
            <a:avLst/>
          </a:prstGeom>
          <a:noFill/>
          <a:ln/>
        </p:spPr>
        <p:txBody>
          <a:bodyPr wrap="square" lIns="0" tIns="0" rIns="0" bIns="0" rtlCol="0" anchor="t"/>
          <a:lstStyle/>
          <a:p>
            <a:pPr indent="0" marL="0">
              <a:buNone/>
            </a:pPr>
            <a:r>
              <a:rPr lang="en-US" sz="1800" b="1" dirty="0">
                <a:solidFill>
                  <a:srgbClr val="612141"/>
                </a:solidFill>
                <a:latin typeface="Cambria" pitchFamily="34" charset="0"/>
                <a:ea typeface="Cambria" pitchFamily="34" charset="-122"/>
                <a:cs typeface="Cambria" pitchFamily="34" charset="-120"/>
              </a:rPr>
              <a:t>season length</a:t>
            </a:r>
            <a:endParaRPr lang="en-US" sz="1800" dirty="0"/>
          </a:p>
        </p:txBody>
      </p:sp>
      <p:sp>
        <p:nvSpPr>
          <p:cNvPr id="11" name="Text 7"/>
          <p:cNvSpPr txBox="1"/>
          <p:nvPr/>
        </p:nvSpPr>
        <p:spPr>
          <a:xfrm>
            <a:off x="7955280" y="4315968"/>
            <a:ext cx="3593592" cy="731520"/>
          </a:xfrm>
          <a:prstGeom prst="rect">
            <a:avLst/>
          </a:prstGeom>
          <a:noFill/>
          <a:ln/>
        </p:spPr>
        <p:txBody>
          <a:bodyPr wrap="square" lIns="0" tIns="0" rIns="0" bIns="0" rtlCol="0" anchor="t"/>
          <a:lstStyle/>
          <a:p>
            <a:pPr indent="0" marL="0">
              <a:buNone/>
            </a:pPr>
            <a:r>
              <a:rPr lang="en-US" sz="1350" dirty="0">
                <a:solidFill>
                  <a:srgbClr val="4A4A4A"/>
                </a:solidFill>
              </a:rPr>
              <a:t>the stretch of weeks around the peak that stay above the bar</a:t>
            </a:r>
            <a:endParaRPr lang="en-US" sz="1350" dirty="0"/>
          </a:p>
        </p:txBody>
      </p:sp>
      <p:sp>
        <p:nvSpPr>
          <p:cNvPr id="12" name="Shape 8"/>
          <p:cNvSpPr/>
          <p:nvPr/>
        </p:nvSpPr>
        <p:spPr>
          <a:xfrm>
            <a:off x="7955280" y="5120640"/>
            <a:ext cx="3593592" cy="777240"/>
          </a:xfrm>
          <a:prstGeom prst="rect">
            <a:avLst/>
          </a:prstGeom>
          <a:solidFill>
            <a:srgbClr val="F4EEF1"/>
          </a:solidFill>
          <a:ln w="9525">
            <a:solidFill>
              <a:srgbClr val="F4EEF1"/>
            </a:solidFill>
            <a:prstDash val="solid"/>
          </a:ln>
        </p:spPr>
      </p:sp>
      <p:sp>
        <p:nvSpPr>
          <p:cNvPr id="13" name="Text 9"/>
          <p:cNvSpPr txBox="1"/>
          <p:nvPr/>
        </p:nvSpPr>
        <p:spPr>
          <a:xfrm>
            <a:off x="8183880" y="5212080"/>
            <a:ext cx="3136392" cy="594360"/>
          </a:xfrm>
          <a:prstGeom prst="rect">
            <a:avLst/>
          </a:prstGeom>
          <a:noFill/>
          <a:ln/>
        </p:spPr>
        <p:txBody>
          <a:bodyPr wrap="square" lIns="0" tIns="0" rIns="0" bIns="0" rtlCol="0" anchor="ctr"/>
          <a:lstStyle/>
          <a:p>
            <a:pPr indent="0" marL="0">
              <a:buNone/>
            </a:pPr>
            <a:r>
              <a:rPr lang="en-US" sz="1300" b="1" dirty="0">
                <a:solidFill>
                  <a:srgbClr val="612141"/>
                </a:solidFill>
              </a:rPr>
              <a:t>✏️ THRESHOLD = 0.5  </a:t>
            </a:r>
            <a:pPr indent="0" marL="0">
              <a:buNone/>
            </a:pPr>
            <a:r>
              <a:rPr lang="en-US" sz="1300" dirty="0">
                <a:solidFill>
                  <a:srgbClr val="222222"/>
                </a:solidFill>
              </a:rPr>
              <a:t>is a choice you made. Change it, the table changes; say so in your pitch.</a:t>
            </a:r>
            <a:endParaRPr lang="en-US" sz="1300" dirty="0"/>
          </a:p>
        </p:txBody>
      </p:sp>
      <p:sp>
        <p:nvSpPr>
          <p:cNvPr id="14" name="Text 10"/>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SEASON MATHS · EVERY LANE</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Same every year? The shortest and longest season for every lane</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920240"/>
                <a:gridCol w="1828800"/>
                <a:gridCol w="914400"/>
                <a:gridCol w="914400"/>
                <a:gridCol w="914400"/>
                <a:gridCol w="4416552"/>
              </a:tblGrid>
              <a:tr h="42976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Lane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Store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Shortest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Longest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Average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Stock-up weeks (2022 to 2025)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r>
              <a:tr h="429768">
                <a:tc>
                  <a:txBody>
                    <a:bodyPr/>
                    <a:lstStyle/>
                    <a:p>
                      <a:pPr algn="l" indent="0" marL="0">
                        <a:buNone/>
                      </a:pPr>
                      <a:r>
                        <a:rPr lang="en-US" sz="1300" b="1" dirty="0">
                          <a:solidFill>
                            <a:srgbClr val="D55E00"/>
                          </a:solidFill>
                          <a:latin typeface="Calibri" pitchFamily="34" charset="0"/>
                          <a:ea typeface="Calibri" pitchFamily="34" charset="-122"/>
                          <a:cs typeface="Calibri" pitchFamily="34" charset="-120"/>
                        </a:rPr>
                        <a:t>halloween costume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party store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Oct 9 · Oct 8 · Oct 6 · Oct 12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9D2235"/>
                          </a:solidFill>
                          <a:latin typeface="Calibri" pitchFamily="34" charset="0"/>
                          <a:ea typeface="Calibri" pitchFamily="34" charset="-122"/>
                          <a:cs typeface="Calibri" pitchFamily="34" charset="-120"/>
                        </a:rPr>
                        <a:t>candy</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convenience store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Sep 11 · Sep 17 · Oct 6 · Oct 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B8790F"/>
                          </a:solidFill>
                          <a:latin typeface="Calibri" pitchFamily="34" charset="0"/>
                          <a:ea typeface="Calibri" pitchFamily="34" charset="-122"/>
                          <a:cs typeface="Calibri" pitchFamily="34" charset="-120"/>
                        </a:rPr>
                        <a:t>pumpkin spice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café</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Aug 21 · Aug 20 · Aug 18 · Aug 17</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2E8B57"/>
                          </a:solidFill>
                          <a:latin typeface="Calibri" pitchFamily="34" charset="0"/>
                          <a:ea typeface="Calibri" pitchFamily="34" charset="-122"/>
                          <a:cs typeface="Calibri" pitchFamily="34" charset="-120"/>
                        </a:rPr>
                        <a:t>christmas gifts</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gift shop</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Nov 13 · Nov 12 · Nov 10 · Nov 16</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CC79A7"/>
                          </a:solidFill>
                          <a:latin typeface="Calibri" pitchFamily="34" charset="0"/>
                          <a:ea typeface="Calibri" pitchFamily="34" charset="-122"/>
                          <a:cs typeface="Calibri" pitchFamily="34" charset="-120"/>
                        </a:rPr>
                        <a:t>valentines day</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florist / card shop</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Feb 6 · Feb 12 · Feb 11 · Feb 9</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56B4E9"/>
                          </a:solidFill>
                          <a:latin typeface="Calibri" pitchFamily="34" charset="0"/>
                          <a:ea typeface="Calibri" pitchFamily="34" charset="-122"/>
                          <a:cs typeface="Calibri" pitchFamily="34" charset="-120"/>
                        </a:rPr>
                        <a:t>sunscreen</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pharmacy</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18.5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Apr 24 · Apr 9 · Mar 31 · Mar 9</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0072B2"/>
                          </a:solidFill>
                          <a:latin typeface="Calibri" pitchFamily="34" charset="0"/>
                          <a:ea typeface="Calibri" pitchFamily="34" charset="-122"/>
                          <a:cs typeface="Calibri" pitchFamily="34" charset="-120"/>
                        </a:rPr>
                        <a:t>snow tires</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garage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Oct 16 · Sep 24 · Sep 29 · Nov 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r h="429768">
                <a:tc>
                  <a:txBody>
                    <a:bodyPr/>
                    <a:lstStyle/>
                    <a:p>
                      <a:pPr algn="l" indent="0" marL="0">
                        <a:buNone/>
                      </a:pPr>
                      <a:r>
                        <a:rPr lang="en-US" sz="1300" b="1" dirty="0">
                          <a:solidFill>
                            <a:srgbClr val="7B5EA7"/>
                          </a:solidFill>
                          <a:latin typeface="Calibri" pitchFamily="34" charset="0"/>
                          <a:ea typeface="Calibri" pitchFamily="34" charset="-122"/>
                          <a:cs typeface="Calibri" pitchFamily="34" charset="-120"/>
                        </a:rPr>
                        <a:t>back to school</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stationery store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Aug 7 · Aug 6 · Aug 4 · Aug 3</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tcPr>
                </a:tc>
              </a:tr>
            </a:tbl>
          </a:graphicData>
        </a:graphic>
      </p:graphicFrame>
      <p:sp>
        <p:nvSpPr>
          <p:cNvPr id="6" name="Text 2"/>
          <p:cNvSpPr txBox="1"/>
          <p:nvPr/>
        </p:nvSpPr>
        <p:spPr>
          <a:xfrm>
            <a:off x="640080" y="5623560"/>
            <a:ext cx="10908792" cy="320040"/>
          </a:xfrm>
          <a:prstGeom prst="rect">
            <a:avLst/>
          </a:prstGeom>
          <a:noFill/>
          <a:ln/>
        </p:spPr>
        <p:txBody>
          <a:bodyPr wrap="square" lIns="0" tIns="0" rIns="0" bIns="0" rtlCol="0" anchor="t"/>
          <a:lstStyle/>
          <a:p>
            <a:pPr indent="0" marL="0">
              <a:buNone/>
            </a:pPr>
            <a:r>
              <a:rPr lang="en-US" sz="1100" dirty="0">
                <a:solidFill>
                  <a:srgbClr val="5F6368"/>
                </a:solidFill>
              </a:rPr>
              <a:t>Season length in weeks at the 50% rule, full years only (2021 and 2026 are partial). Stock-up week = first week of the busy stretch.</a:t>
            </a:r>
            <a:endParaRPr lang="en-US" sz="1100" dirty="0"/>
          </a:p>
        </p:txBody>
      </p:sp>
      <p:sp>
        <p:nvSpPr>
          <p:cNvPr id="7" name="Text 3"/>
          <p:cNvSpPr txBox="1"/>
          <p:nvPr/>
        </p:nvSpPr>
        <p:spPr>
          <a:xfrm>
            <a:off x="640080" y="5943600"/>
            <a:ext cx="10908792" cy="365760"/>
          </a:xfrm>
          <a:prstGeom prst="rect">
            <a:avLst/>
          </a:prstGeom>
          <a:noFill/>
          <a:ln/>
        </p:spPr>
        <p:txBody>
          <a:bodyPr wrap="square" lIns="0" tIns="0" rIns="0" bIns="0" rtlCol="0" anchor="b"/>
          <a:lstStyle/>
          <a:p>
            <a:pPr indent="0" marL="0">
              <a:buNone/>
            </a:pPr>
            <a:r>
              <a:rPr lang="en-US" sz="1000" dirty="0">
                <a:solidFill>
                  <a:srgbClr val="5F6368"/>
                </a:solidFill>
              </a:rPr>
              <a:t>Source: Google Trends, Canada, web search, weekly, Oct 24, 2021 to Oct 25, 2026; relative interest 0 to 100 per lane; read Oct 29, 2026</a:t>
            </a:r>
            <a:endParaRPr lang="en-US" sz="10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743200" cy="1280160"/>
          </a:xfrm>
          <a:prstGeom prst="rect">
            <a:avLst/>
          </a:prstGeom>
          <a:noFill/>
          <a:ln/>
        </p:spPr>
        <p:txBody>
          <a:bodyPr wrap="square" lIns="0" tIns="0" rIns="0" bIns="0" rtlCol="0" anchor="b"/>
          <a:lstStyle/>
          <a:p>
            <a:pPr indent="0" marL="0">
              <a:buNone/>
            </a:pPr>
            <a:r>
              <a:rPr lang="en-US" sz="7200" dirty="0">
                <a:solidFill>
                  <a:srgbClr val="D9A7B7"/>
                </a:solidFill>
                <a:latin typeface="Cambria" pitchFamily="34" charset="0"/>
                <a:ea typeface="Cambria" pitchFamily="34" charset="-122"/>
                <a:cs typeface="Cambria" pitchFamily="34" charset="-120"/>
              </a:rPr>
              <a:t>05</a:t>
            </a:r>
            <a:endParaRPr lang="en-US" sz="7200" dirty="0"/>
          </a:p>
        </p:txBody>
      </p:sp>
      <p:sp>
        <p:nvSpPr>
          <p:cNvPr id="3" name="Text 0"/>
          <p:cNvSpPr/>
          <p:nvPr>
            <p:ph idx="101" type="title" hasCustomPrompt="1"/>
          </p:nvPr>
        </p:nvSpPr>
        <p:spPr>
          <a:xfrm>
            <a:off x="822960" y="3200400"/>
            <a:ext cx="10515600" cy="1097280"/>
          </a:xfrm>
          <a:prstGeom prst="rect">
            <a:avLst/>
          </a:prstGeom>
          <a:noFill/>
          <a:ln/>
        </p:spPr>
        <p:txBody>
          <a:bodyPr wrap="square" lIns="0" tIns="0" rIns="0" bIns="0" rtlCol="0" anchor="t"/>
          <a:lstStyle/>
          <a:p>
            <a:pPr algn="l" indent="0" marL="0">
              <a:buNone/>
            </a:pPr>
            <a:r>
              <a:rPr lang="en-US" sz="4000" dirty="0">
                <a:solidFill>
                  <a:schemeClr val="bg1"/>
                </a:solidFill>
                <a:latin typeface="Cambria" pitchFamily="34" charset="0"/>
                <a:ea typeface="Cambria" pitchFamily="34" charset="-122"/>
                <a:cs typeface="Cambria" pitchFamily="34" charset="-120"/>
              </a:rPr>
              <a:t>Pitch the season</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PITCH THE SEASON · THE BRIEF</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Teams of 2 or 3. One lane, one store, one decision backed by charts</a:t>
            </a:r>
            <a:endParaRPr lang="en-US" sz="2800" dirty="0"/>
          </a:p>
        </p:txBody>
      </p:sp>
      <p:sp>
        <p:nvSpPr>
          <p:cNvPr id="5" name="Shape 2"/>
          <p:cNvSpPr/>
          <p:nvPr/>
        </p:nvSpPr>
        <p:spPr>
          <a:xfrm>
            <a:off x="640080" y="1691640"/>
            <a:ext cx="2606040" cy="868680"/>
          </a:xfrm>
          <a:prstGeom prst="roundRect">
            <a:avLst>
              <a:gd name="adj" fmla="val 8421"/>
            </a:avLst>
          </a:prstGeom>
          <a:solidFill>
            <a:srgbClr val="F4EEF1"/>
          </a:solidFill>
          <a:ln w="9525">
            <a:solidFill>
              <a:srgbClr val="F4EEF1"/>
            </a:solidFill>
            <a:prstDash val="solid"/>
          </a:ln>
        </p:spPr>
      </p:sp>
      <p:sp>
        <p:nvSpPr>
          <p:cNvPr id="6" name="Shape 3"/>
          <p:cNvSpPr/>
          <p:nvPr/>
        </p:nvSpPr>
        <p:spPr>
          <a:xfrm>
            <a:off x="640080" y="1691640"/>
            <a:ext cx="109728" cy="868680"/>
          </a:xfrm>
          <a:prstGeom prst="rect">
            <a:avLst/>
          </a:prstGeom>
          <a:solidFill>
            <a:srgbClr val="D55E00"/>
          </a:solidFill>
          <a:ln w="12700">
            <a:solidFill>
              <a:srgbClr val="D55E00"/>
            </a:solidFill>
            <a:prstDash val="solid"/>
          </a:ln>
        </p:spPr>
      </p:sp>
      <p:sp>
        <p:nvSpPr>
          <p:cNvPr id="7" name="Text 4"/>
          <p:cNvSpPr txBox="1"/>
          <p:nvPr/>
        </p:nvSpPr>
        <p:spPr>
          <a:xfrm>
            <a:off x="914400" y="1783080"/>
            <a:ext cx="2286000" cy="365760"/>
          </a:xfrm>
          <a:prstGeom prst="rect">
            <a:avLst/>
          </a:prstGeom>
          <a:noFill/>
          <a:ln/>
        </p:spPr>
        <p:txBody>
          <a:bodyPr wrap="square" lIns="0" tIns="0" rIns="0" bIns="0" rtlCol="0" anchor="t"/>
          <a:lstStyle/>
          <a:p>
            <a:pPr indent="0" marL="0">
              <a:buNone/>
            </a:pPr>
            <a:r>
              <a:rPr lang="en-US" sz="1500" b="1" dirty="0">
                <a:solidFill>
                  <a:srgbClr val="612141"/>
                </a:solidFill>
              </a:rPr>
              <a:t>halloween costume</a:t>
            </a:r>
            <a:endParaRPr lang="en-US" sz="1500" dirty="0"/>
          </a:p>
        </p:txBody>
      </p:sp>
      <p:sp>
        <p:nvSpPr>
          <p:cNvPr id="8" name="Text 5"/>
          <p:cNvSpPr txBox="1"/>
          <p:nvPr/>
        </p:nvSpPr>
        <p:spPr>
          <a:xfrm>
            <a:off x="914400" y="2148840"/>
            <a:ext cx="2286000" cy="320040"/>
          </a:xfrm>
          <a:prstGeom prst="rect">
            <a:avLst/>
          </a:prstGeom>
          <a:noFill/>
          <a:ln/>
        </p:spPr>
        <p:txBody>
          <a:bodyPr wrap="square" lIns="0" tIns="0" rIns="0" bIns="0" rtlCol="0" anchor="t"/>
          <a:lstStyle/>
          <a:p>
            <a:pPr indent="0" marL="0">
              <a:buNone/>
            </a:pPr>
            <a:r>
              <a:rPr lang="en-US" sz="1300" dirty="0">
                <a:solidFill>
                  <a:srgbClr val="4A4A4A"/>
                </a:solidFill>
              </a:rPr>
              <a:t>party store</a:t>
            </a:r>
            <a:endParaRPr lang="en-US" sz="1300" dirty="0"/>
          </a:p>
        </p:txBody>
      </p:sp>
      <p:sp>
        <p:nvSpPr>
          <p:cNvPr id="9" name="Shape 6"/>
          <p:cNvSpPr/>
          <p:nvPr/>
        </p:nvSpPr>
        <p:spPr>
          <a:xfrm>
            <a:off x="3410712" y="1691640"/>
            <a:ext cx="2606040" cy="868680"/>
          </a:xfrm>
          <a:prstGeom prst="roundRect">
            <a:avLst>
              <a:gd name="adj" fmla="val 8421"/>
            </a:avLst>
          </a:prstGeom>
          <a:solidFill>
            <a:srgbClr val="F4EEF1"/>
          </a:solidFill>
          <a:ln w="9525">
            <a:solidFill>
              <a:srgbClr val="F4EEF1"/>
            </a:solidFill>
            <a:prstDash val="solid"/>
          </a:ln>
        </p:spPr>
      </p:sp>
      <p:sp>
        <p:nvSpPr>
          <p:cNvPr id="10" name="Shape 7"/>
          <p:cNvSpPr/>
          <p:nvPr/>
        </p:nvSpPr>
        <p:spPr>
          <a:xfrm>
            <a:off x="3410712" y="1691640"/>
            <a:ext cx="109728" cy="868680"/>
          </a:xfrm>
          <a:prstGeom prst="rect">
            <a:avLst/>
          </a:prstGeom>
          <a:solidFill>
            <a:srgbClr val="9D2235"/>
          </a:solidFill>
          <a:ln w="12700">
            <a:solidFill>
              <a:srgbClr val="9D2235"/>
            </a:solidFill>
            <a:prstDash val="solid"/>
          </a:ln>
        </p:spPr>
      </p:sp>
      <p:sp>
        <p:nvSpPr>
          <p:cNvPr id="11" name="Text 8"/>
          <p:cNvSpPr txBox="1"/>
          <p:nvPr/>
        </p:nvSpPr>
        <p:spPr>
          <a:xfrm>
            <a:off x="3685032" y="1783080"/>
            <a:ext cx="2286000" cy="365760"/>
          </a:xfrm>
          <a:prstGeom prst="rect">
            <a:avLst/>
          </a:prstGeom>
          <a:noFill/>
          <a:ln/>
        </p:spPr>
        <p:txBody>
          <a:bodyPr wrap="square" lIns="0" tIns="0" rIns="0" bIns="0" rtlCol="0" anchor="t"/>
          <a:lstStyle/>
          <a:p>
            <a:pPr indent="0" marL="0">
              <a:buNone/>
            </a:pPr>
            <a:r>
              <a:rPr lang="en-US" sz="1500" b="1" dirty="0">
                <a:solidFill>
                  <a:srgbClr val="612141"/>
                </a:solidFill>
              </a:rPr>
              <a:t>candy</a:t>
            </a:r>
            <a:endParaRPr lang="en-US" sz="1500" dirty="0"/>
          </a:p>
        </p:txBody>
      </p:sp>
      <p:sp>
        <p:nvSpPr>
          <p:cNvPr id="12" name="Text 9"/>
          <p:cNvSpPr txBox="1"/>
          <p:nvPr/>
        </p:nvSpPr>
        <p:spPr>
          <a:xfrm>
            <a:off x="3685032" y="2148840"/>
            <a:ext cx="2286000" cy="320040"/>
          </a:xfrm>
          <a:prstGeom prst="rect">
            <a:avLst/>
          </a:prstGeom>
          <a:noFill/>
          <a:ln/>
        </p:spPr>
        <p:txBody>
          <a:bodyPr wrap="square" lIns="0" tIns="0" rIns="0" bIns="0" rtlCol="0" anchor="t"/>
          <a:lstStyle/>
          <a:p>
            <a:pPr indent="0" marL="0">
              <a:buNone/>
            </a:pPr>
            <a:r>
              <a:rPr lang="en-US" sz="1300" dirty="0">
                <a:solidFill>
                  <a:srgbClr val="4A4A4A"/>
                </a:solidFill>
              </a:rPr>
              <a:t>convenience store</a:t>
            </a:r>
            <a:endParaRPr lang="en-US" sz="1300" dirty="0"/>
          </a:p>
        </p:txBody>
      </p:sp>
      <p:sp>
        <p:nvSpPr>
          <p:cNvPr id="13" name="Shape 10"/>
          <p:cNvSpPr/>
          <p:nvPr/>
        </p:nvSpPr>
        <p:spPr>
          <a:xfrm>
            <a:off x="6181344" y="1691640"/>
            <a:ext cx="2606040" cy="868680"/>
          </a:xfrm>
          <a:prstGeom prst="roundRect">
            <a:avLst>
              <a:gd name="adj" fmla="val 8421"/>
            </a:avLst>
          </a:prstGeom>
          <a:solidFill>
            <a:srgbClr val="F4EEF1"/>
          </a:solidFill>
          <a:ln w="9525">
            <a:solidFill>
              <a:srgbClr val="F4EEF1"/>
            </a:solidFill>
            <a:prstDash val="solid"/>
          </a:ln>
        </p:spPr>
      </p:sp>
      <p:sp>
        <p:nvSpPr>
          <p:cNvPr id="14" name="Shape 11"/>
          <p:cNvSpPr/>
          <p:nvPr/>
        </p:nvSpPr>
        <p:spPr>
          <a:xfrm>
            <a:off x="6181344" y="1691640"/>
            <a:ext cx="109728" cy="868680"/>
          </a:xfrm>
          <a:prstGeom prst="rect">
            <a:avLst/>
          </a:prstGeom>
          <a:solidFill>
            <a:srgbClr val="B8790F"/>
          </a:solidFill>
          <a:ln w="12700">
            <a:solidFill>
              <a:srgbClr val="B8790F"/>
            </a:solidFill>
            <a:prstDash val="solid"/>
          </a:ln>
        </p:spPr>
      </p:sp>
      <p:sp>
        <p:nvSpPr>
          <p:cNvPr id="15" name="Text 12"/>
          <p:cNvSpPr txBox="1"/>
          <p:nvPr/>
        </p:nvSpPr>
        <p:spPr>
          <a:xfrm>
            <a:off x="6455664" y="1783080"/>
            <a:ext cx="2286000" cy="365760"/>
          </a:xfrm>
          <a:prstGeom prst="rect">
            <a:avLst/>
          </a:prstGeom>
          <a:noFill/>
          <a:ln/>
        </p:spPr>
        <p:txBody>
          <a:bodyPr wrap="square" lIns="0" tIns="0" rIns="0" bIns="0" rtlCol="0" anchor="t"/>
          <a:lstStyle/>
          <a:p>
            <a:pPr indent="0" marL="0">
              <a:buNone/>
            </a:pPr>
            <a:r>
              <a:rPr lang="en-US" sz="1500" b="1" dirty="0">
                <a:solidFill>
                  <a:srgbClr val="612141"/>
                </a:solidFill>
              </a:rPr>
              <a:t>pumpkin spice</a:t>
            </a:r>
            <a:endParaRPr lang="en-US" sz="1500" dirty="0"/>
          </a:p>
        </p:txBody>
      </p:sp>
      <p:sp>
        <p:nvSpPr>
          <p:cNvPr id="16" name="Text 13"/>
          <p:cNvSpPr txBox="1"/>
          <p:nvPr/>
        </p:nvSpPr>
        <p:spPr>
          <a:xfrm>
            <a:off x="6455664" y="2148840"/>
            <a:ext cx="2286000" cy="320040"/>
          </a:xfrm>
          <a:prstGeom prst="rect">
            <a:avLst/>
          </a:prstGeom>
          <a:noFill/>
          <a:ln/>
        </p:spPr>
        <p:txBody>
          <a:bodyPr wrap="square" lIns="0" tIns="0" rIns="0" bIns="0" rtlCol="0" anchor="t"/>
          <a:lstStyle/>
          <a:p>
            <a:pPr indent="0" marL="0">
              <a:buNone/>
            </a:pPr>
            <a:r>
              <a:rPr lang="en-US" sz="1300" dirty="0">
                <a:solidFill>
                  <a:srgbClr val="4A4A4A"/>
                </a:solidFill>
              </a:rPr>
              <a:t>café</a:t>
            </a:r>
            <a:endParaRPr lang="en-US" sz="1300" dirty="0"/>
          </a:p>
        </p:txBody>
      </p:sp>
      <p:sp>
        <p:nvSpPr>
          <p:cNvPr id="17" name="Shape 14"/>
          <p:cNvSpPr/>
          <p:nvPr/>
        </p:nvSpPr>
        <p:spPr>
          <a:xfrm>
            <a:off x="8951976" y="1691640"/>
            <a:ext cx="2606040" cy="868680"/>
          </a:xfrm>
          <a:prstGeom prst="roundRect">
            <a:avLst>
              <a:gd name="adj" fmla="val 8421"/>
            </a:avLst>
          </a:prstGeom>
          <a:solidFill>
            <a:srgbClr val="F4EEF1"/>
          </a:solidFill>
          <a:ln w="9525">
            <a:solidFill>
              <a:srgbClr val="F4EEF1"/>
            </a:solidFill>
            <a:prstDash val="solid"/>
          </a:ln>
        </p:spPr>
      </p:sp>
      <p:sp>
        <p:nvSpPr>
          <p:cNvPr id="18" name="Shape 15"/>
          <p:cNvSpPr/>
          <p:nvPr/>
        </p:nvSpPr>
        <p:spPr>
          <a:xfrm>
            <a:off x="8951976" y="1691640"/>
            <a:ext cx="109728" cy="868680"/>
          </a:xfrm>
          <a:prstGeom prst="rect">
            <a:avLst/>
          </a:prstGeom>
          <a:solidFill>
            <a:srgbClr val="2E8B57"/>
          </a:solidFill>
          <a:ln w="12700">
            <a:solidFill>
              <a:srgbClr val="2E8B57"/>
            </a:solidFill>
            <a:prstDash val="solid"/>
          </a:ln>
        </p:spPr>
      </p:sp>
      <p:sp>
        <p:nvSpPr>
          <p:cNvPr id="19" name="Text 16"/>
          <p:cNvSpPr txBox="1"/>
          <p:nvPr/>
        </p:nvSpPr>
        <p:spPr>
          <a:xfrm>
            <a:off x="9226296" y="1783080"/>
            <a:ext cx="2286000" cy="365760"/>
          </a:xfrm>
          <a:prstGeom prst="rect">
            <a:avLst/>
          </a:prstGeom>
          <a:noFill/>
          <a:ln/>
        </p:spPr>
        <p:txBody>
          <a:bodyPr wrap="square" lIns="0" tIns="0" rIns="0" bIns="0" rtlCol="0" anchor="t"/>
          <a:lstStyle/>
          <a:p>
            <a:pPr indent="0" marL="0">
              <a:buNone/>
            </a:pPr>
            <a:r>
              <a:rPr lang="en-US" sz="1500" b="1" dirty="0">
                <a:solidFill>
                  <a:srgbClr val="612141"/>
                </a:solidFill>
              </a:rPr>
              <a:t>christmas gifts</a:t>
            </a:r>
            <a:endParaRPr lang="en-US" sz="1500" dirty="0"/>
          </a:p>
        </p:txBody>
      </p:sp>
      <p:sp>
        <p:nvSpPr>
          <p:cNvPr id="20" name="Text 17"/>
          <p:cNvSpPr txBox="1"/>
          <p:nvPr/>
        </p:nvSpPr>
        <p:spPr>
          <a:xfrm>
            <a:off x="9226296" y="2148840"/>
            <a:ext cx="2286000" cy="320040"/>
          </a:xfrm>
          <a:prstGeom prst="rect">
            <a:avLst/>
          </a:prstGeom>
          <a:noFill/>
          <a:ln/>
        </p:spPr>
        <p:txBody>
          <a:bodyPr wrap="square" lIns="0" tIns="0" rIns="0" bIns="0" rtlCol="0" anchor="t"/>
          <a:lstStyle/>
          <a:p>
            <a:pPr indent="0" marL="0">
              <a:buNone/>
            </a:pPr>
            <a:r>
              <a:rPr lang="en-US" sz="1300" dirty="0">
                <a:solidFill>
                  <a:srgbClr val="4A4A4A"/>
                </a:solidFill>
              </a:rPr>
              <a:t>gift shop</a:t>
            </a:r>
            <a:endParaRPr lang="en-US" sz="1300" dirty="0"/>
          </a:p>
        </p:txBody>
      </p:sp>
      <p:sp>
        <p:nvSpPr>
          <p:cNvPr id="21" name="Shape 18"/>
          <p:cNvSpPr/>
          <p:nvPr/>
        </p:nvSpPr>
        <p:spPr>
          <a:xfrm>
            <a:off x="640080" y="2715768"/>
            <a:ext cx="2606040" cy="868680"/>
          </a:xfrm>
          <a:prstGeom prst="roundRect">
            <a:avLst>
              <a:gd name="adj" fmla="val 8421"/>
            </a:avLst>
          </a:prstGeom>
          <a:solidFill>
            <a:srgbClr val="F4EEF1"/>
          </a:solidFill>
          <a:ln w="9525">
            <a:solidFill>
              <a:srgbClr val="F4EEF1"/>
            </a:solidFill>
            <a:prstDash val="solid"/>
          </a:ln>
        </p:spPr>
      </p:sp>
      <p:sp>
        <p:nvSpPr>
          <p:cNvPr id="22" name="Shape 19"/>
          <p:cNvSpPr/>
          <p:nvPr/>
        </p:nvSpPr>
        <p:spPr>
          <a:xfrm>
            <a:off x="640080" y="2715768"/>
            <a:ext cx="109728" cy="868680"/>
          </a:xfrm>
          <a:prstGeom prst="rect">
            <a:avLst/>
          </a:prstGeom>
          <a:solidFill>
            <a:srgbClr val="CC79A7"/>
          </a:solidFill>
          <a:ln w="12700">
            <a:solidFill>
              <a:srgbClr val="CC79A7"/>
            </a:solidFill>
            <a:prstDash val="solid"/>
          </a:ln>
        </p:spPr>
      </p:sp>
      <p:sp>
        <p:nvSpPr>
          <p:cNvPr id="23" name="Text 20"/>
          <p:cNvSpPr txBox="1"/>
          <p:nvPr/>
        </p:nvSpPr>
        <p:spPr>
          <a:xfrm>
            <a:off x="914400" y="2807208"/>
            <a:ext cx="2286000" cy="365760"/>
          </a:xfrm>
          <a:prstGeom prst="rect">
            <a:avLst/>
          </a:prstGeom>
          <a:noFill/>
          <a:ln/>
        </p:spPr>
        <p:txBody>
          <a:bodyPr wrap="square" lIns="0" tIns="0" rIns="0" bIns="0" rtlCol="0" anchor="t"/>
          <a:lstStyle/>
          <a:p>
            <a:pPr indent="0" marL="0">
              <a:buNone/>
            </a:pPr>
            <a:r>
              <a:rPr lang="en-US" sz="1500" b="1" dirty="0">
                <a:solidFill>
                  <a:srgbClr val="612141"/>
                </a:solidFill>
              </a:rPr>
              <a:t>valentines day</a:t>
            </a:r>
            <a:endParaRPr lang="en-US" sz="1500" dirty="0"/>
          </a:p>
        </p:txBody>
      </p:sp>
      <p:sp>
        <p:nvSpPr>
          <p:cNvPr id="24" name="Text 21"/>
          <p:cNvSpPr txBox="1"/>
          <p:nvPr/>
        </p:nvSpPr>
        <p:spPr>
          <a:xfrm>
            <a:off x="914400" y="3172968"/>
            <a:ext cx="2286000" cy="320040"/>
          </a:xfrm>
          <a:prstGeom prst="rect">
            <a:avLst/>
          </a:prstGeom>
          <a:noFill/>
          <a:ln/>
        </p:spPr>
        <p:txBody>
          <a:bodyPr wrap="square" lIns="0" tIns="0" rIns="0" bIns="0" rtlCol="0" anchor="t"/>
          <a:lstStyle/>
          <a:p>
            <a:pPr indent="0" marL="0">
              <a:buNone/>
            </a:pPr>
            <a:r>
              <a:rPr lang="en-US" sz="1300" dirty="0">
                <a:solidFill>
                  <a:srgbClr val="4A4A4A"/>
                </a:solidFill>
              </a:rPr>
              <a:t>florist / card shop</a:t>
            </a:r>
            <a:endParaRPr lang="en-US" sz="1300" dirty="0"/>
          </a:p>
        </p:txBody>
      </p:sp>
      <p:sp>
        <p:nvSpPr>
          <p:cNvPr id="25" name="Shape 22"/>
          <p:cNvSpPr/>
          <p:nvPr/>
        </p:nvSpPr>
        <p:spPr>
          <a:xfrm>
            <a:off x="3410712" y="2715768"/>
            <a:ext cx="2606040" cy="868680"/>
          </a:xfrm>
          <a:prstGeom prst="roundRect">
            <a:avLst>
              <a:gd name="adj" fmla="val 8421"/>
            </a:avLst>
          </a:prstGeom>
          <a:solidFill>
            <a:srgbClr val="F4EEF1"/>
          </a:solidFill>
          <a:ln w="9525">
            <a:solidFill>
              <a:srgbClr val="F4EEF1"/>
            </a:solidFill>
            <a:prstDash val="solid"/>
          </a:ln>
        </p:spPr>
      </p:sp>
      <p:sp>
        <p:nvSpPr>
          <p:cNvPr id="26" name="Shape 23"/>
          <p:cNvSpPr/>
          <p:nvPr/>
        </p:nvSpPr>
        <p:spPr>
          <a:xfrm>
            <a:off x="3410712" y="2715768"/>
            <a:ext cx="109728" cy="868680"/>
          </a:xfrm>
          <a:prstGeom prst="rect">
            <a:avLst/>
          </a:prstGeom>
          <a:solidFill>
            <a:srgbClr val="56B4E9"/>
          </a:solidFill>
          <a:ln w="12700">
            <a:solidFill>
              <a:srgbClr val="56B4E9"/>
            </a:solidFill>
            <a:prstDash val="solid"/>
          </a:ln>
        </p:spPr>
      </p:sp>
      <p:sp>
        <p:nvSpPr>
          <p:cNvPr id="27" name="Text 24"/>
          <p:cNvSpPr txBox="1"/>
          <p:nvPr/>
        </p:nvSpPr>
        <p:spPr>
          <a:xfrm>
            <a:off x="3685032" y="2807208"/>
            <a:ext cx="2286000" cy="365760"/>
          </a:xfrm>
          <a:prstGeom prst="rect">
            <a:avLst/>
          </a:prstGeom>
          <a:noFill/>
          <a:ln/>
        </p:spPr>
        <p:txBody>
          <a:bodyPr wrap="square" lIns="0" tIns="0" rIns="0" bIns="0" rtlCol="0" anchor="t"/>
          <a:lstStyle/>
          <a:p>
            <a:pPr indent="0" marL="0">
              <a:buNone/>
            </a:pPr>
            <a:r>
              <a:rPr lang="en-US" sz="1500" b="1" dirty="0">
                <a:solidFill>
                  <a:srgbClr val="612141"/>
                </a:solidFill>
              </a:rPr>
              <a:t>sunscreen</a:t>
            </a:r>
            <a:endParaRPr lang="en-US" sz="1500" dirty="0"/>
          </a:p>
        </p:txBody>
      </p:sp>
      <p:sp>
        <p:nvSpPr>
          <p:cNvPr id="28" name="Text 25"/>
          <p:cNvSpPr txBox="1"/>
          <p:nvPr/>
        </p:nvSpPr>
        <p:spPr>
          <a:xfrm>
            <a:off x="3685032" y="3172968"/>
            <a:ext cx="2286000" cy="320040"/>
          </a:xfrm>
          <a:prstGeom prst="rect">
            <a:avLst/>
          </a:prstGeom>
          <a:noFill/>
          <a:ln/>
        </p:spPr>
        <p:txBody>
          <a:bodyPr wrap="square" lIns="0" tIns="0" rIns="0" bIns="0" rtlCol="0" anchor="t"/>
          <a:lstStyle/>
          <a:p>
            <a:pPr indent="0" marL="0">
              <a:buNone/>
            </a:pPr>
            <a:r>
              <a:rPr lang="en-US" sz="1300" dirty="0">
                <a:solidFill>
                  <a:srgbClr val="4A4A4A"/>
                </a:solidFill>
              </a:rPr>
              <a:t>pharmacy</a:t>
            </a:r>
            <a:endParaRPr lang="en-US" sz="1300" dirty="0"/>
          </a:p>
        </p:txBody>
      </p:sp>
      <p:sp>
        <p:nvSpPr>
          <p:cNvPr id="29" name="Shape 26"/>
          <p:cNvSpPr/>
          <p:nvPr/>
        </p:nvSpPr>
        <p:spPr>
          <a:xfrm>
            <a:off x="6181344" y="2715768"/>
            <a:ext cx="2606040" cy="868680"/>
          </a:xfrm>
          <a:prstGeom prst="roundRect">
            <a:avLst>
              <a:gd name="adj" fmla="val 8421"/>
            </a:avLst>
          </a:prstGeom>
          <a:solidFill>
            <a:srgbClr val="F4EEF1"/>
          </a:solidFill>
          <a:ln w="9525">
            <a:solidFill>
              <a:srgbClr val="F4EEF1"/>
            </a:solidFill>
            <a:prstDash val="solid"/>
          </a:ln>
        </p:spPr>
      </p:sp>
      <p:sp>
        <p:nvSpPr>
          <p:cNvPr id="30" name="Shape 27"/>
          <p:cNvSpPr/>
          <p:nvPr/>
        </p:nvSpPr>
        <p:spPr>
          <a:xfrm>
            <a:off x="6181344" y="2715768"/>
            <a:ext cx="109728" cy="868680"/>
          </a:xfrm>
          <a:prstGeom prst="rect">
            <a:avLst/>
          </a:prstGeom>
          <a:solidFill>
            <a:srgbClr val="0072B2"/>
          </a:solidFill>
          <a:ln w="12700">
            <a:solidFill>
              <a:srgbClr val="0072B2"/>
            </a:solidFill>
            <a:prstDash val="solid"/>
          </a:ln>
        </p:spPr>
      </p:sp>
      <p:sp>
        <p:nvSpPr>
          <p:cNvPr id="31" name="Text 28"/>
          <p:cNvSpPr txBox="1"/>
          <p:nvPr/>
        </p:nvSpPr>
        <p:spPr>
          <a:xfrm>
            <a:off x="6455664" y="2807208"/>
            <a:ext cx="2286000" cy="365760"/>
          </a:xfrm>
          <a:prstGeom prst="rect">
            <a:avLst/>
          </a:prstGeom>
          <a:noFill/>
          <a:ln/>
        </p:spPr>
        <p:txBody>
          <a:bodyPr wrap="square" lIns="0" tIns="0" rIns="0" bIns="0" rtlCol="0" anchor="t"/>
          <a:lstStyle/>
          <a:p>
            <a:pPr indent="0" marL="0">
              <a:buNone/>
            </a:pPr>
            <a:r>
              <a:rPr lang="en-US" sz="1500" b="1" dirty="0">
                <a:solidFill>
                  <a:srgbClr val="612141"/>
                </a:solidFill>
              </a:rPr>
              <a:t>snow tires</a:t>
            </a:r>
            <a:endParaRPr lang="en-US" sz="1500" dirty="0"/>
          </a:p>
        </p:txBody>
      </p:sp>
      <p:sp>
        <p:nvSpPr>
          <p:cNvPr id="32" name="Text 29"/>
          <p:cNvSpPr txBox="1"/>
          <p:nvPr/>
        </p:nvSpPr>
        <p:spPr>
          <a:xfrm>
            <a:off x="6455664" y="3172968"/>
            <a:ext cx="2286000" cy="320040"/>
          </a:xfrm>
          <a:prstGeom prst="rect">
            <a:avLst/>
          </a:prstGeom>
          <a:noFill/>
          <a:ln/>
        </p:spPr>
        <p:txBody>
          <a:bodyPr wrap="square" lIns="0" tIns="0" rIns="0" bIns="0" rtlCol="0" anchor="t"/>
          <a:lstStyle/>
          <a:p>
            <a:pPr indent="0" marL="0">
              <a:buNone/>
            </a:pPr>
            <a:r>
              <a:rPr lang="en-US" sz="1300" dirty="0">
                <a:solidFill>
                  <a:srgbClr val="4A4A4A"/>
                </a:solidFill>
              </a:rPr>
              <a:t>garage</a:t>
            </a:r>
            <a:endParaRPr lang="en-US" sz="1300" dirty="0"/>
          </a:p>
        </p:txBody>
      </p:sp>
      <p:sp>
        <p:nvSpPr>
          <p:cNvPr id="33" name="Shape 30"/>
          <p:cNvSpPr/>
          <p:nvPr/>
        </p:nvSpPr>
        <p:spPr>
          <a:xfrm>
            <a:off x="8951976" y="2715768"/>
            <a:ext cx="2606040" cy="868680"/>
          </a:xfrm>
          <a:prstGeom prst="roundRect">
            <a:avLst>
              <a:gd name="adj" fmla="val 8421"/>
            </a:avLst>
          </a:prstGeom>
          <a:solidFill>
            <a:srgbClr val="F4EEF1"/>
          </a:solidFill>
          <a:ln w="9525">
            <a:solidFill>
              <a:srgbClr val="F4EEF1"/>
            </a:solidFill>
            <a:prstDash val="solid"/>
          </a:ln>
        </p:spPr>
      </p:sp>
      <p:sp>
        <p:nvSpPr>
          <p:cNvPr id="34" name="Shape 31"/>
          <p:cNvSpPr/>
          <p:nvPr/>
        </p:nvSpPr>
        <p:spPr>
          <a:xfrm>
            <a:off x="8951976" y="2715768"/>
            <a:ext cx="109728" cy="868680"/>
          </a:xfrm>
          <a:prstGeom prst="rect">
            <a:avLst/>
          </a:prstGeom>
          <a:solidFill>
            <a:srgbClr val="7B5EA7"/>
          </a:solidFill>
          <a:ln w="12700">
            <a:solidFill>
              <a:srgbClr val="7B5EA7"/>
            </a:solidFill>
            <a:prstDash val="solid"/>
          </a:ln>
        </p:spPr>
      </p:sp>
      <p:sp>
        <p:nvSpPr>
          <p:cNvPr id="35" name="Text 32"/>
          <p:cNvSpPr txBox="1"/>
          <p:nvPr/>
        </p:nvSpPr>
        <p:spPr>
          <a:xfrm>
            <a:off x="9226296" y="2807208"/>
            <a:ext cx="2286000" cy="365760"/>
          </a:xfrm>
          <a:prstGeom prst="rect">
            <a:avLst/>
          </a:prstGeom>
          <a:noFill/>
          <a:ln/>
        </p:spPr>
        <p:txBody>
          <a:bodyPr wrap="square" lIns="0" tIns="0" rIns="0" bIns="0" rtlCol="0" anchor="t"/>
          <a:lstStyle/>
          <a:p>
            <a:pPr indent="0" marL="0">
              <a:buNone/>
            </a:pPr>
            <a:r>
              <a:rPr lang="en-US" sz="1500" b="1" dirty="0">
                <a:solidFill>
                  <a:srgbClr val="612141"/>
                </a:solidFill>
              </a:rPr>
              <a:t>back to school</a:t>
            </a:r>
            <a:endParaRPr lang="en-US" sz="1500" dirty="0"/>
          </a:p>
        </p:txBody>
      </p:sp>
      <p:sp>
        <p:nvSpPr>
          <p:cNvPr id="36" name="Text 33"/>
          <p:cNvSpPr txBox="1"/>
          <p:nvPr/>
        </p:nvSpPr>
        <p:spPr>
          <a:xfrm>
            <a:off x="9226296" y="3172968"/>
            <a:ext cx="2286000" cy="320040"/>
          </a:xfrm>
          <a:prstGeom prst="rect">
            <a:avLst/>
          </a:prstGeom>
          <a:noFill/>
          <a:ln/>
        </p:spPr>
        <p:txBody>
          <a:bodyPr wrap="square" lIns="0" tIns="0" rIns="0" bIns="0" rtlCol="0" anchor="t"/>
          <a:lstStyle/>
          <a:p>
            <a:pPr indent="0" marL="0">
              <a:buNone/>
            </a:pPr>
            <a:r>
              <a:rPr lang="en-US" sz="1300" dirty="0">
                <a:solidFill>
                  <a:srgbClr val="4A4A4A"/>
                </a:solidFill>
              </a:rPr>
              <a:t>stationery store</a:t>
            </a:r>
            <a:endParaRPr lang="en-US" sz="1300" dirty="0"/>
          </a:p>
        </p:txBody>
      </p:sp>
      <p:sp>
        <p:nvSpPr>
          <p:cNvPr id="37" name="Text 34"/>
          <p:cNvSpPr txBox="1"/>
          <p:nvPr/>
        </p:nvSpPr>
        <p:spPr>
          <a:xfrm>
            <a:off x="640080" y="388620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THE DECISION</a:t>
            </a:r>
            <a:endParaRPr lang="en-US" sz="1200" dirty="0"/>
          </a:p>
        </p:txBody>
      </p:sp>
      <p:sp>
        <p:nvSpPr>
          <p:cNvPr id="38" name="Text 35"/>
          <p:cNvSpPr txBox="1"/>
          <p:nvPr/>
        </p:nvSpPr>
        <p:spPr>
          <a:xfrm>
            <a:off x="640080" y="4160520"/>
            <a:ext cx="2606040" cy="320040"/>
          </a:xfrm>
          <a:prstGeom prst="rect">
            <a:avLst/>
          </a:prstGeom>
          <a:noFill/>
          <a:ln/>
        </p:spPr>
        <p:txBody>
          <a:bodyPr wrap="square" lIns="0" tIns="0" rIns="0" bIns="0" rtlCol="0" anchor="t"/>
          <a:lstStyle/>
          <a:p>
            <a:pPr indent="0" marL="0">
              <a:buNone/>
            </a:pPr>
            <a:r>
              <a:rPr lang="en-US" sz="1500" b="1" dirty="0">
                <a:solidFill>
                  <a:srgbClr val="222222"/>
                </a:solidFill>
              </a:rPr>
              <a:t>Stock date</a:t>
            </a:r>
            <a:endParaRPr lang="en-US" sz="1500" dirty="0"/>
          </a:p>
        </p:txBody>
      </p:sp>
      <p:sp>
        <p:nvSpPr>
          <p:cNvPr id="39" name="Text 36"/>
          <p:cNvSpPr txBox="1"/>
          <p:nvPr/>
        </p:nvSpPr>
        <p:spPr>
          <a:xfrm>
            <a:off x="640080" y="4480560"/>
            <a:ext cx="2606040" cy="365760"/>
          </a:xfrm>
          <a:prstGeom prst="rect">
            <a:avLst/>
          </a:prstGeom>
          <a:noFill/>
          <a:ln/>
        </p:spPr>
        <p:txBody>
          <a:bodyPr wrap="square" lIns="0" tIns="0" rIns="0" bIns="0" rtlCol="0" anchor="t"/>
          <a:lstStyle/>
          <a:p>
            <a:pPr indent="0" marL="0">
              <a:buNone/>
            </a:pPr>
            <a:r>
              <a:rPr lang="en-US" sz="1300" dirty="0">
                <a:solidFill>
                  <a:srgbClr val="4A4A4A"/>
                </a:solidFill>
              </a:rPr>
              <a:t>shelves full by the stock-up week</a:t>
            </a:r>
            <a:endParaRPr lang="en-US" sz="1300" dirty="0"/>
          </a:p>
        </p:txBody>
      </p:sp>
      <p:sp>
        <p:nvSpPr>
          <p:cNvPr id="40" name="Text 37"/>
          <p:cNvSpPr txBox="1"/>
          <p:nvPr/>
        </p:nvSpPr>
        <p:spPr>
          <a:xfrm>
            <a:off x="3410712" y="4160520"/>
            <a:ext cx="2606040" cy="320040"/>
          </a:xfrm>
          <a:prstGeom prst="rect">
            <a:avLst/>
          </a:prstGeom>
          <a:noFill/>
          <a:ln/>
        </p:spPr>
        <p:txBody>
          <a:bodyPr wrap="square" lIns="0" tIns="0" rIns="0" bIns="0" rtlCol="0" anchor="t"/>
          <a:lstStyle/>
          <a:p>
            <a:pPr indent="0" marL="0">
              <a:buNone/>
            </a:pPr>
            <a:r>
              <a:rPr lang="en-US" sz="1500" b="1" dirty="0">
                <a:solidFill>
                  <a:srgbClr val="222222"/>
                </a:solidFill>
              </a:rPr>
              <a:t>Ad start</a:t>
            </a:r>
            <a:endParaRPr lang="en-US" sz="1500" dirty="0"/>
          </a:p>
        </p:txBody>
      </p:sp>
      <p:sp>
        <p:nvSpPr>
          <p:cNvPr id="41" name="Text 38"/>
          <p:cNvSpPr txBox="1"/>
          <p:nvPr/>
        </p:nvSpPr>
        <p:spPr>
          <a:xfrm>
            <a:off x="3410712" y="4480560"/>
            <a:ext cx="2606040" cy="365760"/>
          </a:xfrm>
          <a:prstGeom prst="rect">
            <a:avLst/>
          </a:prstGeom>
          <a:noFill/>
          <a:ln/>
        </p:spPr>
        <p:txBody>
          <a:bodyPr wrap="square" lIns="0" tIns="0" rIns="0" bIns="0" rtlCol="0" anchor="t"/>
          <a:lstStyle/>
          <a:p>
            <a:pPr indent="0" marL="0">
              <a:buNone/>
            </a:pPr>
            <a:r>
              <a:rPr lang="en-US" sz="1300" dirty="0">
                <a:solidFill>
                  <a:srgbClr val="4A4A4A"/>
                </a:solidFill>
              </a:rPr>
              <a:t>a week or two before</a:t>
            </a:r>
            <a:endParaRPr lang="en-US" sz="1300" dirty="0"/>
          </a:p>
        </p:txBody>
      </p:sp>
      <p:sp>
        <p:nvSpPr>
          <p:cNvPr id="42" name="Text 39"/>
          <p:cNvSpPr txBox="1"/>
          <p:nvPr/>
        </p:nvSpPr>
        <p:spPr>
          <a:xfrm>
            <a:off x="6181344" y="4160520"/>
            <a:ext cx="2606040" cy="320040"/>
          </a:xfrm>
          <a:prstGeom prst="rect">
            <a:avLst/>
          </a:prstGeom>
          <a:noFill/>
          <a:ln/>
        </p:spPr>
        <p:txBody>
          <a:bodyPr wrap="square" lIns="0" tIns="0" rIns="0" bIns="0" rtlCol="0" anchor="t"/>
          <a:lstStyle/>
          <a:p>
            <a:pPr indent="0" marL="0">
              <a:buNone/>
            </a:pPr>
            <a:r>
              <a:rPr lang="en-US" sz="1500" b="1" dirty="0">
                <a:solidFill>
                  <a:srgbClr val="222222"/>
                </a:solidFill>
              </a:rPr>
              <a:t>Markdown date</a:t>
            </a:r>
            <a:endParaRPr lang="en-US" sz="1500" dirty="0"/>
          </a:p>
        </p:txBody>
      </p:sp>
      <p:sp>
        <p:nvSpPr>
          <p:cNvPr id="43" name="Text 40"/>
          <p:cNvSpPr txBox="1"/>
          <p:nvPr/>
        </p:nvSpPr>
        <p:spPr>
          <a:xfrm>
            <a:off x="6181344" y="4480560"/>
            <a:ext cx="2606040" cy="365760"/>
          </a:xfrm>
          <a:prstGeom prst="rect">
            <a:avLst/>
          </a:prstGeom>
          <a:noFill/>
          <a:ln/>
        </p:spPr>
        <p:txBody>
          <a:bodyPr wrap="square" lIns="0" tIns="0" rIns="0" bIns="0" rtlCol="0" anchor="t"/>
          <a:lstStyle/>
          <a:p>
            <a:pPr indent="0" marL="0">
              <a:buNone/>
            </a:pPr>
            <a:r>
              <a:rPr lang="en-US" sz="1300" dirty="0">
                <a:solidFill>
                  <a:srgbClr val="4A4A4A"/>
                </a:solidFill>
              </a:rPr>
              <a:t>after the last busy week</a:t>
            </a:r>
            <a:endParaRPr lang="en-US" sz="1300" dirty="0"/>
          </a:p>
        </p:txBody>
      </p:sp>
      <p:sp>
        <p:nvSpPr>
          <p:cNvPr id="44" name="Text 41"/>
          <p:cNvSpPr txBox="1"/>
          <p:nvPr/>
        </p:nvSpPr>
        <p:spPr>
          <a:xfrm>
            <a:off x="8951976" y="4160520"/>
            <a:ext cx="2606040" cy="320040"/>
          </a:xfrm>
          <a:prstGeom prst="rect">
            <a:avLst/>
          </a:prstGeom>
          <a:noFill/>
          <a:ln/>
        </p:spPr>
        <p:txBody>
          <a:bodyPr wrap="square" lIns="0" tIns="0" rIns="0" bIns="0" rtlCol="0" anchor="t"/>
          <a:lstStyle/>
          <a:p>
            <a:pPr indent="0" marL="0">
              <a:buNone/>
            </a:pPr>
            <a:r>
              <a:rPr lang="en-US" sz="1500" b="1" dirty="0">
                <a:solidFill>
                  <a:srgbClr val="222222"/>
                </a:solidFill>
              </a:rPr>
              <a:t>How to check</a:t>
            </a:r>
            <a:endParaRPr lang="en-US" sz="1500" dirty="0"/>
          </a:p>
        </p:txBody>
      </p:sp>
      <p:sp>
        <p:nvSpPr>
          <p:cNvPr id="45" name="Text 42"/>
          <p:cNvSpPr txBox="1"/>
          <p:nvPr/>
        </p:nvSpPr>
        <p:spPr>
          <a:xfrm>
            <a:off x="8951976" y="4480560"/>
            <a:ext cx="2606040" cy="365760"/>
          </a:xfrm>
          <a:prstGeom prst="rect">
            <a:avLst/>
          </a:prstGeom>
          <a:noFill/>
          <a:ln/>
        </p:spPr>
        <p:txBody>
          <a:bodyPr wrap="square" lIns="0" tIns="0" rIns="0" bIns="0" rtlCol="0" anchor="t"/>
          <a:lstStyle/>
          <a:p>
            <a:pPr indent="0" marL="0">
              <a:buNone/>
            </a:pPr>
            <a:r>
              <a:rPr lang="en-US" sz="1300" dirty="0">
                <a:solidFill>
                  <a:srgbClr val="4A4A4A"/>
                </a:solidFill>
              </a:rPr>
              <a:t>real sales next year, not searches</a:t>
            </a:r>
            <a:endParaRPr lang="en-US" sz="1300" dirty="0"/>
          </a:p>
        </p:txBody>
      </p:sp>
      <p:sp>
        <p:nvSpPr>
          <p:cNvPr id="46" name="Shape 43"/>
          <p:cNvSpPr/>
          <p:nvPr/>
        </p:nvSpPr>
        <p:spPr>
          <a:xfrm>
            <a:off x="640080" y="5029200"/>
            <a:ext cx="10908792" cy="868680"/>
          </a:xfrm>
          <a:prstGeom prst="roundRect">
            <a:avLst>
              <a:gd name="adj" fmla="val 8421"/>
            </a:avLst>
          </a:prstGeom>
          <a:solidFill>
            <a:srgbClr val="612141"/>
          </a:solidFill>
          <a:ln w="9525">
            <a:solidFill>
              <a:srgbClr val="612141"/>
            </a:solidFill>
            <a:prstDash val="solid"/>
          </a:ln>
        </p:spPr>
      </p:sp>
      <p:sp>
        <p:nvSpPr>
          <p:cNvPr id="47" name="Text 44"/>
          <p:cNvSpPr txBox="1"/>
          <p:nvPr/>
        </p:nvSpPr>
        <p:spPr>
          <a:xfrm>
            <a:off x="868680" y="5074920"/>
            <a:ext cx="10451592" cy="777240"/>
          </a:xfrm>
          <a:prstGeom prst="rect">
            <a:avLst/>
          </a:prstGeom>
          <a:noFill/>
          <a:ln/>
        </p:spPr>
        <p:txBody>
          <a:bodyPr wrap="square" lIns="0" tIns="0" rIns="0" bIns="0" rtlCol="0" anchor="ctr"/>
          <a:lstStyle/>
          <a:p>
            <a:pPr indent="0" marL="0">
              <a:buNone/>
            </a:pPr>
            <a:r>
              <a:rPr lang="en-US" sz="1400" b="1" dirty="0">
                <a:solidFill>
                  <a:srgbClr val="FFFFFF"/>
                </a:solidFill>
              </a:rPr>
              <a:t>Chart rule  </a:t>
            </a:r>
            <a:pPr indent="0" marL="0">
              <a:buNone/>
            </a:pPr>
            <a:r>
              <a:rPr lang="en-US" sz="1400" dirty="0">
                <a:solidFill>
                  <a:srgbClr val="FFFFFF"/>
                </a:solidFill>
              </a:rPr>
              <a:t>2 or 3 charts from section 6; at least one box plot, heatmap, histogram or scatter; every chart with a title that states the finding, a source, and one honest limit said out loud.</a:t>
            </a:r>
            <a:endParaRPr lang="en-US" sz="14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PITCH THE SEASON · SLIDES AND SUBMISSION</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Title + 3 slides, emailed by 12:10</a:t>
            </a:r>
            <a:endParaRPr lang="en-US" sz="2800" dirty="0"/>
          </a:p>
        </p:txBody>
      </p:sp>
      <p:sp>
        <p:nvSpPr>
          <p:cNvPr id="5" name="Text 2"/>
          <p:cNvSpPr txBox="1"/>
          <p:nvPr/>
        </p:nvSpPr>
        <p:spPr>
          <a:xfrm>
            <a:off x="640080" y="164592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YOUR SLIDES</a:t>
            </a:r>
            <a:endParaRPr lang="en-US" sz="1200" dirty="0"/>
          </a:p>
        </p:txBody>
      </p:sp>
      <p:sp>
        <p:nvSpPr>
          <p:cNvPr id="6" name="Shape 3"/>
          <p:cNvSpPr/>
          <p:nvPr/>
        </p:nvSpPr>
        <p:spPr>
          <a:xfrm>
            <a:off x="640080" y="1965960"/>
            <a:ext cx="685800" cy="685800"/>
          </a:xfrm>
          <a:prstGeom prst="roundRect">
            <a:avLst>
              <a:gd name="adj" fmla="val 10667"/>
            </a:avLst>
          </a:prstGeom>
          <a:solidFill>
            <a:srgbClr val="5F6368"/>
          </a:solidFill>
          <a:ln w="9525">
            <a:solidFill>
              <a:srgbClr val="5F6368"/>
            </a:solidFill>
            <a:prstDash val="solid"/>
          </a:ln>
        </p:spPr>
      </p:sp>
      <p:sp>
        <p:nvSpPr>
          <p:cNvPr id="7" name="Text 4"/>
          <p:cNvSpPr txBox="1"/>
          <p:nvPr/>
        </p:nvSpPr>
        <p:spPr>
          <a:xfrm>
            <a:off x="640080" y="19659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8" name="Text 5"/>
          <p:cNvSpPr txBox="1"/>
          <p:nvPr/>
        </p:nvSpPr>
        <p:spPr>
          <a:xfrm>
            <a:off x="1508760" y="1984248"/>
            <a:ext cx="4572000" cy="347472"/>
          </a:xfrm>
          <a:prstGeom prst="rect">
            <a:avLst/>
          </a:prstGeom>
          <a:noFill/>
          <a:ln/>
        </p:spPr>
        <p:txBody>
          <a:bodyPr wrap="square" lIns="0" tIns="0" rIns="0" bIns="0" rtlCol="0" anchor="t"/>
          <a:lstStyle/>
          <a:p>
            <a:pPr indent="0" marL="0">
              <a:buNone/>
            </a:pPr>
            <a:r>
              <a:rPr lang="en-US" sz="1600" b="1" dirty="0">
                <a:solidFill>
                  <a:srgbClr val="222222"/>
                </a:solidFill>
              </a:rPr>
              <a:t>Title</a:t>
            </a:r>
            <a:endParaRPr lang="en-US" sz="1600" dirty="0"/>
          </a:p>
        </p:txBody>
      </p:sp>
      <p:sp>
        <p:nvSpPr>
          <p:cNvPr id="9" name="Text 6"/>
          <p:cNvSpPr txBox="1"/>
          <p:nvPr/>
        </p:nvSpPr>
        <p:spPr>
          <a:xfrm>
            <a:off x="1508760" y="2313432"/>
            <a:ext cx="4572000" cy="548640"/>
          </a:xfrm>
          <a:prstGeom prst="rect">
            <a:avLst/>
          </a:prstGeom>
          <a:noFill/>
          <a:ln/>
        </p:spPr>
        <p:txBody>
          <a:bodyPr wrap="square" lIns="0" tIns="0" rIns="0" bIns="0" rtlCol="0" anchor="t"/>
          <a:lstStyle/>
          <a:p>
            <a:pPr indent="0" marL="0">
              <a:buNone/>
            </a:pPr>
            <a:r>
              <a:rPr lang="en-US" sz="1300" dirty="0">
                <a:solidFill>
                  <a:srgbClr val="4A4A4A"/>
                </a:solidFill>
              </a:rPr>
              <a:t>your lane, your store, your team's names</a:t>
            </a:r>
            <a:endParaRPr lang="en-US" sz="1300" dirty="0"/>
          </a:p>
        </p:txBody>
      </p:sp>
      <p:sp>
        <p:nvSpPr>
          <p:cNvPr id="10" name="Shape 7"/>
          <p:cNvSpPr/>
          <p:nvPr/>
        </p:nvSpPr>
        <p:spPr>
          <a:xfrm>
            <a:off x="640080" y="2862072"/>
            <a:ext cx="685800" cy="685800"/>
          </a:xfrm>
          <a:prstGeom prst="roundRect">
            <a:avLst>
              <a:gd name="adj" fmla="val 10667"/>
            </a:avLst>
          </a:prstGeom>
          <a:solidFill>
            <a:srgbClr val="612141"/>
          </a:solidFill>
          <a:ln w="9525">
            <a:solidFill>
              <a:srgbClr val="612141"/>
            </a:solidFill>
            <a:prstDash val="solid"/>
          </a:ln>
        </p:spPr>
      </p:sp>
      <p:sp>
        <p:nvSpPr>
          <p:cNvPr id="11" name="Text 8"/>
          <p:cNvSpPr txBox="1"/>
          <p:nvPr/>
        </p:nvSpPr>
        <p:spPr>
          <a:xfrm>
            <a:off x="640080" y="286207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2" name="Text 9"/>
          <p:cNvSpPr txBox="1"/>
          <p:nvPr/>
        </p:nvSpPr>
        <p:spPr>
          <a:xfrm>
            <a:off x="1508760" y="2880360"/>
            <a:ext cx="4572000" cy="347472"/>
          </a:xfrm>
          <a:prstGeom prst="rect">
            <a:avLst/>
          </a:prstGeom>
          <a:noFill/>
          <a:ln/>
        </p:spPr>
        <p:txBody>
          <a:bodyPr wrap="square" lIns="0" tIns="0" rIns="0" bIns="0" rtlCol="0" anchor="t"/>
          <a:lstStyle/>
          <a:p>
            <a:pPr indent="0" marL="0">
              <a:buNone/>
            </a:pPr>
            <a:r>
              <a:rPr lang="en-US" sz="1600" b="1" dirty="0">
                <a:solidFill>
                  <a:srgbClr val="222222"/>
                </a:solidFill>
              </a:rPr>
              <a:t>What we did</a:t>
            </a:r>
            <a:endParaRPr lang="en-US" sz="1600" dirty="0"/>
          </a:p>
        </p:txBody>
      </p:sp>
      <p:sp>
        <p:nvSpPr>
          <p:cNvPr id="13" name="Text 10"/>
          <p:cNvSpPr txBox="1"/>
          <p:nvPr/>
        </p:nvSpPr>
        <p:spPr>
          <a:xfrm>
            <a:off x="1508760" y="3209544"/>
            <a:ext cx="4572000" cy="548640"/>
          </a:xfrm>
          <a:prstGeom prst="rect">
            <a:avLst/>
          </a:prstGeom>
          <a:noFill/>
          <a:ln/>
        </p:spPr>
        <p:txBody>
          <a:bodyPr wrap="square" lIns="0" tIns="0" rIns="0" bIns="0" rtlCol="0" anchor="t"/>
          <a:lstStyle/>
          <a:p>
            <a:pPr indent="0" marL="0">
              <a:buNone/>
            </a:pPr>
            <a:r>
              <a:rPr lang="en-US" sz="1300" dirty="0">
                <a:solidFill>
                  <a:srgbClr val="4A4A4A"/>
                </a:solidFill>
              </a:rPr>
              <a:t>one cell explained line by line (5a or 6a is a good pick)</a:t>
            </a:r>
            <a:endParaRPr lang="en-US" sz="1300" dirty="0"/>
          </a:p>
        </p:txBody>
      </p:sp>
      <p:sp>
        <p:nvSpPr>
          <p:cNvPr id="14" name="Shape 11"/>
          <p:cNvSpPr/>
          <p:nvPr/>
        </p:nvSpPr>
        <p:spPr>
          <a:xfrm>
            <a:off x="640080" y="3758184"/>
            <a:ext cx="685800" cy="685800"/>
          </a:xfrm>
          <a:prstGeom prst="roundRect">
            <a:avLst>
              <a:gd name="adj" fmla="val 10667"/>
            </a:avLst>
          </a:prstGeom>
          <a:solidFill>
            <a:srgbClr val="612141"/>
          </a:solidFill>
          <a:ln w="9525">
            <a:solidFill>
              <a:srgbClr val="612141"/>
            </a:solidFill>
            <a:prstDash val="solid"/>
          </a:ln>
        </p:spPr>
      </p:sp>
      <p:sp>
        <p:nvSpPr>
          <p:cNvPr id="15" name="Text 12"/>
          <p:cNvSpPr txBox="1"/>
          <p:nvPr/>
        </p:nvSpPr>
        <p:spPr>
          <a:xfrm>
            <a:off x="640080" y="3758184"/>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txBox="1"/>
          <p:nvPr/>
        </p:nvSpPr>
        <p:spPr>
          <a:xfrm>
            <a:off x="1508760" y="3776472"/>
            <a:ext cx="4572000" cy="347472"/>
          </a:xfrm>
          <a:prstGeom prst="rect">
            <a:avLst/>
          </a:prstGeom>
          <a:noFill/>
          <a:ln/>
        </p:spPr>
        <p:txBody>
          <a:bodyPr wrap="square" lIns="0" tIns="0" rIns="0" bIns="0" rtlCol="0" anchor="t"/>
          <a:lstStyle/>
          <a:p>
            <a:pPr indent="0" marL="0">
              <a:buNone/>
            </a:pPr>
            <a:r>
              <a:rPr lang="en-US" sz="1600" b="1" dirty="0">
                <a:solidFill>
                  <a:srgbClr val="222222"/>
                </a:solidFill>
              </a:rPr>
              <a:t>What the data proves</a:t>
            </a:r>
            <a:endParaRPr lang="en-US" sz="1600" dirty="0"/>
          </a:p>
        </p:txBody>
      </p:sp>
      <p:sp>
        <p:nvSpPr>
          <p:cNvPr id="17" name="Text 14"/>
          <p:cNvSpPr txBox="1"/>
          <p:nvPr/>
        </p:nvSpPr>
        <p:spPr>
          <a:xfrm>
            <a:off x="1508760" y="4105656"/>
            <a:ext cx="4572000" cy="548640"/>
          </a:xfrm>
          <a:prstGeom prst="rect">
            <a:avLst/>
          </a:prstGeom>
          <a:noFill/>
          <a:ln/>
        </p:spPr>
        <p:txBody>
          <a:bodyPr wrap="square" lIns="0" tIns="0" rIns="0" bIns="0" rtlCol="0" anchor="t"/>
          <a:lstStyle/>
          <a:p>
            <a:pPr indent="0" marL="0">
              <a:buNone/>
            </a:pPr>
            <a:r>
              <a:rPr lang="en-US" sz="1300" dirty="0">
                <a:solidFill>
                  <a:srgbClr val="4A4A4A"/>
                </a:solidFill>
              </a:rPr>
              <a:t>2 or 3 charts, at least one box plot / heatmap / histogram / scatter, and one honest limit</a:t>
            </a:r>
            <a:endParaRPr lang="en-US" sz="1300" dirty="0"/>
          </a:p>
        </p:txBody>
      </p:sp>
      <p:sp>
        <p:nvSpPr>
          <p:cNvPr id="18" name="Shape 15"/>
          <p:cNvSpPr/>
          <p:nvPr/>
        </p:nvSpPr>
        <p:spPr>
          <a:xfrm>
            <a:off x="640080" y="4654296"/>
            <a:ext cx="685800" cy="685800"/>
          </a:xfrm>
          <a:prstGeom prst="roundRect">
            <a:avLst>
              <a:gd name="adj" fmla="val 10667"/>
            </a:avLst>
          </a:prstGeom>
          <a:solidFill>
            <a:srgbClr val="612141"/>
          </a:solidFill>
          <a:ln w="9525">
            <a:solidFill>
              <a:srgbClr val="612141"/>
            </a:solidFill>
            <a:prstDash val="solid"/>
          </a:ln>
        </p:spPr>
      </p:sp>
      <p:sp>
        <p:nvSpPr>
          <p:cNvPr id="19" name="Text 16"/>
          <p:cNvSpPr txBox="1"/>
          <p:nvPr/>
        </p:nvSpPr>
        <p:spPr>
          <a:xfrm>
            <a:off x="640080" y="4654296"/>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7"/>
          <p:cNvSpPr txBox="1"/>
          <p:nvPr/>
        </p:nvSpPr>
        <p:spPr>
          <a:xfrm>
            <a:off x="1508760" y="4672584"/>
            <a:ext cx="4572000" cy="347472"/>
          </a:xfrm>
          <a:prstGeom prst="rect">
            <a:avLst/>
          </a:prstGeom>
          <a:noFill/>
          <a:ln/>
        </p:spPr>
        <p:txBody>
          <a:bodyPr wrap="square" lIns="0" tIns="0" rIns="0" bIns="0" rtlCol="0" anchor="t"/>
          <a:lstStyle/>
          <a:p>
            <a:pPr indent="0" marL="0">
              <a:buNone/>
            </a:pPr>
            <a:r>
              <a:rPr lang="en-US" sz="1600" b="1" dirty="0">
                <a:solidFill>
                  <a:srgbClr val="222222"/>
                </a:solidFill>
              </a:rPr>
              <a:t>The decision, and how we used AI</a:t>
            </a:r>
            <a:endParaRPr lang="en-US" sz="1600" dirty="0"/>
          </a:p>
        </p:txBody>
      </p:sp>
      <p:sp>
        <p:nvSpPr>
          <p:cNvPr id="21" name="Text 18"/>
          <p:cNvSpPr txBox="1"/>
          <p:nvPr/>
        </p:nvSpPr>
        <p:spPr>
          <a:xfrm>
            <a:off x="1508760" y="5001768"/>
            <a:ext cx="4572000" cy="548640"/>
          </a:xfrm>
          <a:prstGeom prst="rect">
            <a:avLst/>
          </a:prstGeom>
          <a:noFill/>
          <a:ln/>
        </p:spPr>
        <p:txBody>
          <a:bodyPr wrap="square" lIns="0" tIns="0" rIns="0" bIns="0" rtlCol="0" anchor="t"/>
          <a:lstStyle/>
          <a:p>
            <a:pPr indent="0" marL="0">
              <a:buNone/>
            </a:pPr>
            <a:r>
              <a:rPr lang="en-US" sz="1300" dirty="0">
                <a:solidFill>
                  <a:srgbClr val="4A4A4A"/>
                </a:solidFill>
              </a:rPr>
              <a:t>stock date, ad start, markdown date, how you'd check it; what the AI did and how you checked it</a:t>
            </a:r>
            <a:endParaRPr lang="en-US" sz="1300" dirty="0"/>
          </a:p>
        </p:txBody>
      </p:sp>
      <p:sp>
        <p:nvSpPr>
          <p:cNvPr id="22" name="Text 19"/>
          <p:cNvSpPr txBox="1"/>
          <p:nvPr/>
        </p:nvSpPr>
        <p:spPr>
          <a:xfrm>
            <a:off x="6400800" y="1645920"/>
            <a:ext cx="4572000" cy="274320"/>
          </a:xfrm>
          <a:prstGeom prst="rect">
            <a:avLst/>
          </a:prstGeom>
          <a:noFill/>
          <a:ln/>
        </p:spPr>
        <p:txBody>
          <a:bodyPr wrap="square" lIns="0" tIns="0" rIns="0" bIns="0" rtlCol="0" anchor="t"/>
          <a:lstStyle/>
          <a:p>
            <a:pPr indent="0" marL="0">
              <a:buNone/>
            </a:pPr>
            <a:r>
              <a:rPr lang="en-US" sz="1200" b="1" spc="100" kern="0" dirty="0">
                <a:solidFill>
                  <a:srgbClr val="612141"/>
                </a:solidFill>
              </a:rPr>
              <a:t>SEND ONE OF THESE</a:t>
            </a:r>
            <a:endParaRPr lang="en-US" sz="1200" dirty="0"/>
          </a:p>
        </p:txBody>
      </p:sp>
      <p:sp>
        <p:nvSpPr>
          <p:cNvPr id="23" name="Text 20"/>
          <p:cNvSpPr txBox="1"/>
          <p:nvPr/>
        </p:nvSpPr>
        <p:spPr>
          <a:xfrm>
            <a:off x="6400800" y="1965960"/>
            <a:ext cx="5120640" cy="347472"/>
          </a:xfrm>
          <a:prstGeom prst="rect">
            <a:avLst/>
          </a:prstGeom>
          <a:noFill/>
          <a:ln/>
        </p:spPr>
        <p:txBody>
          <a:bodyPr wrap="square" lIns="0" tIns="0" rIns="0" bIns="0" rtlCol="0" anchor="t"/>
          <a:lstStyle/>
          <a:p>
            <a:pPr indent="0" marL="0">
              <a:buNone/>
            </a:pPr>
            <a:r>
              <a:rPr lang="en-US" sz="1600" b="1" dirty="0">
                <a:solidFill>
                  <a:srgbClr val="222222"/>
                </a:solidFill>
              </a:rPr>
              <a:t>A PowerPoint</a:t>
            </a:r>
            <a:endParaRPr lang="en-US" sz="1600" dirty="0"/>
          </a:p>
        </p:txBody>
      </p:sp>
      <p:sp>
        <p:nvSpPr>
          <p:cNvPr id="24" name="Text 21"/>
          <p:cNvSpPr txBox="1"/>
          <p:nvPr/>
        </p:nvSpPr>
        <p:spPr>
          <a:xfrm>
            <a:off x="6400800" y="2304288"/>
            <a:ext cx="5120640" cy="320040"/>
          </a:xfrm>
          <a:prstGeom prst="rect">
            <a:avLst/>
          </a:prstGeom>
          <a:noFill/>
          <a:ln/>
        </p:spPr>
        <p:txBody>
          <a:bodyPr wrap="square" lIns="0" tIns="0" rIns="0" bIns="0" rtlCol="0" anchor="t"/>
          <a:lstStyle/>
          <a:p>
            <a:pPr indent="0" marL="0">
              <a:buNone/>
            </a:pPr>
            <a:r>
              <a:rPr lang="en-US" sz="1400" dirty="0">
                <a:solidFill>
                  <a:srgbClr val="4A4A4A"/>
                </a:solidFill>
              </a:rPr>
              <a:t>your 4 slides, charts pasted from the Files panel</a:t>
            </a:r>
            <a:endParaRPr lang="en-US" sz="1400" dirty="0"/>
          </a:p>
        </p:txBody>
      </p:sp>
      <p:sp>
        <p:nvSpPr>
          <p:cNvPr id="25" name="Text 22"/>
          <p:cNvSpPr txBox="1"/>
          <p:nvPr/>
        </p:nvSpPr>
        <p:spPr>
          <a:xfrm>
            <a:off x="6400800" y="2743200"/>
            <a:ext cx="5120640" cy="347472"/>
          </a:xfrm>
          <a:prstGeom prst="rect">
            <a:avLst/>
          </a:prstGeom>
          <a:noFill/>
          <a:ln/>
        </p:spPr>
        <p:txBody>
          <a:bodyPr wrap="square" lIns="0" tIns="0" rIns="0" bIns="0" rtlCol="0" anchor="t"/>
          <a:lstStyle/>
          <a:p>
            <a:pPr indent="0" marL="0">
              <a:buNone/>
            </a:pPr>
            <a:r>
              <a:rPr lang="en-US" sz="1600" b="1" dirty="0">
                <a:solidFill>
                  <a:srgbClr val="222222"/>
                </a:solidFill>
              </a:rPr>
              <a:t>A Google Slides link</a:t>
            </a:r>
            <a:endParaRPr lang="en-US" sz="1600" dirty="0"/>
          </a:p>
        </p:txBody>
      </p:sp>
      <p:sp>
        <p:nvSpPr>
          <p:cNvPr id="26" name="Text 23"/>
          <p:cNvSpPr txBox="1"/>
          <p:nvPr/>
        </p:nvSpPr>
        <p:spPr>
          <a:xfrm>
            <a:off x="6400800" y="3081528"/>
            <a:ext cx="5120640" cy="320040"/>
          </a:xfrm>
          <a:prstGeom prst="rect">
            <a:avLst/>
          </a:prstGeom>
          <a:noFill/>
          <a:ln/>
        </p:spPr>
        <p:txBody>
          <a:bodyPr wrap="square" lIns="0" tIns="0" rIns="0" bIns="0" rtlCol="0" anchor="t"/>
          <a:lstStyle/>
          <a:p>
            <a:pPr indent="0" marL="0">
              <a:buNone/>
            </a:pPr>
            <a:r>
              <a:rPr lang="en-US" sz="1400" dirty="0">
                <a:solidFill>
                  <a:srgbClr val="4A4A4A"/>
                </a:solidFill>
              </a:rPr>
              <a:t>shared so Gavin can open it</a:t>
            </a:r>
            <a:endParaRPr lang="en-US" sz="1400" dirty="0"/>
          </a:p>
        </p:txBody>
      </p:sp>
      <p:sp>
        <p:nvSpPr>
          <p:cNvPr id="27" name="Text 24"/>
          <p:cNvSpPr txBox="1"/>
          <p:nvPr/>
        </p:nvSpPr>
        <p:spPr>
          <a:xfrm>
            <a:off x="6400800" y="3520440"/>
            <a:ext cx="5120640" cy="347472"/>
          </a:xfrm>
          <a:prstGeom prst="rect">
            <a:avLst/>
          </a:prstGeom>
          <a:noFill/>
          <a:ln/>
        </p:spPr>
        <p:txBody>
          <a:bodyPr wrap="square" lIns="0" tIns="0" rIns="0" bIns="0" rtlCol="0" anchor="t"/>
          <a:lstStyle/>
          <a:p>
            <a:pPr indent="0" marL="0">
              <a:buNone/>
            </a:pPr>
            <a:r>
              <a:rPr lang="en-US" sz="1600" b="1" dirty="0">
                <a:solidFill>
                  <a:srgbClr val="222222"/>
                </a:solidFill>
              </a:rPr>
              <a:t>An AI-built HTML dashboard</a:t>
            </a:r>
            <a:endParaRPr lang="en-US" sz="1600" dirty="0"/>
          </a:p>
        </p:txBody>
      </p:sp>
      <p:sp>
        <p:nvSpPr>
          <p:cNvPr id="28" name="Text 25"/>
          <p:cNvSpPr txBox="1"/>
          <p:nvPr/>
        </p:nvSpPr>
        <p:spPr>
          <a:xfrm>
            <a:off x="6400800" y="3858768"/>
            <a:ext cx="5120640" cy="320040"/>
          </a:xfrm>
          <a:prstGeom prst="rect">
            <a:avLst/>
          </a:prstGeom>
          <a:noFill/>
          <a:ln/>
        </p:spPr>
        <p:txBody>
          <a:bodyPr wrap="square" lIns="0" tIns="0" rIns="0" bIns="0" rtlCol="0" anchor="t"/>
          <a:lstStyle/>
          <a:p>
            <a:pPr indent="0" marL="0">
              <a:buNone/>
            </a:pPr>
            <a:r>
              <a:rPr lang="en-US" sz="1400" dirty="0">
                <a:solidFill>
                  <a:srgbClr val="4A4A4A"/>
                </a:solidFill>
              </a:rPr>
              <a:t>attached as an .html file. Encouraged!</a:t>
            </a:r>
            <a:endParaRPr lang="en-US" sz="1400" dirty="0"/>
          </a:p>
        </p:txBody>
      </p:sp>
      <p:sp>
        <p:nvSpPr>
          <p:cNvPr id="29" name="Shape 26"/>
          <p:cNvSpPr/>
          <p:nvPr/>
        </p:nvSpPr>
        <p:spPr>
          <a:xfrm>
            <a:off x="6400800" y="4434840"/>
            <a:ext cx="5148072" cy="1188720"/>
          </a:xfrm>
          <a:prstGeom prst="rect">
            <a:avLst/>
          </a:prstGeom>
          <a:solidFill>
            <a:srgbClr val="F4EEF1"/>
          </a:solidFill>
          <a:ln w="9525">
            <a:solidFill>
              <a:srgbClr val="F4EEF1"/>
            </a:solidFill>
            <a:prstDash val="solid"/>
          </a:ln>
        </p:spPr>
      </p:sp>
      <p:sp>
        <p:nvSpPr>
          <p:cNvPr id="30" name="Text 27"/>
          <p:cNvSpPr txBox="1"/>
          <p:nvPr/>
        </p:nvSpPr>
        <p:spPr>
          <a:xfrm>
            <a:off x="6629400" y="4526280"/>
            <a:ext cx="4690872" cy="1005840"/>
          </a:xfrm>
          <a:prstGeom prst="rect">
            <a:avLst/>
          </a:prstGeom>
          <a:noFill/>
          <a:ln/>
        </p:spPr>
        <p:txBody>
          <a:bodyPr wrap="square" lIns="0" tIns="0" rIns="0" bIns="0" rtlCol="0" anchor="ctr"/>
          <a:lstStyle/>
          <a:p>
            <a:pPr indent="0" marL="0">
              <a:buNone/>
            </a:pPr>
            <a:r>
              <a:rPr lang="en-US" sz="1400" b="1" dirty="0">
                <a:solidFill>
                  <a:srgbClr val="612141"/>
                </a:solidFill>
              </a:rPr>
              <a:t>Want an AI-built dashboard?  </a:t>
            </a:r>
            <a:pPr indent="0" marL="0">
              <a:buNone/>
            </a:pPr>
            <a:r>
              <a:rPr lang="en-US" sz="1400" dirty="0">
                <a:solidFill>
                  <a:srgbClr val="222222"/>
                </a:solidFill>
              </a:rPr>
              <a:t>Dashboard Skill.md is on the download page. Paste your season table or month table from step 6f, not the raw data.</a:t>
            </a:r>
            <a:endParaRPr lang="en-US" sz="1400" dirty="0"/>
          </a:p>
        </p:txBody>
      </p:sp>
      <p:sp>
        <p:nvSpPr>
          <p:cNvPr id="31" name="Text 28"/>
          <p:cNvSpPr txBox="1"/>
          <p:nvPr/>
        </p:nvSpPr>
        <p:spPr>
          <a:xfrm>
            <a:off x="640080" y="5669280"/>
            <a:ext cx="5486400" cy="365760"/>
          </a:xfrm>
          <a:prstGeom prst="rect">
            <a:avLst/>
          </a:prstGeom>
          <a:noFill/>
          <a:ln/>
        </p:spPr>
        <p:txBody>
          <a:bodyPr wrap="square" lIns="0" tIns="0" rIns="0" bIns="0" rtlCol="0" anchor="t"/>
          <a:lstStyle/>
          <a:p>
            <a:pPr indent="0" marL="0">
              <a:buNone/>
            </a:pPr>
            <a:r>
              <a:rPr lang="en-US" sz="1300" i="1" dirty="0">
                <a:solidFill>
                  <a:srgbClr val="612141"/>
                </a:solidFill>
              </a:rPr>
              <a:t>AI rules (Day 2): no personal information · run it yourself · the AI can be wrong.</a:t>
            </a:r>
            <a:endParaRPr lang="en-US" sz="13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PITCH THE SEASON · RUBRIC</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16 points: one row per slide, plus delivery</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2514600"/>
                <a:gridCol w="3017520"/>
                <a:gridCol w="2103120"/>
                <a:gridCol w="1828800"/>
                <a:gridCol w="144475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612141"/>
                    </a:solidFill>
                  </a:tcPr>
                </a:tc>
              </a:tr>
              <a:tr h="1024128">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What we did (slide 1): explain one cell</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Walks through one cell line by line and says why each line is needed</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4EEF1"/>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Explains what it does, with small gaps</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Reads the code aloud without explaining it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Can't explain it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r>
              <a:tr h="1024128">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What the data proves (slide 2): charts</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 clear claim, 2 or 3 readable charts (at least one box plot, heatmap, histogram or scatter) from real output, and one honest limit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4EEF1"/>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Claim + charts, but bar or line only, or no limit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Claim with a weak or unlabelled chart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Opinion only, no chart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r>
              <a:tr h="1024128">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The seasonal decision (slide 3)</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Stock date, ad start and markdown date that follow from the charts, plus how to check it with real sales</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4EEF1"/>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Dates given, weakly tied to the charts, or no way to check</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Vague ("stock up in the fall")</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Missing</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r>
              <a:tr h="1024128">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Delivery, time and use of AI</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Everyone speaks, within 3 min; says what the AI did and how they checked it</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4EEF1"/>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Everyone speaks; slightly over time or thin on checking</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One speaker dominates, or no AI checking</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Unprepared or well over time</a:t>
                      </a:r>
                      <a:endParaRPr lang="en-US" sz="1300" dirty="0">
                        <a:latin typeface="Calibri" charset="0"/>
                        <a:ea typeface="Calibri" charset="0"/>
                        <a:cs typeface="Calibri" charset="0"/>
                      </a:endParaRPr>
                    </a:p>
                  </a:txBody>
                  <a:tcPr marL="91440" marR="91440" marT="45720" marB="45720" anchor="ctr">
                    <a:lnL w="9525" cap="flat" cmpd="sng" algn="ctr">
                      <a:solidFill>
                        <a:srgbClr val="D9D3D3"/>
                      </a:solidFill>
                      <a:prstDash val="solid"/>
                      <a:round/>
                      <a:headEnd type="none" w="med" len="med"/>
                      <a:tailEnd type="none" w="med" len="med"/>
                    </a:lnL>
                    <a:lnR w="9525" cap="flat" cmpd="sng" algn="ctr">
                      <a:solidFill>
                        <a:srgbClr val="D9D3D3"/>
                      </a:solidFill>
                      <a:prstDash val="solid"/>
                      <a:round/>
                      <a:headEnd type="none" w="med" len="med"/>
                      <a:tailEnd type="none" w="med" len="med"/>
                    </a:lnR>
                    <a:lnT w="9525" cap="flat" cmpd="sng" algn="ctr">
                      <a:solidFill>
                        <a:srgbClr val="D9D3D3"/>
                      </a:solidFill>
                      <a:prstDash val="solid"/>
                      <a:round/>
                      <a:headEnd type="none" w="med" len="med"/>
                      <a:tailEnd type="none" w="med" len="med"/>
                    </a:lnT>
                    <a:lnB w="9525" cap="flat" cmpd="sng" algn="ctr">
                      <a:solidFill>
                        <a:srgbClr val="D9D3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640080" y="347472"/>
            <a:ext cx="8229600" cy="292608"/>
          </a:xfrm>
          <a:prstGeom prst="rect">
            <a:avLst/>
          </a:prstGeom>
          <a:noFill/>
          <a:ln/>
        </p:spPr>
        <p:txBody>
          <a:bodyPr wrap="square" lIns="0" tIns="0" rIns="0" bIns="0" rtlCol="0"/>
          <a:lstStyle/>
          <a:p>
            <a:pPr indent="0" marL="0">
              <a:buNone/>
            </a:pPr>
            <a:r>
              <a:rPr lang="en-US" sz="1200" b="1" spc="150" kern="0" dirty="0">
                <a:solidFill>
                  <a:schemeClr val="accent1"/>
                </a:solidFill>
              </a:rPr>
              <a:t>PITCH THE SEASON · PRESENTATIONS</a:t>
            </a:r>
            <a:endParaRPr lang="en-US" sz="1200" dirty="0"/>
          </a:p>
        </p:txBody>
      </p:sp>
      <p:sp>
        <p:nvSpPr>
          <p:cNvPr id="3" name="Text 0"/>
          <p:cNvSpPr/>
          <p:nvPr>
            <p:ph idx="101" type="title" hasCustomPrompt="1"/>
          </p:nvPr>
        </p:nvSpPr>
        <p:spPr>
          <a:xfrm>
            <a:off x="640080" y="640080"/>
            <a:ext cx="10908792" cy="86868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Eight teams, three minutes each, in season order</a:t>
            </a:r>
            <a:endParaRPr lang="en-US" sz="2800" dirty="0"/>
          </a:p>
        </p:txBody>
      </p:sp>
      <p:sp>
        <p:nvSpPr>
          <p:cNvPr id="5" name="Shape 2"/>
          <p:cNvSpPr/>
          <p:nvPr/>
        </p:nvSpPr>
        <p:spPr>
          <a:xfrm>
            <a:off x="640080" y="1828800"/>
            <a:ext cx="2606040" cy="1417320"/>
          </a:xfrm>
          <a:prstGeom prst="roundRect">
            <a:avLst>
              <a:gd name="adj" fmla="val 5161"/>
            </a:avLst>
          </a:prstGeom>
          <a:solidFill>
            <a:srgbClr val="F4EEF1"/>
          </a:solidFill>
          <a:ln w="9525">
            <a:solidFill>
              <a:srgbClr val="F4EEF1"/>
            </a:solidFill>
            <a:prstDash val="solid"/>
          </a:ln>
        </p:spPr>
      </p:sp>
      <p:sp>
        <p:nvSpPr>
          <p:cNvPr id="6" name="Shape 3"/>
          <p:cNvSpPr/>
          <p:nvPr/>
        </p:nvSpPr>
        <p:spPr>
          <a:xfrm>
            <a:off x="822960" y="2011680"/>
            <a:ext cx="548640" cy="548640"/>
          </a:xfrm>
          <a:prstGeom prst="ellipse">
            <a:avLst/>
          </a:prstGeom>
          <a:solidFill>
            <a:srgbClr val="7B5EA7"/>
          </a:solidFill>
          <a:ln w="12700">
            <a:solidFill>
              <a:srgbClr val="7B5EA7"/>
            </a:solidFill>
            <a:prstDash val="solid"/>
          </a:ln>
        </p:spPr>
      </p:sp>
      <p:sp>
        <p:nvSpPr>
          <p:cNvPr id="7" name="Text 4"/>
          <p:cNvSpPr txBox="1"/>
          <p:nvPr/>
        </p:nvSpPr>
        <p:spPr>
          <a:xfrm>
            <a:off x="82296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5"/>
          <p:cNvSpPr txBox="1"/>
          <p:nvPr/>
        </p:nvSpPr>
        <p:spPr>
          <a:xfrm>
            <a:off x="1508760" y="201168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back to school</a:t>
            </a:r>
            <a:endParaRPr lang="en-US" sz="1500" dirty="0"/>
          </a:p>
        </p:txBody>
      </p:sp>
      <p:sp>
        <p:nvSpPr>
          <p:cNvPr id="9" name="Text 6"/>
          <p:cNvSpPr txBox="1"/>
          <p:nvPr/>
        </p:nvSpPr>
        <p:spPr>
          <a:xfrm>
            <a:off x="822960" y="2697480"/>
            <a:ext cx="2286000" cy="411480"/>
          </a:xfrm>
          <a:prstGeom prst="rect">
            <a:avLst/>
          </a:prstGeom>
          <a:noFill/>
          <a:ln/>
        </p:spPr>
        <p:txBody>
          <a:bodyPr wrap="square" lIns="0" tIns="0" rIns="0" bIns="0" rtlCol="0" anchor="t"/>
          <a:lstStyle/>
          <a:p>
            <a:pPr indent="0" marL="0">
              <a:buNone/>
            </a:pPr>
            <a:r>
              <a:rPr lang="en-US" sz="1300" dirty="0">
                <a:solidFill>
                  <a:srgbClr val="4A4A4A"/>
                </a:solidFill>
              </a:rPr>
              <a:t>stationery store</a:t>
            </a:r>
            <a:endParaRPr lang="en-US" sz="1300" dirty="0"/>
          </a:p>
        </p:txBody>
      </p:sp>
      <p:sp>
        <p:nvSpPr>
          <p:cNvPr id="10" name="Shape 7"/>
          <p:cNvSpPr/>
          <p:nvPr/>
        </p:nvSpPr>
        <p:spPr>
          <a:xfrm>
            <a:off x="3410712" y="1828800"/>
            <a:ext cx="2606040" cy="1417320"/>
          </a:xfrm>
          <a:prstGeom prst="roundRect">
            <a:avLst>
              <a:gd name="adj" fmla="val 5161"/>
            </a:avLst>
          </a:prstGeom>
          <a:solidFill>
            <a:srgbClr val="F4EEF1"/>
          </a:solidFill>
          <a:ln w="9525">
            <a:solidFill>
              <a:srgbClr val="F4EEF1"/>
            </a:solidFill>
            <a:prstDash val="solid"/>
          </a:ln>
        </p:spPr>
      </p:sp>
      <p:sp>
        <p:nvSpPr>
          <p:cNvPr id="11" name="Shape 8"/>
          <p:cNvSpPr/>
          <p:nvPr/>
        </p:nvSpPr>
        <p:spPr>
          <a:xfrm>
            <a:off x="3593592" y="2011680"/>
            <a:ext cx="548640" cy="548640"/>
          </a:xfrm>
          <a:prstGeom prst="ellipse">
            <a:avLst/>
          </a:prstGeom>
          <a:solidFill>
            <a:srgbClr val="D55E00"/>
          </a:solidFill>
          <a:ln w="12700">
            <a:solidFill>
              <a:srgbClr val="D55E00"/>
            </a:solidFill>
            <a:prstDash val="solid"/>
          </a:ln>
        </p:spPr>
      </p:sp>
      <p:sp>
        <p:nvSpPr>
          <p:cNvPr id="12" name="Text 9"/>
          <p:cNvSpPr txBox="1"/>
          <p:nvPr/>
        </p:nvSpPr>
        <p:spPr>
          <a:xfrm>
            <a:off x="3593592"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0"/>
          <p:cNvSpPr txBox="1"/>
          <p:nvPr/>
        </p:nvSpPr>
        <p:spPr>
          <a:xfrm>
            <a:off x="4279392" y="201168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halloween costume</a:t>
            </a:r>
            <a:endParaRPr lang="en-US" sz="1500" dirty="0"/>
          </a:p>
        </p:txBody>
      </p:sp>
      <p:sp>
        <p:nvSpPr>
          <p:cNvPr id="14" name="Text 11"/>
          <p:cNvSpPr txBox="1"/>
          <p:nvPr/>
        </p:nvSpPr>
        <p:spPr>
          <a:xfrm>
            <a:off x="3593592" y="2697480"/>
            <a:ext cx="2286000" cy="411480"/>
          </a:xfrm>
          <a:prstGeom prst="rect">
            <a:avLst/>
          </a:prstGeom>
          <a:noFill/>
          <a:ln/>
        </p:spPr>
        <p:txBody>
          <a:bodyPr wrap="square" lIns="0" tIns="0" rIns="0" bIns="0" rtlCol="0" anchor="t"/>
          <a:lstStyle/>
          <a:p>
            <a:pPr indent="0" marL="0">
              <a:buNone/>
            </a:pPr>
            <a:r>
              <a:rPr lang="en-US" sz="1300" dirty="0">
                <a:solidFill>
                  <a:srgbClr val="4A4A4A"/>
                </a:solidFill>
              </a:rPr>
              <a:t>party store</a:t>
            </a:r>
            <a:endParaRPr lang="en-US" sz="1300" dirty="0"/>
          </a:p>
        </p:txBody>
      </p:sp>
      <p:sp>
        <p:nvSpPr>
          <p:cNvPr id="15" name="Shape 12"/>
          <p:cNvSpPr/>
          <p:nvPr/>
        </p:nvSpPr>
        <p:spPr>
          <a:xfrm>
            <a:off x="6181344" y="1828800"/>
            <a:ext cx="2606040" cy="1417320"/>
          </a:xfrm>
          <a:prstGeom prst="roundRect">
            <a:avLst>
              <a:gd name="adj" fmla="val 5161"/>
            </a:avLst>
          </a:prstGeom>
          <a:solidFill>
            <a:srgbClr val="F4EEF1"/>
          </a:solidFill>
          <a:ln w="9525">
            <a:solidFill>
              <a:srgbClr val="F4EEF1"/>
            </a:solidFill>
            <a:prstDash val="solid"/>
          </a:ln>
        </p:spPr>
      </p:sp>
      <p:sp>
        <p:nvSpPr>
          <p:cNvPr id="16" name="Shape 13"/>
          <p:cNvSpPr/>
          <p:nvPr/>
        </p:nvSpPr>
        <p:spPr>
          <a:xfrm>
            <a:off x="6364224" y="2011680"/>
            <a:ext cx="548640" cy="548640"/>
          </a:xfrm>
          <a:prstGeom prst="ellipse">
            <a:avLst/>
          </a:prstGeom>
          <a:solidFill>
            <a:srgbClr val="9D2235"/>
          </a:solidFill>
          <a:ln w="12700">
            <a:solidFill>
              <a:srgbClr val="9D2235"/>
            </a:solidFill>
            <a:prstDash val="solid"/>
          </a:ln>
        </p:spPr>
      </p:sp>
      <p:sp>
        <p:nvSpPr>
          <p:cNvPr id="17" name="Text 14"/>
          <p:cNvSpPr txBox="1"/>
          <p:nvPr/>
        </p:nvSpPr>
        <p:spPr>
          <a:xfrm>
            <a:off x="6364224"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5"/>
          <p:cNvSpPr txBox="1"/>
          <p:nvPr/>
        </p:nvSpPr>
        <p:spPr>
          <a:xfrm>
            <a:off x="7050024" y="201168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candy</a:t>
            </a:r>
            <a:endParaRPr lang="en-US" sz="1500" dirty="0"/>
          </a:p>
        </p:txBody>
      </p:sp>
      <p:sp>
        <p:nvSpPr>
          <p:cNvPr id="19" name="Text 16"/>
          <p:cNvSpPr txBox="1"/>
          <p:nvPr/>
        </p:nvSpPr>
        <p:spPr>
          <a:xfrm>
            <a:off x="6364224" y="2697480"/>
            <a:ext cx="2286000" cy="411480"/>
          </a:xfrm>
          <a:prstGeom prst="rect">
            <a:avLst/>
          </a:prstGeom>
          <a:noFill/>
          <a:ln/>
        </p:spPr>
        <p:txBody>
          <a:bodyPr wrap="square" lIns="0" tIns="0" rIns="0" bIns="0" rtlCol="0" anchor="t"/>
          <a:lstStyle/>
          <a:p>
            <a:pPr indent="0" marL="0">
              <a:buNone/>
            </a:pPr>
            <a:r>
              <a:rPr lang="en-US" sz="1300" dirty="0">
                <a:solidFill>
                  <a:srgbClr val="4A4A4A"/>
                </a:solidFill>
              </a:rPr>
              <a:t>convenience store</a:t>
            </a:r>
            <a:endParaRPr lang="en-US" sz="1300" dirty="0"/>
          </a:p>
        </p:txBody>
      </p:sp>
      <p:sp>
        <p:nvSpPr>
          <p:cNvPr id="20" name="Shape 17"/>
          <p:cNvSpPr/>
          <p:nvPr/>
        </p:nvSpPr>
        <p:spPr>
          <a:xfrm>
            <a:off x="8951976" y="1828800"/>
            <a:ext cx="2606040" cy="1417320"/>
          </a:xfrm>
          <a:prstGeom prst="roundRect">
            <a:avLst>
              <a:gd name="adj" fmla="val 5161"/>
            </a:avLst>
          </a:prstGeom>
          <a:solidFill>
            <a:srgbClr val="F4EEF1"/>
          </a:solidFill>
          <a:ln w="9525">
            <a:solidFill>
              <a:srgbClr val="F4EEF1"/>
            </a:solidFill>
            <a:prstDash val="solid"/>
          </a:ln>
        </p:spPr>
      </p:sp>
      <p:sp>
        <p:nvSpPr>
          <p:cNvPr id="21" name="Shape 18"/>
          <p:cNvSpPr/>
          <p:nvPr/>
        </p:nvSpPr>
        <p:spPr>
          <a:xfrm>
            <a:off x="9134856" y="2011680"/>
            <a:ext cx="548640" cy="548640"/>
          </a:xfrm>
          <a:prstGeom prst="ellipse">
            <a:avLst/>
          </a:prstGeom>
          <a:solidFill>
            <a:srgbClr val="B8790F"/>
          </a:solidFill>
          <a:ln w="12700">
            <a:solidFill>
              <a:srgbClr val="B8790F"/>
            </a:solidFill>
            <a:prstDash val="solid"/>
          </a:ln>
        </p:spPr>
      </p:sp>
      <p:sp>
        <p:nvSpPr>
          <p:cNvPr id="22" name="Text 19"/>
          <p:cNvSpPr txBox="1"/>
          <p:nvPr/>
        </p:nvSpPr>
        <p:spPr>
          <a:xfrm>
            <a:off x="9134856"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0"/>
          <p:cNvSpPr txBox="1"/>
          <p:nvPr/>
        </p:nvSpPr>
        <p:spPr>
          <a:xfrm>
            <a:off x="9820656" y="201168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pumpkin spice</a:t>
            </a:r>
            <a:endParaRPr lang="en-US" sz="1500" dirty="0"/>
          </a:p>
        </p:txBody>
      </p:sp>
      <p:sp>
        <p:nvSpPr>
          <p:cNvPr id="24" name="Text 21"/>
          <p:cNvSpPr txBox="1"/>
          <p:nvPr/>
        </p:nvSpPr>
        <p:spPr>
          <a:xfrm>
            <a:off x="9134856" y="2697480"/>
            <a:ext cx="2286000" cy="411480"/>
          </a:xfrm>
          <a:prstGeom prst="rect">
            <a:avLst/>
          </a:prstGeom>
          <a:noFill/>
          <a:ln/>
        </p:spPr>
        <p:txBody>
          <a:bodyPr wrap="square" lIns="0" tIns="0" rIns="0" bIns="0" rtlCol="0" anchor="t"/>
          <a:lstStyle/>
          <a:p>
            <a:pPr indent="0" marL="0">
              <a:buNone/>
            </a:pPr>
            <a:r>
              <a:rPr lang="en-US" sz="1300" dirty="0">
                <a:solidFill>
                  <a:srgbClr val="4A4A4A"/>
                </a:solidFill>
              </a:rPr>
              <a:t>café</a:t>
            </a:r>
            <a:endParaRPr lang="en-US" sz="1300" dirty="0"/>
          </a:p>
        </p:txBody>
      </p:sp>
      <p:sp>
        <p:nvSpPr>
          <p:cNvPr id="25" name="Shape 22"/>
          <p:cNvSpPr/>
          <p:nvPr/>
        </p:nvSpPr>
        <p:spPr>
          <a:xfrm>
            <a:off x="640080" y="3566160"/>
            <a:ext cx="2606040" cy="1417320"/>
          </a:xfrm>
          <a:prstGeom prst="roundRect">
            <a:avLst>
              <a:gd name="adj" fmla="val 5161"/>
            </a:avLst>
          </a:prstGeom>
          <a:solidFill>
            <a:srgbClr val="F4EEF1"/>
          </a:solidFill>
          <a:ln w="9525">
            <a:solidFill>
              <a:srgbClr val="F4EEF1"/>
            </a:solidFill>
            <a:prstDash val="solid"/>
          </a:ln>
        </p:spPr>
      </p:sp>
      <p:sp>
        <p:nvSpPr>
          <p:cNvPr id="26" name="Shape 23"/>
          <p:cNvSpPr/>
          <p:nvPr/>
        </p:nvSpPr>
        <p:spPr>
          <a:xfrm>
            <a:off x="822960" y="3749040"/>
            <a:ext cx="548640" cy="548640"/>
          </a:xfrm>
          <a:prstGeom prst="ellipse">
            <a:avLst/>
          </a:prstGeom>
          <a:solidFill>
            <a:srgbClr val="2E8B57"/>
          </a:solidFill>
          <a:ln w="12700">
            <a:solidFill>
              <a:srgbClr val="2E8B57"/>
            </a:solidFill>
            <a:prstDash val="solid"/>
          </a:ln>
        </p:spPr>
      </p:sp>
      <p:sp>
        <p:nvSpPr>
          <p:cNvPr id="27" name="Text 24"/>
          <p:cNvSpPr txBox="1"/>
          <p:nvPr/>
        </p:nvSpPr>
        <p:spPr>
          <a:xfrm>
            <a:off x="822960" y="3749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Text 25"/>
          <p:cNvSpPr txBox="1"/>
          <p:nvPr/>
        </p:nvSpPr>
        <p:spPr>
          <a:xfrm>
            <a:off x="1508760" y="374904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christmas gifts</a:t>
            </a:r>
            <a:endParaRPr lang="en-US" sz="1500" dirty="0"/>
          </a:p>
        </p:txBody>
      </p:sp>
      <p:sp>
        <p:nvSpPr>
          <p:cNvPr id="29" name="Text 26"/>
          <p:cNvSpPr txBox="1"/>
          <p:nvPr/>
        </p:nvSpPr>
        <p:spPr>
          <a:xfrm>
            <a:off x="822960" y="4434840"/>
            <a:ext cx="2286000" cy="411480"/>
          </a:xfrm>
          <a:prstGeom prst="rect">
            <a:avLst/>
          </a:prstGeom>
          <a:noFill/>
          <a:ln/>
        </p:spPr>
        <p:txBody>
          <a:bodyPr wrap="square" lIns="0" tIns="0" rIns="0" bIns="0" rtlCol="0" anchor="t"/>
          <a:lstStyle/>
          <a:p>
            <a:pPr indent="0" marL="0">
              <a:buNone/>
            </a:pPr>
            <a:r>
              <a:rPr lang="en-US" sz="1300" dirty="0">
                <a:solidFill>
                  <a:srgbClr val="4A4A4A"/>
                </a:solidFill>
              </a:rPr>
              <a:t>gift shop</a:t>
            </a:r>
            <a:endParaRPr lang="en-US" sz="1300" dirty="0"/>
          </a:p>
        </p:txBody>
      </p:sp>
      <p:sp>
        <p:nvSpPr>
          <p:cNvPr id="30" name="Shape 27"/>
          <p:cNvSpPr/>
          <p:nvPr/>
        </p:nvSpPr>
        <p:spPr>
          <a:xfrm>
            <a:off x="3410712" y="3566160"/>
            <a:ext cx="2606040" cy="1417320"/>
          </a:xfrm>
          <a:prstGeom prst="roundRect">
            <a:avLst>
              <a:gd name="adj" fmla="val 5161"/>
            </a:avLst>
          </a:prstGeom>
          <a:solidFill>
            <a:srgbClr val="F4EEF1"/>
          </a:solidFill>
          <a:ln w="9525">
            <a:solidFill>
              <a:srgbClr val="F4EEF1"/>
            </a:solidFill>
            <a:prstDash val="solid"/>
          </a:ln>
        </p:spPr>
      </p:sp>
      <p:sp>
        <p:nvSpPr>
          <p:cNvPr id="31" name="Shape 28"/>
          <p:cNvSpPr/>
          <p:nvPr/>
        </p:nvSpPr>
        <p:spPr>
          <a:xfrm>
            <a:off x="3593592" y="3749040"/>
            <a:ext cx="548640" cy="548640"/>
          </a:xfrm>
          <a:prstGeom prst="ellipse">
            <a:avLst/>
          </a:prstGeom>
          <a:solidFill>
            <a:srgbClr val="CC79A7"/>
          </a:solidFill>
          <a:ln w="12700">
            <a:solidFill>
              <a:srgbClr val="CC79A7"/>
            </a:solidFill>
            <a:prstDash val="solid"/>
          </a:ln>
        </p:spPr>
      </p:sp>
      <p:sp>
        <p:nvSpPr>
          <p:cNvPr id="32" name="Text 29"/>
          <p:cNvSpPr txBox="1"/>
          <p:nvPr/>
        </p:nvSpPr>
        <p:spPr>
          <a:xfrm>
            <a:off x="3593592" y="3749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3" name="Text 30"/>
          <p:cNvSpPr txBox="1"/>
          <p:nvPr/>
        </p:nvSpPr>
        <p:spPr>
          <a:xfrm>
            <a:off x="4279392" y="374904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valentines day</a:t>
            </a:r>
            <a:endParaRPr lang="en-US" sz="1500" dirty="0"/>
          </a:p>
        </p:txBody>
      </p:sp>
      <p:sp>
        <p:nvSpPr>
          <p:cNvPr id="34" name="Text 31"/>
          <p:cNvSpPr txBox="1"/>
          <p:nvPr/>
        </p:nvSpPr>
        <p:spPr>
          <a:xfrm>
            <a:off x="3593592" y="4434840"/>
            <a:ext cx="2286000" cy="411480"/>
          </a:xfrm>
          <a:prstGeom prst="rect">
            <a:avLst/>
          </a:prstGeom>
          <a:noFill/>
          <a:ln/>
        </p:spPr>
        <p:txBody>
          <a:bodyPr wrap="square" lIns="0" tIns="0" rIns="0" bIns="0" rtlCol="0" anchor="t"/>
          <a:lstStyle/>
          <a:p>
            <a:pPr indent="0" marL="0">
              <a:buNone/>
            </a:pPr>
            <a:r>
              <a:rPr lang="en-US" sz="1300" dirty="0">
                <a:solidFill>
                  <a:srgbClr val="4A4A4A"/>
                </a:solidFill>
              </a:rPr>
              <a:t>florist / card shop</a:t>
            </a:r>
            <a:endParaRPr lang="en-US" sz="1300" dirty="0"/>
          </a:p>
        </p:txBody>
      </p:sp>
      <p:sp>
        <p:nvSpPr>
          <p:cNvPr id="35" name="Shape 32"/>
          <p:cNvSpPr/>
          <p:nvPr/>
        </p:nvSpPr>
        <p:spPr>
          <a:xfrm>
            <a:off x="6181344" y="3566160"/>
            <a:ext cx="2606040" cy="1417320"/>
          </a:xfrm>
          <a:prstGeom prst="roundRect">
            <a:avLst>
              <a:gd name="adj" fmla="val 5161"/>
            </a:avLst>
          </a:prstGeom>
          <a:solidFill>
            <a:srgbClr val="F4EEF1"/>
          </a:solidFill>
          <a:ln w="9525">
            <a:solidFill>
              <a:srgbClr val="F4EEF1"/>
            </a:solidFill>
            <a:prstDash val="solid"/>
          </a:ln>
        </p:spPr>
      </p:sp>
      <p:sp>
        <p:nvSpPr>
          <p:cNvPr id="36" name="Shape 33"/>
          <p:cNvSpPr/>
          <p:nvPr/>
        </p:nvSpPr>
        <p:spPr>
          <a:xfrm>
            <a:off x="6364224" y="3749040"/>
            <a:ext cx="548640" cy="548640"/>
          </a:xfrm>
          <a:prstGeom prst="ellipse">
            <a:avLst/>
          </a:prstGeom>
          <a:solidFill>
            <a:srgbClr val="0072B2"/>
          </a:solidFill>
          <a:ln w="12700">
            <a:solidFill>
              <a:srgbClr val="0072B2"/>
            </a:solidFill>
            <a:prstDash val="solid"/>
          </a:ln>
        </p:spPr>
      </p:sp>
      <p:sp>
        <p:nvSpPr>
          <p:cNvPr id="37" name="Text 34"/>
          <p:cNvSpPr txBox="1"/>
          <p:nvPr/>
        </p:nvSpPr>
        <p:spPr>
          <a:xfrm>
            <a:off x="6364224" y="3749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38" name="Text 35"/>
          <p:cNvSpPr txBox="1"/>
          <p:nvPr/>
        </p:nvSpPr>
        <p:spPr>
          <a:xfrm>
            <a:off x="7050024" y="374904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snow tires</a:t>
            </a:r>
            <a:endParaRPr lang="en-US" sz="1500" dirty="0"/>
          </a:p>
        </p:txBody>
      </p:sp>
      <p:sp>
        <p:nvSpPr>
          <p:cNvPr id="39" name="Text 36"/>
          <p:cNvSpPr txBox="1"/>
          <p:nvPr/>
        </p:nvSpPr>
        <p:spPr>
          <a:xfrm>
            <a:off x="6364224" y="4434840"/>
            <a:ext cx="2286000" cy="411480"/>
          </a:xfrm>
          <a:prstGeom prst="rect">
            <a:avLst/>
          </a:prstGeom>
          <a:noFill/>
          <a:ln/>
        </p:spPr>
        <p:txBody>
          <a:bodyPr wrap="square" lIns="0" tIns="0" rIns="0" bIns="0" rtlCol="0" anchor="t"/>
          <a:lstStyle/>
          <a:p>
            <a:pPr indent="0" marL="0">
              <a:buNone/>
            </a:pPr>
            <a:r>
              <a:rPr lang="en-US" sz="1300" dirty="0">
                <a:solidFill>
                  <a:srgbClr val="4A4A4A"/>
                </a:solidFill>
              </a:rPr>
              <a:t>garage</a:t>
            </a:r>
            <a:endParaRPr lang="en-US" sz="1300" dirty="0"/>
          </a:p>
        </p:txBody>
      </p:sp>
      <p:sp>
        <p:nvSpPr>
          <p:cNvPr id="40" name="Shape 37"/>
          <p:cNvSpPr/>
          <p:nvPr/>
        </p:nvSpPr>
        <p:spPr>
          <a:xfrm>
            <a:off x="8951976" y="3566160"/>
            <a:ext cx="2606040" cy="1417320"/>
          </a:xfrm>
          <a:prstGeom prst="roundRect">
            <a:avLst>
              <a:gd name="adj" fmla="val 5161"/>
            </a:avLst>
          </a:prstGeom>
          <a:solidFill>
            <a:srgbClr val="F4EEF1"/>
          </a:solidFill>
          <a:ln w="9525">
            <a:solidFill>
              <a:srgbClr val="F4EEF1"/>
            </a:solidFill>
            <a:prstDash val="solid"/>
          </a:ln>
        </p:spPr>
      </p:sp>
      <p:sp>
        <p:nvSpPr>
          <p:cNvPr id="41" name="Shape 38"/>
          <p:cNvSpPr/>
          <p:nvPr/>
        </p:nvSpPr>
        <p:spPr>
          <a:xfrm>
            <a:off x="9134856" y="3749040"/>
            <a:ext cx="548640" cy="548640"/>
          </a:xfrm>
          <a:prstGeom prst="ellipse">
            <a:avLst/>
          </a:prstGeom>
          <a:solidFill>
            <a:srgbClr val="56B4E9"/>
          </a:solidFill>
          <a:ln w="12700">
            <a:solidFill>
              <a:srgbClr val="56B4E9"/>
            </a:solidFill>
            <a:prstDash val="solid"/>
          </a:ln>
        </p:spPr>
      </p:sp>
      <p:sp>
        <p:nvSpPr>
          <p:cNvPr id="42" name="Text 39"/>
          <p:cNvSpPr txBox="1"/>
          <p:nvPr/>
        </p:nvSpPr>
        <p:spPr>
          <a:xfrm>
            <a:off x="9134856" y="3749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43" name="Text 40"/>
          <p:cNvSpPr txBox="1"/>
          <p:nvPr/>
        </p:nvSpPr>
        <p:spPr>
          <a:xfrm>
            <a:off x="9820656" y="3749040"/>
            <a:ext cx="1645920" cy="548640"/>
          </a:xfrm>
          <a:prstGeom prst="rect">
            <a:avLst/>
          </a:prstGeom>
          <a:noFill/>
          <a:ln/>
        </p:spPr>
        <p:txBody>
          <a:bodyPr wrap="square" lIns="0" tIns="0" rIns="0" bIns="0" rtlCol="0" anchor="ctr"/>
          <a:lstStyle/>
          <a:p>
            <a:pPr indent="0" marL="0">
              <a:buNone/>
            </a:pPr>
            <a:r>
              <a:rPr lang="en-US" sz="1500" b="1" dirty="0">
                <a:solidFill>
                  <a:srgbClr val="612141"/>
                </a:solidFill>
              </a:rPr>
              <a:t>sunscreen</a:t>
            </a:r>
            <a:endParaRPr lang="en-US" sz="1500" dirty="0"/>
          </a:p>
        </p:txBody>
      </p:sp>
      <p:sp>
        <p:nvSpPr>
          <p:cNvPr id="44" name="Text 41"/>
          <p:cNvSpPr txBox="1"/>
          <p:nvPr/>
        </p:nvSpPr>
        <p:spPr>
          <a:xfrm>
            <a:off x="9134856" y="4434840"/>
            <a:ext cx="2286000" cy="411480"/>
          </a:xfrm>
          <a:prstGeom prst="rect">
            <a:avLst/>
          </a:prstGeom>
          <a:noFill/>
          <a:ln/>
        </p:spPr>
        <p:txBody>
          <a:bodyPr wrap="square" lIns="0" tIns="0" rIns="0" bIns="0" rtlCol="0" anchor="t"/>
          <a:lstStyle/>
          <a:p>
            <a:pPr indent="0" marL="0">
              <a:buNone/>
            </a:pPr>
            <a:r>
              <a:rPr lang="en-US" sz="1300" dirty="0">
                <a:solidFill>
                  <a:srgbClr val="4A4A4A"/>
                </a:solidFill>
              </a:rPr>
              <a:t>pharmacy</a:t>
            </a:r>
            <a:endParaRPr lang="en-US" sz="1300" dirty="0"/>
          </a:p>
        </p:txBody>
      </p:sp>
      <p:sp>
        <p:nvSpPr>
          <p:cNvPr id="45" name="Shape 42"/>
          <p:cNvSpPr/>
          <p:nvPr/>
        </p:nvSpPr>
        <p:spPr>
          <a:xfrm>
            <a:off x="640080" y="5486400"/>
            <a:ext cx="10908792" cy="502920"/>
          </a:xfrm>
          <a:prstGeom prst="rect">
            <a:avLst/>
          </a:prstGeom>
          <a:solidFill>
            <a:srgbClr val="F4EEF1"/>
          </a:solidFill>
          <a:ln w="9525">
            <a:solidFill>
              <a:srgbClr val="F4EEF1"/>
            </a:solidFill>
            <a:prstDash val="solid"/>
          </a:ln>
        </p:spPr>
      </p:sp>
      <p:sp>
        <p:nvSpPr>
          <p:cNvPr id="46" name="Text 43"/>
          <p:cNvSpPr txBox="1"/>
          <p:nvPr/>
        </p:nvSpPr>
        <p:spPr>
          <a:xfrm>
            <a:off x="868680" y="5577840"/>
            <a:ext cx="10451592" cy="320040"/>
          </a:xfrm>
          <a:prstGeom prst="rect">
            <a:avLst/>
          </a:prstGeom>
          <a:noFill/>
          <a:ln/>
        </p:spPr>
        <p:txBody>
          <a:bodyPr wrap="square" lIns="0" tIns="0" rIns="0" bIns="0" rtlCol="0" anchor="ctr"/>
          <a:lstStyle/>
          <a:p>
            <a:pPr indent="0" marL="0">
              <a:buNone/>
            </a:pPr>
            <a:r>
              <a:rPr lang="en-US" sz="1300" b="1" dirty="0">
                <a:solidFill>
                  <a:srgbClr val="612141"/>
                </a:solidFill>
              </a:rPr>
              <a:t>3 minutes each:  </a:t>
            </a:r>
            <a:pPr indent="0" marL="0">
              <a:buNone/>
            </a:pPr>
            <a:r>
              <a:rPr lang="en-US" sz="1300" dirty="0">
                <a:solidFill>
                  <a:srgbClr val="222222"/>
                </a:solidFill>
              </a:rPr>
              <a:t>everyone on the team speaks; the decision slide gets the most time.</a:t>
            </a:r>
            <a:endParaRPr lang="en-US" sz="1300" dirty="0"/>
          </a:p>
        </p:txBody>
      </p:sp>
      <p:sp>
        <p:nvSpPr>
          <p:cNvPr id="25" name="Slide Number Placeholder 0"/>
          <p:cNvSpPr>
            <a:spLocks noGrp="1"/>
          </p:cNvSpPr>
          <p:nvPr>
            <p:ph type="sldNum" sz="quarter" idx="4294967295"/>
          </p:nvPr>
        </p:nvSpPr>
        <p:spPr>
          <a:xfrm>
            <a:off x="11064240" y="6419088"/>
            <a:ext cx="48463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554480"/>
          </a:xfrm>
          <a:prstGeom prst="rect">
            <a:avLst/>
          </a:prstGeom>
          <a:noFill/>
          <a:ln/>
        </p:spPr>
        <p:txBody>
          <a:bodyPr wrap="square" lIns="0" tIns="0" rIns="0" bIns="0" rtlCol="0" anchor="b"/>
          <a:lstStyle/>
          <a:p>
            <a:pPr algn="l" indent="0" marL="0">
              <a:buNone/>
            </a:pPr>
            <a:r>
              <a:rPr lang="en-US" sz="5000" dirty="0">
                <a:solidFill>
                  <a:schemeClr val="bg1"/>
                </a:solidFill>
                <a:latin typeface="Cambria" pitchFamily="34" charset="0"/>
                <a:ea typeface="Cambria" pitchFamily="34" charset="-122"/>
                <a:cs typeface="Cambria" pitchFamily="34" charset="-120"/>
              </a:rPr>
              <a:t>We built a program that analyzes and visualizes data to support a business decision.</a:t>
            </a:r>
            <a:endParaRPr lang="en-US" sz="5000" dirty="0"/>
          </a:p>
        </p:txBody>
      </p:sp>
      <p:sp>
        <p:nvSpPr>
          <p:cNvPr id="3" name="Text 0"/>
          <p:cNvSpPr/>
          <p:nvPr>
            <p:ph idx="101" type="body" hasCustomPrompt="1"/>
          </p:nvPr>
        </p:nvSpPr>
        <p:spPr>
          <a:xfrm>
            <a:off x="822960" y="3794760"/>
            <a:ext cx="10515600" cy="2194560"/>
          </a:xfrm>
          <a:prstGeom prst="rect">
            <a:avLst/>
          </a:prstGeom>
          <a:noFill/>
          <a:ln/>
        </p:spPr>
        <p:txBody>
          <a:bodyPr wrap="square" lIns="0" tIns="0" rIns="0" bIns="0" rtlCol="0" anchor="t"/>
          <a:lstStyle/>
          <a:p>
            <a:pPr indent="0" marL="0">
              <a:buNone/>
            </a:pPr>
            <a:r>
              <a:rPr lang="en-US" sz="2000" dirty="0">
                <a:solidFill>
                  <a:schemeClr val="bg1"/>
                </a:solidFill>
              </a:rPr>
              <a:t>Python lets us refine insights and prove a decision.</a:t>
            </a:r>
            <a:endParaRPr lang="en-US" sz="2000" dirty="0"/>
          </a:p>
          <a:p>
            <a:pPr indent="0" marL="0">
              <a:buNone/>
            </a:pPr>
            <a:endParaRPr lang="en-US" sz="2000" dirty="0"/>
          </a:p>
          <a:p>
            <a:pPr indent="0" marL="0">
              <a:buNone/>
            </a:pPr>
            <a:r>
              <a:rPr lang="en-US" sz="2000" dirty="0">
                <a:solidFill>
                  <a:schemeClr val="bg1"/>
                </a:solidFill>
              </a:rPr>
              <a:t>Next Friday: how generative AI writes, and you design an AI assistant.</a:t>
            </a:r>
            <a:endParaRPr lang="en-US" sz="2000" dirty="0"/>
          </a:p>
        </p:txBody>
      </p:sp>
    </p:spTree>
  </p:cSld>
  <p:clrMapOvr>
    <a:masterClrMapping/>
  </p:clrMapOvr>
</p:sld>
</file>

<file path=ppt/theme/theme1.xml><?xml version="1.0" encoding="utf-8"?>
<a:theme xmlns:a="http://schemas.openxmlformats.org/drawingml/2006/main" name="SMU Maroon Analytics">
  <a:themeElements>
    <a:clrScheme name="SMU Maroon Analytics">
      <a:dk1>
        <a:srgbClr val="222222"/>
      </a:dk1>
      <a:lt1>
        <a:srgbClr val="FFFFFF"/>
      </a:lt1>
      <a:dk2>
        <a:srgbClr val="3E1529"/>
      </a:dk2>
      <a:lt2>
        <a:srgbClr val="F4EEF1"/>
      </a:lt2>
      <a:accent1>
        <a:srgbClr val="612141"/>
      </a:accent1>
      <a:accent2>
        <a:srgbClr val="9D2235"/>
      </a:accent2>
      <a:accent3>
        <a:srgbClr val="2C6FB0"/>
      </a:accent3>
      <a:accent4>
        <a:srgbClr val="5F6368"/>
      </a:accent4>
      <a:accent5>
        <a:srgbClr val="D9D3D3"/>
      </a:accent5>
      <a:accent6>
        <a:srgbClr val="2E8B57"/>
      </a:accent6>
      <a:hlink>
        <a:srgbClr val="612141"/>
      </a:hlink>
      <a:folHlink>
        <a:srgbClr val="3E1529"/>
      </a:folHlink>
    </a:clrScheme>
    <a:fontScheme name="SMU Maroon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Analytics and Visualization</dc:title>
  <dc:subject>PptxGenJS Presentation</dc:subject>
  <dc:creator>Gavin Shklanka</dc:creator>
  <cp:lastModifiedBy>Gavin Shklanka</cp:lastModifiedBy>
  <cp:revision>1</cp:revision>
  <dcterms:created xsi:type="dcterms:W3CDTF">2026-10-29T23:48:02Z</dcterms:created>
  <dcterms:modified xsi:type="dcterms:W3CDTF">2026-10-29T23:48:02Z</dcterms:modified>
</cp:coreProperties>
</file>